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3078866" cy="109728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85800" y="2395728"/>
            <a:ext cx="7680960" cy="2331720"/>
            <a:chOff x="685800" y="2395728"/>
            <a:chExt cx="7680960" cy="2331720"/>
          </a:xfrm>
        </p:grpSpPr>
        <p:sp>
          <p:nvSpPr>
            <p:cNvPr id="4" name="Rectangle 3"/>
            <p:cNvSpPr/>
            <p:nvPr/>
          </p:nvSpPr>
          <p:spPr>
            <a:xfrm>
              <a:off x="685800" y="2395728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2404872"/>
              <a:ext cx="67665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 spc="200">
                  <a:solidFill>
                    <a:srgbClr val="C4A857"/>
                  </a:solidFill>
                  <a:latin typeface="Open Sans"/>
                </a:rPr>
                <a:t>MÓDULO DE PLANIFICACIÓN LOGÍSTICA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761488"/>
              <a:ext cx="7680960" cy="1965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5400" b="1" i="0">
                  <a:solidFill>
                    <a:srgbClr val="FFFFFF"/>
                  </a:solidFill>
                  <a:latin typeface="Oswald"/>
                </a:rPr>
                <a:t>Planificar con el costo completo de servir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5800" y="47731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B9C2DC"/>
                </a:solidFill>
                <a:latin typeface="Open Sans"/>
              </a:rPr>
              <a:t>Flota propia o contratada. </a:t>
            </a:r>
            <a:r>
              <a:rPr sz="2000" b="1" i="0">
                <a:solidFill>
                  <a:srgbClr val="E6D7A3"/>
                </a:solidFill>
                <a:latin typeface="Open Sans"/>
              </a:rPr>
              <a:t>La IA explica; el planificador decide.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5800" y="5669280"/>
            <a:ext cx="8229600" cy="841248"/>
            <a:chOff x="685800" y="5669280"/>
            <a:chExt cx="8229600" cy="841248"/>
          </a:xfrm>
        </p:grpSpPr>
        <p:sp>
          <p:nvSpPr>
            <p:cNvPr id="9" name="Rectangle 8"/>
            <p:cNvSpPr/>
            <p:nvPr/>
          </p:nvSpPr>
          <p:spPr>
            <a:xfrm>
              <a:off x="685800" y="5669280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852160"/>
              <a:ext cx="82296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FFFFFF"/>
                  </a:solidFill>
                  <a:latin typeface="Open Sans"/>
                </a:rPr>
                <a:t>Equipo IstpetDev · Instituto Superior Tecnológico Traversari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6236208"/>
              <a:ext cx="82296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0" i="0" spc="150">
                  <a:solidFill>
                    <a:srgbClr val="B9C2DC"/>
                  </a:solidFill>
                  <a:latin typeface="Open Sans"/>
                </a:rPr>
                <a:t>HACKATHON EXPO CLEAN 2026 · RETO 1</a:t>
              </a:r>
            </a:p>
          </p:txBody>
        </p:sp>
      </p:grpSp>
      <p:pic>
        <p:nvPicPr>
          <p:cNvPr id="12" name="Picture 11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75688"/>
            <a:ext cx="2299643" cy="461772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818120" y="658368"/>
            <a:ext cx="4114800" cy="914400"/>
          </a:xfrm>
          <a:prstGeom prst="wedgeRoundRectCallout">
            <a:avLst>
              <a:gd name="adj1" fmla="val 8888"/>
              <a:gd name="adj2" fmla="val 113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550" b="1" i="0">
                <a:solidFill>
                  <a:srgbClr val="242D57"/>
                </a:solidFill>
                <a:latin typeface="Open Sans"/>
              </a:rPr>
              <a:t>¡Hola! Soy Chillo y hoy les cuento cómo </a:t>
            </a:r>
            <a:r>
              <a:rPr sz="1550" b="1" i="0">
                <a:solidFill>
                  <a:srgbClr val="7D6520"/>
                </a:solidFill>
                <a:latin typeface="Open Sans"/>
              </a:rPr>
              <a:t>decidir mejor</a:t>
            </a:r>
            <a:r>
              <a:rPr sz="1550" b="1" i="0">
                <a:solidFill>
                  <a:srgbClr val="242D57"/>
                </a:solidFill>
                <a:latin typeface="Open Sans"/>
              </a:rPr>
              <a:t> cada ruta.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PROBLEMA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¿Flota propia o apoyo contratado?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guion T4, hipótesis de problema A-02; decisión de producto P-02.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7909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5B6585"/>
                </a:solidFill>
                <a:latin typeface="Open Sans"/>
              </a:rPr>
              <a:t>Cada día hay que decidir cómo servir las entregas disponibles.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212848"/>
            <a:ext cx="3817620" cy="2450592"/>
            <a:chOff x="685800" y="2212848"/>
            <a:chExt cx="3817620" cy="2450592"/>
          </a:xfrm>
        </p:grpSpPr>
        <p:sp>
          <p:nvSpPr>
            <p:cNvPr id="13" name="Rectangle 12"/>
            <p:cNvSpPr/>
            <p:nvPr/>
          </p:nvSpPr>
          <p:spPr>
            <a:xfrm>
              <a:off x="685800" y="2212848"/>
              <a:ext cx="3817620" cy="245059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212848"/>
              <a:ext cx="38176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505456"/>
              <a:ext cx="3268979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Mirar solo kilómetros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3012472"/>
              <a:ext cx="3268979" cy="146808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puede ocultar combustible, trabajo de descarga y producto expuesto a merma.</a:t>
              </a:r>
            </a:p>
          </p:txBody>
        </p:sp>
      </p:grpSp>
      <p:pic>
        <p:nvPicPr>
          <p:cNvPr id="17" name="Picture 16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4777740" y="2212848"/>
            <a:ext cx="3817620" cy="2450592"/>
            <a:chOff x="4777740" y="2212848"/>
            <a:chExt cx="3817620" cy="2450592"/>
          </a:xfrm>
        </p:grpSpPr>
        <p:sp>
          <p:nvSpPr>
            <p:cNvPr id="19" name="Rectangle 18"/>
            <p:cNvSpPr/>
            <p:nvPr/>
          </p:nvSpPr>
          <p:spPr>
            <a:xfrm>
              <a:off x="4777740" y="2212848"/>
              <a:ext cx="3817620" cy="2450592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77740" y="2212848"/>
              <a:ext cx="38176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52059" y="2505456"/>
              <a:ext cx="3268979" cy="84944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Comparar el servicio completo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52059" y="3428049"/>
              <a:ext cx="3268979" cy="1052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ayuda a que el planificador entienda los costos y las entregas pendientes.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4919472"/>
            <a:ext cx="7909560" cy="896112"/>
            <a:chOff x="685800" y="4919472"/>
            <a:chExt cx="7909560" cy="896112"/>
          </a:xfrm>
        </p:grpSpPr>
        <p:sp>
          <p:nvSpPr>
            <p:cNvPr id="24" name="Rectangle 23"/>
            <p:cNvSpPr/>
            <p:nvPr/>
          </p:nvSpPr>
          <p:spPr>
            <a:xfrm>
              <a:off x="685800" y="4919472"/>
              <a:ext cx="7909560" cy="896112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4919472"/>
              <a:ext cx="64008" cy="89611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05840" y="4919472"/>
              <a:ext cx="7360920" cy="89611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pen Sans"/>
                </a:rPr>
                <a:t>Nuestra hipótesis: </a:t>
              </a:r>
              <a:r>
                <a:rPr sz="2000" b="1" i="0">
                  <a:solidFill>
                    <a:srgbClr val="242D57"/>
                  </a:solidFill>
                  <a:latin typeface="Open Sans"/>
                </a:rPr>
                <a:t>una decisión explicable entre flota propia y contratada.</a:t>
              </a:r>
            </a:p>
          </p:txBody>
        </p:sp>
      </p:grpSp>
      <p:sp>
        <p:nvSpPr>
          <p:cNvPr id="27" name="Rounded Rectangular Callout 26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Si solo miramos kilómetros, la cuenta sale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incompleta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ANEXO 5.7 · SOLUCIÓN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El motor calcula. La persona decide.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A-10, A-11 y P-01/P-02; guion T4.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2299" y="2221992"/>
            <a:ext cx="8307095" cy="18288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685800" y="1810512"/>
            <a:ext cx="2512999" cy="2523744"/>
            <a:chOff x="685800" y="1810512"/>
            <a:chExt cx="2512999" cy="2523744"/>
          </a:xfrm>
        </p:grpSpPr>
        <p:sp>
          <p:nvSpPr>
            <p:cNvPr id="13" name="Oval 12"/>
            <p:cNvSpPr/>
            <p:nvPr/>
          </p:nvSpPr>
          <p:spPr>
            <a:xfrm>
              <a:off x="1530819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0819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2852928"/>
              <a:ext cx="2512999" cy="1481328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85800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8680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Comparar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3566160"/>
              <a:ext cx="2147239" cy="685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Rutas con flota propia y contratada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454831" y="1810512"/>
            <a:ext cx="2512999" cy="2523744"/>
            <a:chOff x="3454831" y="1810512"/>
            <a:chExt cx="2512999" cy="2523744"/>
          </a:xfrm>
        </p:grpSpPr>
        <p:sp>
          <p:nvSpPr>
            <p:cNvPr id="20" name="Oval 19"/>
            <p:cNvSpPr/>
            <p:nvPr/>
          </p:nvSpPr>
          <p:spPr>
            <a:xfrm>
              <a:off x="4299851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99851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54831" y="2852928"/>
              <a:ext cx="2512999" cy="1481328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831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37711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Desglosar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37711" y="3566160"/>
              <a:ext cx="2147239" cy="685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Costo total estimado de servir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223863" y="1810512"/>
            <a:ext cx="2512999" cy="2523744"/>
            <a:chOff x="6223863" y="1810512"/>
            <a:chExt cx="2512999" cy="2523744"/>
          </a:xfrm>
        </p:grpSpPr>
        <p:sp>
          <p:nvSpPr>
            <p:cNvPr id="27" name="Oval 26"/>
            <p:cNvSpPr/>
            <p:nvPr/>
          </p:nvSpPr>
          <p:spPr>
            <a:xfrm>
              <a:off x="7068883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68883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23863" y="2852928"/>
              <a:ext cx="2512999" cy="1481328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23863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6743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Explicar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06743" y="3566160"/>
              <a:ext cx="2147239" cy="685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La IA comunica los datos calculados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8992895" y="1810512"/>
            <a:ext cx="2512999" cy="2523744"/>
            <a:chOff x="8992895" y="1810512"/>
            <a:chExt cx="2512999" cy="2523744"/>
          </a:xfrm>
        </p:grpSpPr>
        <p:sp>
          <p:nvSpPr>
            <p:cNvPr id="34" name="Oval 33"/>
            <p:cNvSpPr/>
            <p:nvPr/>
          </p:nvSpPr>
          <p:spPr>
            <a:xfrm>
              <a:off x="9837915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837915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992895" y="2852928"/>
              <a:ext cx="2512999" cy="1481328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2895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75775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Decidir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175775" y="3566160"/>
              <a:ext cx="2147239" cy="685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El planificador elige la opción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85800" y="4590288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spc="120">
                <a:solidFill>
                  <a:srgbClr val="E6D7A3"/>
                </a:solidFill>
                <a:latin typeface="Open Sans"/>
              </a:rPr>
              <a:t>PROPUESTA · la comparación completa A/B/C sigue en integración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87626" y="5074920"/>
            <a:ext cx="8816442" cy="731520"/>
            <a:chOff x="1687626" y="5074920"/>
            <a:chExt cx="8816442" cy="731520"/>
          </a:xfrm>
        </p:grpSpPr>
        <p:sp>
          <p:nvSpPr>
            <p:cNvPr id="42" name="TextBox 41"/>
            <p:cNvSpPr txBox="1"/>
            <p:nvPr/>
          </p:nvSpPr>
          <p:spPr>
            <a:xfrm>
              <a:off x="2922066" y="5074920"/>
              <a:ext cx="6347561" cy="73152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3200" b="1" i="0">
                  <a:solidFill>
                    <a:srgbClr val="FFFFFF"/>
                  </a:solidFill>
                  <a:latin typeface="Oswald"/>
                </a:rPr>
                <a:t>La IA explica; </a:t>
              </a:r>
              <a:r>
                <a:rPr sz="3200" b="1" i="0">
                  <a:solidFill>
                    <a:srgbClr val="C4A857"/>
                  </a:solidFill>
                  <a:latin typeface="Oswald"/>
                </a:rPr>
                <a:t>el planificador decide.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687626" y="5449824"/>
              <a:ext cx="1097280" cy="1828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406788" y="5449824"/>
              <a:ext cx="1097280" cy="1828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La pantalla de rutas, en una captura real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captura-rutas.png, Entregable 2. La captura muestra otro escenario sintético; no es Quito ni A/B/C.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18488"/>
            <a:ext cx="7187184" cy="3085259"/>
            <a:chOff x="685800" y="1618488"/>
            <a:chExt cx="7187184" cy="3085259"/>
          </a:xfrm>
        </p:grpSpPr>
        <p:sp>
          <p:nvSpPr>
            <p:cNvPr id="12" name="Rectangle 11"/>
            <p:cNvSpPr/>
            <p:nvPr/>
          </p:nvSpPr>
          <p:spPr>
            <a:xfrm>
              <a:off x="685800" y="1618488"/>
              <a:ext cx="7187184" cy="30395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captura-rutas-recor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952" y="1691640"/>
              <a:ext cx="7040880" cy="2893235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85800" y="4658027"/>
              <a:ext cx="718718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183879" y="1618488"/>
            <a:ext cx="3322015" cy="3085259"/>
            <a:chOff x="8183879" y="1618488"/>
            <a:chExt cx="3322015" cy="3085259"/>
          </a:xfrm>
        </p:grpSpPr>
        <p:sp>
          <p:nvSpPr>
            <p:cNvPr id="16" name="Rectangle 15"/>
            <p:cNvSpPr/>
            <p:nvPr/>
          </p:nvSpPr>
          <p:spPr>
            <a:xfrm>
              <a:off x="8183879" y="1618488"/>
              <a:ext cx="3322015" cy="3085259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183879" y="1618488"/>
              <a:ext cx="332201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58200" y="1911095"/>
              <a:ext cx="2773375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242D57"/>
                  </a:solidFill>
                  <a:latin typeface="Oswald"/>
                </a:rPr>
                <a:t>Interfaz existente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58200" y="2452743"/>
              <a:ext cx="2773375" cy="206812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0" i="0">
                  <a:solidFill>
                    <a:srgbClr val="5B6585"/>
                  </a:solidFill>
                  <a:latin typeface="Open Sans"/>
                </a:rPr>
                <a:t>La captura documenta una vista de rutas. No demuestra la comparación de flota ni una corrida del escenario de Quito.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85800" y="5087795"/>
            <a:ext cx="10820095" cy="749808"/>
            <a:chOff x="685800" y="5087795"/>
            <a:chExt cx="10820095" cy="749808"/>
          </a:xfrm>
        </p:grpSpPr>
        <p:sp>
          <p:nvSpPr>
            <p:cNvPr id="21" name="Rectangle 20"/>
            <p:cNvSpPr/>
            <p:nvPr/>
          </p:nvSpPr>
          <p:spPr>
            <a:xfrm>
              <a:off x="685800" y="5087795"/>
              <a:ext cx="10820095" cy="749808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85800" y="5087795"/>
              <a:ext cx="64008" cy="74980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05840" y="5307251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5840" y="5307251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73114" y="5087795"/>
              <a:ext cx="8004180" cy="74980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FFFFFF"/>
                  </a:solidFill>
                  <a:latin typeface="Open Sans"/>
                </a:rPr>
                <a:t>Captura real · los datos visibles pertenecen a otro escenario sintético.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 / B / C: la columna A ya la calcula el motor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#240, PR #254 (6adcf53), 240-desglose-demo.json · demo-base: Bodega Quito → Hospital Norte → regreso, 210 kg, 20 bultos, 1 ayudante · combustible sintético USD 3,785/gal · matriz P-01; P-02 en curso.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536192"/>
            <a:ext cx="7909559" cy="310896"/>
            <a:chOff x="685800" y="1536192"/>
            <a:chExt cx="7909559" cy="310896"/>
          </a:xfrm>
        </p:grpSpPr>
        <p:sp>
          <p:nvSpPr>
            <p:cNvPr id="12" name="Rounded Rectangle 11"/>
            <p:cNvSpPr/>
            <p:nvPr/>
          </p:nvSpPr>
          <p:spPr>
            <a:xfrm>
              <a:off x="685800" y="1536192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192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61634" y="1536192"/>
              <a:ext cx="5733725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>
                  <a:solidFill>
                    <a:srgbClr val="5B6585"/>
                  </a:solidFill>
                  <a:latin typeface="Open Sans"/>
                </a:rPr>
                <a:t>A: costo estimado del motor · escenario demo-base · commit 6adcf53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5800" y="2011680"/>
            <a:ext cx="8001000" cy="603504"/>
            <a:chOff x="685800" y="2011680"/>
            <a:chExt cx="8001000" cy="603504"/>
          </a:xfrm>
        </p:grpSpPr>
        <p:sp>
          <p:nvSpPr>
            <p:cNvPr id="16" name="Rectangle 15"/>
            <p:cNvSpPr/>
            <p:nvPr/>
          </p:nvSpPr>
          <p:spPr>
            <a:xfrm>
              <a:off x="685800" y="2011680"/>
              <a:ext cx="2468880" cy="60350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7240" y="2011680"/>
              <a:ext cx="22860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242D57"/>
                  </a:solidFill>
                  <a:latin typeface="Oswald"/>
                </a:rPr>
                <a:t>Componente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54680" y="2011680"/>
              <a:ext cx="22402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46120" y="2011680"/>
              <a:ext cx="20574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A · Flota propia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94960" y="2011680"/>
              <a:ext cx="1645920" cy="603504"/>
            </a:xfrm>
            <a:prstGeom prst="rect">
              <a:avLst/>
            </a:prstGeom>
            <a:solidFill>
              <a:srgbClr val="5B658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86400" y="2011680"/>
              <a:ext cx="146304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B · Propia, críticos primero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40880" y="2011680"/>
              <a:ext cx="1645920" cy="603504"/>
            </a:xfrm>
            <a:prstGeom prst="rect">
              <a:avLst/>
            </a:prstGeom>
            <a:solidFill>
              <a:srgbClr val="5B658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32320" y="2011680"/>
              <a:ext cx="146304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C · Contratada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154680" y="2578608"/>
              <a:ext cx="2240280" cy="36576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5" name="Picture 24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685800" y="2615184"/>
            <a:ext cx="8001000" cy="429768"/>
            <a:chOff x="685800" y="2615184"/>
            <a:chExt cx="8001000" cy="429768"/>
          </a:xfrm>
        </p:grpSpPr>
        <p:sp>
          <p:nvSpPr>
            <p:cNvPr id="27" name="Rectangle 26"/>
            <p:cNvSpPr/>
            <p:nvPr/>
          </p:nvSpPr>
          <p:spPr>
            <a:xfrm>
              <a:off x="685800" y="2615184"/>
              <a:ext cx="246888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68680" y="2615184"/>
              <a:ext cx="224028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Combustible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154680" y="2615184"/>
              <a:ext cx="224028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46120" y="2615184"/>
              <a:ext cx="205740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900" b="1" i="0">
                  <a:solidFill>
                    <a:srgbClr val="242D57"/>
                  </a:solidFill>
                  <a:latin typeface="Oswald"/>
                </a:rPr>
                <a:t>USD 2,26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94960" y="2615184"/>
              <a:ext cx="164592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86400" y="2615184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040880" y="2615184"/>
              <a:ext cx="164592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32320" y="2615184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85800" y="3033979"/>
              <a:ext cx="80010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5800" y="3044952"/>
            <a:ext cx="8001000" cy="429768"/>
            <a:chOff x="685800" y="3044952"/>
            <a:chExt cx="8001000" cy="429768"/>
          </a:xfrm>
        </p:grpSpPr>
        <p:sp>
          <p:nvSpPr>
            <p:cNvPr id="37" name="Rectangle 36"/>
            <p:cNvSpPr/>
            <p:nvPr/>
          </p:nvSpPr>
          <p:spPr>
            <a:xfrm>
              <a:off x="685800" y="3044952"/>
              <a:ext cx="246888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68680" y="3044952"/>
              <a:ext cx="224028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Desgaste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54680" y="3044952"/>
              <a:ext cx="224028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46120" y="3044952"/>
              <a:ext cx="205740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900" b="1" i="0">
                  <a:solidFill>
                    <a:srgbClr val="242D57"/>
                  </a:solidFill>
                  <a:latin typeface="Oswald"/>
                </a:rPr>
                <a:t>USD 2,15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394960" y="3044952"/>
              <a:ext cx="164592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86400" y="3044952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040880" y="3044952"/>
              <a:ext cx="164592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132320" y="3044952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5800" y="3463747"/>
              <a:ext cx="80010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85800" y="3474720"/>
            <a:ext cx="8001000" cy="429768"/>
            <a:chOff x="685800" y="3474720"/>
            <a:chExt cx="8001000" cy="429768"/>
          </a:xfrm>
        </p:grpSpPr>
        <p:sp>
          <p:nvSpPr>
            <p:cNvPr id="47" name="Rectangle 46"/>
            <p:cNvSpPr/>
            <p:nvPr/>
          </p:nvSpPr>
          <p:spPr>
            <a:xfrm>
              <a:off x="685800" y="3474720"/>
              <a:ext cx="246888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68680" y="3474720"/>
              <a:ext cx="224028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Conductor y ayudantes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54680" y="3474720"/>
              <a:ext cx="224028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46120" y="3474720"/>
              <a:ext cx="205740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900" b="1" i="0">
                  <a:solidFill>
                    <a:srgbClr val="242D57"/>
                  </a:solidFill>
                  <a:latin typeface="Oswald"/>
                </a:rPr>
                <a:t>USD 7,22 + 4,81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394960" y="3474720"/>
              <a:ext cx="164592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486400" y="3474720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040880" y="3474720"/>
              <a:ext cx="1645920" cy="429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132320" y="3474720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85800" y="3893515"/>
              <a:ext cx="80010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85800" y="3904487"/>
            <a:ext cx="8001000" cy="429768"/>
            <a:chOff x="685800" y="3904487"/>
            <a:chExt cx="8001000" cy="429768"/>
          </a:xfrm>
        </p:grpSpPr>
        <p:sp>
          <p:nvSpPr>
            <p:cNvPr id="57" name="Rectangle 56"/>
            <p:cNvSpPr/>
            <p:nvPr/>
          </p:nvSpPr>
          <p:spPr>
            <a:xfrm>
              <a:off x="685800" y="3904487"/>
              <a:ext cx="246888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68680" y="3904487"/>
              <a:ext cx="224028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Merma esperada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154680" y="3904487"/>
              <a:ext cx="224028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246120" y="3904487"/>
              <a:ext cx="205740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900" b="1" i="0">
                  <a:solidFill>
                    <a:srgbClr val="242D57"/>
                  </a:solidFill>
                  <a:latin typeface="Oswald"/>
                </a:rPr>
                <a:t>USD 3,50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394960" y="3904487"/>
              <a:ext cx="164592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486400" y="3904487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040880" y="3904487"/>
              <a:ext cx="1645920" cy="4297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132320" y="3904487"/>
              <a:ext cx="1463040" cy="4297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5800" y="4323283"/>
              <a:ext cx="80010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85800" y="4334255"/>
            <a:ext cx="8001000" cy="539496"/>
            <a:chOff x="685800" y="4334255"/>
            <a:chExt cx="8001000" cy="539496"/>
          </a:xfrm>
        </p:grpSpPr>
        <p:sp>
          <p:nvSpPr>
            <p:cNvPr id="67" name="Rectangle 66"/>
            <p:cNvSpPr/>
            <p:nvPr/>
          </p:nvSpPr>
          <p:spPr>
            <a:xfrm>
              <a:off x="685800" y="4334255"/>
              <a:ext cx="2468880" cy="53949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8680" y="4334255"/>
              <a:ext cx="2240280" cy="5394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total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154680" y="4334255"/>
              <a:ext cx="2240280" cy="53949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246120" y="4334255"/>
              <a:ext cx="2057400" cy="5394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500" b="1" i="0">
                  <a:solidFill>
                    <a:srgbClr val="242D57"/>
                  </a:solidFill>
                  <a:latin typeface="Oswald"/>
                </a:rPr>
                <a:t>USD 19,94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94960" y="4334255"/>
              <a:ext cx="1645920" cy="53949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486400" y="4334255"/>
              <a:ext cx="1463040" cy="5394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040880" y="4334255"/>
              <a:ext cx="1645920" cy="53949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132320" y="4334255"/>
              <a:ext cx="1463040" cy="5394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 i="1">
                  <a:solidFill>
                    <a:srgbClr val="5B6585"/>
                  </a:solidFill>
                  <a:latin typeface="Open Sans"/>
                </a:rPr>
                <a:t>en integración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85800" y="4862779"/>
              <a:ext cx="80010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85800" y="4334255"/>
              <a:ext cx="800100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685800" y="5001767"/>
            <a:ext cx="7909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42D57"/>
                </a:solidFill>
                <a:latin typeface="Open Sans"/>
              </a:rPr>
              <a:t>«El costo de una ruta no es solo kilómetros: sumamos combustible según carga, personas que descargan y merma esperada».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685800" y="5559552"/>
            <a:ext cx="7909560" cy="548640"/>
            <a:chOff x="685800" y="5559552"/>
            <a:chExt cx="7909560" cy="548640"/>
          </a:xfrm>
        </p:grpSpPr>
        <p:sp>
          <p:nvSpPr>
            <p:cNvPr id="79" name="Rectangle 78"/>
            <p:cNvSpPr/>
            <p:nvPr/>
          </p:nvSpPr>
          <p:spPr>
            <a:xfrm>
              <a:off x="685800" y="5559552"/>
              <a:ext cx="5074920" cy="54864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85800" y="5559552"/>
              <a:ext cx="54864" cy="54864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86968" y="5559552"/>
              <a:ext cx="4754880" cy="54864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1" i="0">
                  <a:solidFill>
                    <a:srgbClr val="242D57"/>
                  </a:solidFill>
                  <a:latin typeface="Open Sans"/>
                </a:rPr>
                <a:t>La comparación con operador contratado y la recomendación calculada se integran en #241.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897880" y="5559552"/>
              <a:ext cx="269748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5B658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989320" y="5559552"/>
              <a:ext cx="2514600" cy="54864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>
                  <a:solidFill>
                    <a:srgbClr val="5B6585"/>
                  </a:solidFill>
                  <a:latin typeface="Open Sans"/>
                </a:rPr>
                <a:t>[CAPTURA PENDIENTE: pantalla A/B/C]</a:t>
              </a:r>
            </a:p>
          </p:txBody>
        </p:sp>
      </p:grpSp>
      <p:sp>
        <p:nvSpPr>
          <p:cNvPr id="84" name="Rounded Rectangular Callout 83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Una ruta no es solo kilómetros: también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quien descarga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06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481328"/>
            <a:chOff x="685800" y="402336"/>
            <a:chExt cx="10820095" cy="1481328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ANEXO 5.7 · IMPACTO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Indicadores que cualquier rol puede entender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1517904"/>
              <a:ext cx="91440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900" b="0" i="0">
                  <a:solidFill>
                    <a:srgbClr val="B9C2DC"/>
                  </a:solidFill>
                  <a:latin typeface="Open Sans"/>
                </a:rPr>
                <a:t>Preguntas sencillas para conversar con el equipo operativo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Propuesta de indicadores: matriz P-07 en curso; diseño de medición según la propuesta de planificación.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084831"/>
            <a:ext cx="3423818" cy="1901952"/>
            <a:chOff x="685800" y="2084831"/>
            <a:chExt cx="3423818" cy="1901952"/>
          </a:xfrm>
        </p:grpSpPr>
        <p:sp>
          <p:nvSpPr>
            <p:cNvPr id="13" name="Rectangle 12"/>
            <p:cNvSpPr/>
            <p:nvPr/>
          </p:nvSpPr>
          <p:spPr>
            <a:xfrm>
              <a:off x="685800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86658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Costo por kilómetro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¿Cuánto cuesta recorrer esta ruta?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383938" y="2084831"/>
            <a:ext cx="3423818" cy="1901952"/>
            <a:chOff x="4383938" y="2084831"/>
            <a:chExt cx="3423818" cy="1901952"/>
          </a:xfrm>
        </p:grpSpPr>
        <p:sp>
          <p:nvSpPr>
            <p:cNvPr id="19" name="Rectangle 18"/>
            <p:cNvSpPr/>
            <p:nvPr/>
          </p:nvSpPr>
          <p:spPr>
            <a:xfrm>
              <a:off x="4383938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83938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84796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58258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Costo por entrega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58258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¿Cuánto cuesta atender cada pedido?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82076" y="2084831"/>
            <a:ext cx="3423818" cy="1901952"/>
            <a:chOff x="8082076" y="2084831"/>
            <a:chExt cx="3423818" cy="1901952"/>
          </a:xfrm>
        </p:grpSpPr>
        <p:sp>
          <p:nvSpPr>
            <p:cNvPr id="25" name="Rectangle 24"/>
            <p:cNvSpPr/>
            <p:nvPr/>
          </p:nvSpPr>
          <p:spPr>
            <a:xfrm>
              <a:off x="8082076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082076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682935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56396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Entregas a tiempo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56396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¿Llegamos dentro de la ventana acordada?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5800" y="4133087"/>
            <a:ext cx="3423818" cy="1901952"/>
            <a:chOff x="685800" y="4133087"/>
            <a:chExt cx="3423818" cy="1901952"/>
          </a:xfrm>
        </p:grpSpPr>
        <p:sp>
          <p:nvSpPr>
            <p:cNvPr id="31" name="Rectangle 30"/>
            <p:cNvSpPr/>
            <p:nvPr/>
          </p:nvSpPr>
          <p:spPr>
            <a:xfrm>
              <a:off x="685800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85800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86658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0120" y="4425696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Pendientes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" y="4880765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pedidos quedaron sin atender?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383938" y="4133087"/>
            <a:ext cx="3423818" cy="1901952"/>
            <a:chOff x="4383938" y="4133087"/>
            <a:chExt cx="3423818" cy="1901952"/>
          </a:xfrm>
        </p:grpSpPr>
        <p:sp>
          <p:nvSpPr>
            <p:cNvPr id="37" name="Rectangle 36"/>
            <p:cNvSpPr/>
            <p:nvPr/>
          </p:nvSpPr>
          <p:spPr>
            <a:xfrm>
              <a:off x="4383938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383938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984796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58258" y="4425696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Mermas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58258" y="4880765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producto se dañó o rechazó?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082076" y="4133087"/>
            <a:ext cx="3423818" cy="1901952"/>
            <a:chOff x="8082076" y="4133087"/>
            <a:chExt cx="3423818" cy="1901952"/>
          </a:xfrm>
        </p:grpSpPr>
        <p:sp>
          <p:nvSpPr>
            <p:cNvPr id="43" name="Rectangle 42"/>
            <p:cNvSpPr/>
            <p:nvPr/>
          </p:nvSpPr>
          <p:spPr>
            <a:xfrm>
              <a:off x="8082076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082076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682935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56396" y="4425696"/>
              <a:ext cx="2235098" cy="74554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Propia frente a contratada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56396" y="5244394"/>
              <a:ext cx="2875178" cy="60776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opción conviene con los datos disponibles?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VIABILIDAD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Lo que podemos respaldar hoy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P-01/P-04/P-11 y A-22. Ensayo P-01: sintético, fixture demo-base; no es la demo A/B/C.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783080"/>
            <a:ext cx="5250027" cy="2103120"/>
            <a:chOff x="685800" y="1783080"/>
            <a:chExt cx="5250027" cy="2103120"/>
          </a:xfrm>
        </p:grpSpPr>
        <p:sp>
          <p:nvSpPr>
            <p:cNvPr id="12" name="Rectangle 11"/>
            <p:cNvSpPr/>
            <p:nvPr/>
          </p:nvSpPr>
          <p:spPr>
            <a:xfrm>
              <a:off x="685800" y="1783080"/>
              <a:ext cx="5250027" cy="210312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783080"/>
              <a:ext cx="525002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12867" y="20208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075688"/>
              <a:ext cx="4061307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242D57"/>
                  </a:solidFill>
                  <a:latin typeface="Oswald"/>
                </a:rPr>
                <a:t>Costo estimado de servir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617335"/>
              <a:ext cx="4701387" cy="10859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Ensayo técnico sintético: combustible según carga, desgaste, conductor, ayudantes y merma esperada.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55867" y="1783080"/>
            <a:ext cx="5250027" cy="2103120"/>
            <a:chOff x="6255867" y="1783080"/>
            <a:chExt cx="5250027" cy="2103120"/>
          </a:xfrm>
        </p:grpSpPr>
        <p:sp>
          <p:nvSpPr>
            <p:cNvPr id="18" name="Rectangle 17"/>
            <p:cNvSpPr/>
            <p:nvPr/>
          </p:nvSpPr>
          <p:spPr>
            <a:xfrm>
              <a:off x="6255867" y="1783080"/>
              <a:ext cx="5250027" cy="210312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55867" y="1783080"/>
              <a:ext cx="525002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82935" y="20208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30187" y="2075688"/>
              <a:ext cx="4061307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242D57"/>
                  </a:solidFill>
                  <a:latin typeface="Oswald"/>
                </a:rPr>
                <a:t>Importación y escenario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30187" y="2617335"/>
              <a:ext cx="4701387" cy="10859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Hay prueba de importación del escenario sintético de Quito. La comparación completa no está ensayada en pantalla.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4343400"/>
            <a:ext cx="10820095" cy="1234440"/>
            <a:chOff x="685800" y="4343400"/>
            <a:chExt cx="10820095" cy="1234440"/>
          </a:xfrm>
        </p:grpSpPr>
        <p:sp>
          <p:nvSpPr>
            <p:cNvPr id="24" name="Rectangle 23"/>
            <p:cNvSpPr/>
            <p:nvPr/>
          </p:nvSpPr>
          <p:spPr>
            <a:xfrm>
              <a:off x="685800" y="4343400"/>
              <a:ext cx="10820095" cy="123444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4343400"/>
              <a:ext cx="64008" cy="123444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7280" y="4343400"/>
              <a:ext cx="1280160" cy="123444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 spc="150">
                  <a:solidFill>
                    <a:srgbClr val="C4A857"/>
                  </a:solidFill>
                  <a:latin typeface="Oswald"/>
                </a:rPr>
                <a:t>LÍMITE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468880" y="4343400"/>
              <a:ext cx="8716975" cy="123444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pen Sans"/>
                </a:rPr>
                <a:t>Costo estimado y pruebas del motor no equivalen a resultados medidos de una empresa.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08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ANEXO 5.7 · MODELO DE NEGOCIO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Una propuesta comercial por validar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A-26/A-30/A-31. Sin precio, ventas ni costos mensuales confirmados.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783080"/>
            <a:ext cx="5250027" cy="2103120"/>
            <a:chOff x="685800" y="1783080"/>
            <a:chExt cx="5250027" cy="2103120"/>
          </a:xfrm>
        </p:grpSpPr>
        <p:sp>
          <p:nvSpPr>
            <p:cNvPr id="12" name="Rectangle 11"/>
            <p:cNvSpPr/>
            <p:nvPr/>
          </p:nvSpPr>
          <p:spPr>
            <a:xfrm>
              <a:off x="685800" y="1783080"/>
              <a:ext cx="5250027" cy="210312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783080"/>
              <a:ext cx="525002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12867" y="20208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075688"/>
              <a:ext cx="4061307" cy="50312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800" b="1" i="0">
                  <a:solidFill>
                    <a:srgbClr val="FFFFFF"/>
                  </a:solidFill>
                  <a:latin typeface="Oswald"/>
                </a:rPr>
                <a:t>Cliente propuesto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651967"/>
              <a:ext cx="4701387" cy="10513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900" b="0" i="0">
                  <a:solidFill>
                    <a:srgbClr val="B9C2DC"/>
                  </a:solidFill>
                  <a:latin typeface="Open Sans"/>
                </a:rPr>
                <a:t>Empresas de servicios de limpieza con operaciones de abastecimiento y rutas por planificar.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55867" y="1783080"/>
            <a:ext cx="5250027" cy="2103120"/>
            <a:chOff x="6255867" y="1783080"/>
            <a:chExt cx="5250027" cy="2103120"/>
          </a:xfrm>
        </p:grpSpPr>
        <p:sp>
          <p:nvSpPr>
            <p:cNvPr id="18" name="Rectangle 17"/>
            <p:cNvSpPr/>
            <p:nvPr/>
          </p:nvSpPr>
          <p:spPr>
            <a:xfrm>
              <a:off x="6255867" y="1783080"/>
              <a:ext cx="5250027" cy="210312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55867" y="1783080"/>
              <a:ext cx="525002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82935" y="20208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30187" y="2075688"/>
              <a:ext cx="4061307" cy="50312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800" b="1" i="0">
                  <a:solidFill>
                    <a:srgbClr val="FFFFFF"/>
                  </a:solidFill>
                  <a:latin typeface="Oswald"/>
                </a:rPr>
                <a:t>Cómo se propone cobrar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30187" y="2651967"/>
              <a:ext cx="4701387" cy="10513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900" b="0" i="0">
                  <a:solidFill>
                    <a:srgbClr val="B9C2DC"/>
                  </a:solidFill>
                  <a:latin typeface="Open Sans"/>
                </a:rPr>
                <a:t>Implementación e integración inicial, más una suscripción. Precio y disposición de pago por validar.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4407408"/>
            <a:ext cx="10820095" cy="1033272"/>
            <a:chOff x="685800" y="4407408"/>
            <a:chExt cx="10820095" cy="1033272"/>
          </a:xfrm>
        </p:grpSpPr>
        <p:sp>
          <p:nvSpPr>
            <p:cNvPr id="24" name="Rectangle 23"/>
            <p:cNvSpPr/>
            <p:nvPr/>
          </p:nvSpPr>
          <p:spPr>
            <a:xfrm>
              <a:off x="5592927" y="4407408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5800" y="4617720"/>
              <a:ext cx="10820095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pen Sans"/>
                </a:rPr>
                <a:t>El piloto serviría para validar el uso, los costos reales y el valor para el cliente.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09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RIESGOS Y MITIGACIÓN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RIESGOS Y ESTRATEGIAS DE MITIGACIÓN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P-16 y diseño de riesgos de la propuesta del evento. Medidas propuestas, no todas implementadas.</a:t>
            </a:r>
          </a:p>
        </p:txBody>
      </p:sp>
      <p:pic>
        <p:nvPicPr>
          <p:cNvPr id="11" name="Picture 10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85800" y="1572768"/>
            <a:ext cx="7909560" cy="676656"/>
            <a:chOff x="685800" y="1572768"/>
            <a:chExt cx="7909560" cy="676656"/>
          </a:xfrm>
        </p:grpSpPr>
        <p:sp>
          <p:nvSpPr>
            <p:cNvPr id="13" name="Rectangle 12"/>
            <p:cNvSpPr/>
            <p:nvPr/>
          </p:nvSpPr>
          <p:spPr>
            <a:xfrm>
              <a:off x="685800" y="1572768"/>
              <a:ext cx="2971800" cy="676656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86968" y="1572768"/>
              <a:ext cx="269748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FFFFFF"/>
                  </a:solidFill>
                  <a:latin typeface="Oswald"/>
                </a:rPr>
                <a:t>Datos incompletos</a:t>
              </a:r>
            </a:p>
          </p:txBody>
        </p:sp>
        <p:sp>
          <p:nvSpPr>
            <p:cNvPr id="15" name="Isosceles Triangle 14"/>
            <p:cNvSpPr/>
            <p:nvPr/>
          </p:nvSpPr>
          <p:spPr>
            <a:xfrm rot="5400000">
              <a:off x="3776472" y="1828799"/>
              <a:ext cx="182880" cy="164592"/>
            </a:xfrm>
            <a:prstGeom prst="triangle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69080" y="1572768"/>
              <a:ext cx="4526280" cy="676656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97680" y="1572768"/>
              <a:ext cx="416052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50" b="0" i="0">
                  <a:solidFill>
                    <a:srgbClr val="242D57"/>
                  </a:solidFill>
                  <a:latin typeface="Open Sans"/>
                </a:rPr>
                <a:t>Validar al importar; mostrar ‘sin dato’ y supuestos.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5800" y="2368296"/>
            <a:ext cx="7909560" cy="676656"/>
            <a:chOff x="685800" y="2368296"/>
            <a:chExt cx="7909560" cy="676656"/>
          </a:xfrm>
        </p:grpSpPr>
        <p:sp>
          <p:nvSpPr>
            <p:cNvPr id="19" name="Rectangle 18"/>
            <p:cNvSpPr/>
            <p:nvPr/>
          </p:nvSpPr>
          <p:spPr>
            <a:xfrm>
              <a:off x="685800" y="2368296"/>
              <a:ext cx="2971800" cy="676656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86968" y="2368296"/>
              <a:ext cx="269748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FFFFFF"/>
                  </a:solidFill>
                  <a:latin typeface="Oswald"/>
                </a:rPr>
                <a:t>Ruta poco realista</a:t>
              </a:r>
            </a:p>
          </p:txBody>
        </p:sp>
        <p:sp>
          <p:nvSpPr>
            <p:cNvPr id="21" name="Isosceles Triangle 20"/>
            <p:cNvSpPr/>
            <p:nvPr/>
          </p:nvSpPr>
          <p:spPr>
            <a:xfrm rot="5400000">
              <a:off x="3776472" y="2624328"/>
              <a:ext cx="182880" cy="164592"/>
            </a:xfrm>
            <a:prstGeom prst="triangle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069080" y="2368296"/>
              <a:ext cx="4526280" cy="676656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97680" y="2368296"/>
              <a:ext cx="416052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50" b="0" i="0">
                  <a:solidFill>
                    <a:srgbClr val="242D57"/>
                  </a:solidFill>
                  <a:latin typeface="Open Sans"/>
                </a:rPr>
                <a:t>Revisar ventanas, capacidad y restricciones antes de publicar.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85800" y="3163824"/>
            <a:ext cx="7909560" cy="676656"/>
            <a:chOff x="685800" y="3163824"/>
            <a:chExt cx="7909560" cy="676656"/>
          </a:xfrm>
        </p:grpSpPr>
        <p:sp>
          <p:nvSpPr>
            <p:cNvPr id="25" name="Rectangle 24"/>
            <p:cNvSpPr/>
            <p:nvPr/>
          </p:nvSpPr>
          <p:spPr>
            <a:xfrm>
              <a:off x="685800" y="3163824"/>
              <a:ext cx="2971800" cy="676656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86968" y="3163824"/>
              <a:ext cx="269748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FFFFFF"/>
                  </a:solidFill>
                  <a:latin typeface="Oswald"/>
                </a:rPr>
                <a:t>Costo estimado inexacto</a:t>
              </a:r>
            </a:p>
          </p:txBody>
        </p:sp>
        <p:sp>
          <p:nvSpPr>
            <p:cNvPr id="27" name="Isosceles Triangle 26"/>
            <p:cNvSpPr/>
            <p:nvPr/>
          </p:nvSpPr>
          <p:spPr>
            <a:xfrm rot="5400000">
              <a:off x="3776472" y="3419856"/>
              <a:ext cx="182880" cy="164592"/>
            </a:xfrm>
            <a:prstGeom prst="triangle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069080" y="3163824"/>
              <a:ext cx="4526280" cy="676656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297680" y="3163824"/>
              <a:ext cx="416052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50" b="0" i="0">
                  <a:solidFill>
                    <a:srgbClr val="242D57"/>
                  </a:solidFill>
                  <a:latin typeface="Open Sans"/>
                </a:rPr>
                <a:t>Mostrar el desglose y calibrar con viajes conciliados.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5800" y="3959352"/>
            <a:ext cx="7909560" cy="676656"/>
            <a:chOff x="685800" y="3959352"/>
            <a:chExt cx="7909560" cy="676656"/>
          </a:xfrm>
        </p:grpSpPr>
        <p:sp>
          <p:nvSpPr>
            <p:cNvPr id="31" name="Rectangle 30"/>
            <p:cNvSpPr/>
            <p:nvPr/>
          </p:nvSpPr>
          <p:spPr>
            <a:xfrm>
              <a:off x="685800" y="3959352"/>
              <a:ext cx="2971800" cy="676656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86968" y="3959352"/>
              <a:ext cx="269748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FFFFFF"/>
                  </a:solidFill>
                  <a:latin typeface="Oswald"/>
                </a:rPr>
                <a:t>Error en la explicación de IA</a:t>
              </a:r>
            </a:p>
          </p:txBody>
        </p:sp>
        <p:sp>
          <p:nvSpPr>
            <p:cNvPr id="33" name="Isosceles Triangle 32"/>
            <p:cNvSpPr/>
            <p:nvPr/>
          </p:nvSpPr>
          <p:spPr>
            <a:xfrm rot="5400000">
              <a:off x="3776472" y="4215384"/>
              <a:ext cx="182880" cy="164592"/>
            </a:xfrm>
            <a:prstGeom prst="triangle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069080" y="3959352"/>
              <a:ext cx="4526280" cy="676656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97680" y="3959352"/>
              <a:ext cx="416052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50" b="0" i="0">
                  <a:solidFill>
                    <a:srgbClr val="242D57"/>
                  </a:solidFill>
                  <a:latin typeface="Open Sans"/>
                </a:rPr>
                <a:t>Basarla en cifras calculadas; el planificador decide.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5800" y="4754880"/>
            <a:ext cx="7909560" cy="676656"/>
            <a:chOff x="685800" y="4754880"/>
            <a:chExt cx="7909560" cy="676656"/>
          </a:xfrm>
        </p:grpSpPr>
        <p:sp>
          <p:nvSpPr>
            <p:cNvPr id="37" name="Rectangle 36"/>
            <p:cNvSpPr/>
            <p:nvPr/>
          </p:nvSpPr>
          <p:spPr>
            <a:xfrm>
              <a:off x="685800" y="4754880"/>
              <a:ext cx="2971800" cy="676656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86968" y="4754880"/>
              <a:ext cx="269748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FFFFFF"/>
                  </a:solidFill>
                  <a:latin typeface="Oswald"/>
                </a:rPr>
                <a:t>Resistencia al cambio</a:t>
              </a:r>
            </a:p>
          </p:txBody>
        </p:sp>
        <p:sp>
          <p:nvSpPr>
            <p:cNvPr id="39" name="Isosceles Triangle 38"/>
            <p:cNvSpPr/>
            <p:nvPr/>
          </p:nvSpPr>
          <p:spPr>
            <a:xfrm rot="5400000">
              <a:off x="3776472" y="5010912"/>
              <a:ext cx="182880" cy="164592"/>
            </a:xfrm>
            <a:prstGeom prst="triangle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069080" y="4754880"/>
              <a:ext cx="4526280" cy="676656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97680" y="4754880"/>
              <a:ext cx="4160520" cy="67665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50" b="0" i="0">
                  <a:solidFill>
                    <a:srgbClr val="242D57"/>
                  </a:solidFill>
                  <a:latin typeface="Open Sans"/>
                </a:rPr>
                <a:t>Capacitar por rol y revisar el plan con el equipo.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85800" y="5614416"/>
            <a:ext cx="7909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1">
                <a:solidFill>
                  <a:srgbClr val="7D6520"/>
                </a:solidFill>
                <a:latin typeface="Open Sans"/>
              </a:rPr>
              <a:t>La charla de logística destacó especialmente este análisis.</a:t>
            </a:r>
          </a:p>
        </p:txBody>
      </p:sp>
      <p:sp>
        <p:nvSpPr>
          <p:cNvPr id="43" name="Rounded Rectangular Callout 42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Todo plan tiene riesgos; lo clave es saber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mitigarlos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10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ANEXO 5.7 · PRÓXIMO PASO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Hoja de ruta: validar antes de prometer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P-02/P-05/P-10/P-12/P-13/P-14/P-15 y A-32. Propuestas sujetas a validación.</a:t>
            </a:r>
          </a:p>
        </p:txBody>
      </p:sp>
      <p:pic>
        <p:nvPicPr>
          <p:cNvPr id="11" name="Picture 10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212848"/>
            <a:ext cx="1958112" cy="393192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85800" y="1627632"/>
            <a:ext cx="3826764" cy="1499616"/>
            <a:chOff x="685800" y="1627632"/>
            <a:chExt cx="3826764" cy="1499616"/>
          </a:xfrm>
        </p:grpSpPr>
        <p:sp>
          <p:nvSpPr>
            <p:cNvPr id="13" name="Rectangle 12"/>
            <p:cNvSpPr/>
            <p:nvPr/>
          </p:nvSpPr>
          <p:spPr>
            <a:xfrm>
              <a:off x="685800" y="1627632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1627632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9604" y="1865376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1920240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Integrar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2392625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Comparación propia / contratada y recomendación justificada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68596" y="1627632"/>
            <a:ext cx="3826764" cy="1499616"/>
            <a:chOff x="4768596" y="1627632"/>
            <a:chExt cx="3826764" cy="1499616"/>
          </a:xfrm>
        </p:grpSpPr>
        <p:sp>
          <p:nvSpPr>
            <p:cNvPr id="19" name="Rectangle 18"/>
            <p:cNvSpPr/>
            <p:nvPr/>
          </p:nvSpPr>
          <p:spPr>
            <a:xfrm>
              <a:off x="4768596" y="1627632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68596" y="1627632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72400" y="1865376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42916" y="1920240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Validar Quito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42916" y="2392625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Tráfico y restricciones con fuentes vigentes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85800" y="3236976"/>
            <a:ext cx="3826764" cy="1499616"/>
            <a:chOff x="685800" y="3236976"/>
            <a:chExt cx="3826764" cy="1499616"/>
          </a:xfrm>
        </p:grpSpPr>
        <p:sp>
          <p:nvSpPr>
            <p:cNvPr id="25" name="Rectangle 24"/>
            <p:cNvSpPr/>
            <p:nvPr/>
          </p:nvSpPr>
          <p:spPr>
            <a:xfrm>
              <a:off x="685800" y="3236976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3236976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89604" y="3474720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3529584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Completar el ciclo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60120" y="4001969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Guía de retorno para entregas pendientes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768596" y="3236976"/>
            <a:ext cx="3826764" cy="1499616"/>
            <a:chOff x="4768596" y="3236976"/>
            <a:chExt cx="3826764" cy="1499616"/>
          </a:xfrm>
        </p:grpSpPr>
        <p:sp>
          <p:nvSpPr>
            <p:cNvPr id="31" name="Rectangle 30"/>
            <p:cNvSpPr/>
            <p:nvPr/>
          </p:nvSpPr>
          <p:spPr>
            <a:xfrm>
              <a:off x="4768596" y="3236976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768596" y="3236976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772400" y="3474720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2916" y="3529584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Calibrar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42916" y="4001969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Pronóstico y costos con datos conciliados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5800" y="4892040"/>
            <a:ext cx="7909560" cy="1051560"/>
            <a:chOff x="685800" y="4892040"/>
            <a:chExt cx="7909560" cy="1051560"/>
          </a:xfrm>
        </p:grpSpPr>
        <p:sp>
          <p:nvSpPr>
            <p:cNvPr id="37" name="Rectangle 36"/>
            <p:cNvSpPr/>
            <p:nvPr/>
          </p:nvSpPr>
          <p:spPr>
            <a:xfrm>
              <a:off x="685800" y="4892040"/>
              <a:ext cx="7909560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05840" y="4892040"/>
              <a:ext cx="7269480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300" b="1" i="0">
                  <a:solidFill>
                    <a:srgbClr val="162451"/>
                  </a:solidFill>
                  <a:latin typeface="Oswald"/>
                </a:rPr>
                <a:t>Próximo paso: </a:t>
              </a:r>
              <a:r>
                <a:rPr sz="1800" b="1" i="0">
                  <a:solidFill>
                    <a:srgbClr val="162451"/>
                  </a:solidFill>
                  <a:latin typeface="Open Sans"/>
                </a:rPr>
                <a:t>acordar un piloto, una línea base y los indicadores con una empresa.</a:t>
              </a:r>
            </a:p>
          </p:txBody>
        </p:sp>
      </p:grpSp>
      <p:sp>
        <p:nvSpPr>
          <p:cNvPr id="39" name="Rounded Rectangular Callout 38"/>
          <p:cNvSpPr/>
          <p:nvPr/>
        </p:nvSpPr>
        <p:spPr>
          <a:xfrm>
            <a:off x="8759952" y="1188720"/>
            <a:ext cx="3200400" cy="914400"/>
          </a:xfrm>
          <a:prstGeom prst="wedgeRoundRectCallout">
            <a:avLst>
              <a:gd name="adj1" fmla="val 6285"/>
              <a:gd name="adj2" fmla="val 68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¿Lo validamos juntos en un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piloto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? ¡Kikirikí!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v3</dc:title>
  <dc:subject>Planificación logística, basado en guion T4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