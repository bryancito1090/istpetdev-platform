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66928"/>
            <a:ext cx="3078866" cy="1097280"/>
          </a:xfrm>
          <a:prstGeom prst="rect">
            <a:avLst/>
          </a:prstGeom>
        </p:spPr>
      </p:pic>
      <p:grpSp>
        <p:nvGrpSpPr>
          <p:cNvPr id="3" name="Group 2"/>
          <p:cNvGrpSpPr/>
          <p:nvPr/>
        </p:nvGrpSpPr>
        <p:grpSpPr>
          <a:xfrm>
            <a:off x="685800" y="2395728"/>
            <a:ext cx="7680960" cy="2331720"/>
            <a:chOff x="685800" y="2395728"/>
            <a:chExt cx="7680960" cy="2331720"/>
          </a:xfrm>
        </p:grpSpPr>
        <p:sp>
          <p:nvSpPr>
            <p:cNvPr id="4" name="Rectangle 3"/>
            <p:cNvSpPr/>
            <p:nvPr/>
          </p:nvSpPr>
          <p:spPr>
            <a:xfrm>
              <a:off x="685800" y="2395728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2404872"/>
              <a:ext cx="67665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 spc="200">
                  <a:solidFill>
                    <a:srgbClr val="C4A857"/>
                  </a:solidFill>
                  <a:latin typeface="Open Sans"/>
                </a:rPr>
                <a:t>MÓDULO DE PLANIFICACIÓN LOGÍSTICA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2761488"/>
              <a:ext cx="7680960" cy="196596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5000"/>
                </a:lnSpc>
                <a:spcAft>
                  <a:spcPts val="0"/>
                </a:spcAft>
              </a:pPr>
              <a:r>
                <a:rPr sz="5400" b="1" i="0">
                  <a:solidFill>
                    <a:srgbClr val="FFFFFF"/>
                  </a:solidFill>
                  <a:latin typeface="Oswald"/>
                </a:rPr>
                <a:t>Planificar con el costo completo de servir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685800" y="4773168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B9C2DC"/>
                </a:solidFill>
                <a:latin typeface="Open Sans"/>
              </a:rPr>
              <a:t>Flota propia o contratada. </a:t>
            </a:r>
            <a:r>
              <a:rPr sz="2000" b="1" i="0">
                <a:solidFill>
                  <a:srgbClr val="E6D7A3"/>
                </a:solidFill>
                <a:latin typeface="Open Sans"/>
              </a:rPr>
              <a:t>La IA explica; el planificador decide.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85800" y="5669280"/>
            <a:ext cx="8229600" cy="841248"/>
            <a:chOff x="685800" y="5669280"/>
            <a:chExt cx="8229600" cy="841248"/>
          </a:xfrm>
        </p:grpSpPr>
        <p:sp>
          <p:nvSpPr>
            <p:cNvPr id="9" name="Rectangle 8"/>
            <p:cNvSpPr/>
            <p:nvPr/>
          </p:nvSpPr>
          <p:spPr>
            <a:xfrm>
              <a:off x="685800" y="5669280"/>
              <a:ext cx="1005840" cy="2286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85800" y="5852160"/>
              <a:ext cx="8229600" cy="32004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500" b="0" i="0">
                  <a:solidFill>
                    <a:srgbClr val="FFFFFF"/>
                  </a:solidFill>
                  <a:latin typeface="Open Sans"/>
                </a:rPr>
                <a:t>Equipo IstpetDev · Instituto Superior Tecnológico Traversari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85800" y="6236208"/>
              <a:ext cx="822960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200" b="0" i="0" spc="150">
                  <a:solidFill>
                    <a:srgbClr val="B9C2DC"/>
                  </a:solidFill>
                  <a:latin typeface="Open Sans"/>
                </a:rPr>
                <a:t>HACKATHON EXPO CLEAN 2026 · RETO 1</a:t>
              </a:r>
            </a:p>
          </p:txBody>
        </p:sp>
      </p:grpSp>
      <p:pic>
        <p:nvPicPr>
          <p:cNvPr id="12" name="Picture 11" descr="chillo-cuerpo-ent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075688"/>
            <a:ext cx="2299643" cy="4617720"/>
          </a:xfrm>
          <a:prstGeom prst="rect">
            <a:avLst/>
          </a:prstGeom>
        </p:spPr>
      </p:pic>
      <p:sp>
        <p:nvSpPr>
          <p:cNvPr id="13" name="Rounded Rectangular Callout 12"/>
          <p:cNvSpPr/>
          <p:nvPr/>
        </p:nvSpPr>
        <p:spPr>
          <a:xfrm>
            <a:off x="7818120" y="658368"/>
            <a:ext cx="4114800" cy="914400"/>
          </a:xfrm>
          <a:prstGeom prst="wedgeRoundRectCallout">
            <a:avLst>
              <a:gd name="adj1" fmla="val 8888"/>
              <a:gd name="adj2" fmla="val 113000"/>
              <a:gd name="adj3" fmla="val 16667"/>
            </a:avLst>
          </a:prstGeom>
          <a:solidFill>
            <a:srgbClr val="FFFFFF"/>
          </a:solidFill>
          <a:ln w="12700">
            <a:solidFill>
              <a:srgbClr val="D5DBEA"/>
            </a:solidFill>
          </a:ln>
          <a:effectLst>
            <a:outerShdw blurRad="177800" dist="50800" dir="5400000" algn="t" rotWithShape="0">
              <a:srgbClr val="162451">
                <a:alpha val="30000"/>
              </a:srgbClr>
            </a:outerShdw>
          </a:effectLst>
        </p:spPr>
        <p:txBody>
          <a:bodyPr rtlCol="0" anchor="ctr" wrap="square" lIns="146304" rIns="146304" tIns="54864" bIns="54864"/>
          <a:lstStyle/>
          <a:p>
            <a:pPr algn="ctr"/>
            <a:r>
              <a:rPr sz="1550" b="1" i="0">
                <a:solidFill>
                  <a:srgbClr val="242D57"/>
                </a:solidFill>
                <a:latin typeface="Open Sans"/>
              </a:rPr>
              <a:t>¡Hola! Soy Chillo y hoy les cuento cómo </a:t>
            </a:r>
            <a:r>
              <a:rPr sz="1550" b="1" i="0">
                <a:solidFill>
                  <a:srgbClr val="7D6520"/>
                </a:solidFill>
                <a:latin typeface="Open Sans"/>
              </a:rPr>
              <a:t>decidir mejor</a:t>
            </a:r>
            <a:r>
              <a:rPr sz="1550" b="1" i="0">
                <a:solidFill>
                  <a:srgbClr val="242D57"/>
                </a:solidFill>
                <a:latin typeface="Open Sans"/>
              </a:rPr>
              <a:t> cada ruta.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50"/>
                            </p:stCondLst>
                            <p:childTnLst>
                              <p:par>
                                <p:cTn id="2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02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ANEXO 5.7 · PROBLEMA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¿Flota propia o apoyo contratado?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7909560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67354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guion T4, hipótesis de problema A-02; decisión de producto P-02.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591056"/>
            <a:ext cx="7909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5B6585"/>
                </a:solidFill>
                <a:latin typeface="Open Sans"/>
              </a:rPr>
              <a:t>Cada día hay que decidir cómo servir las entregas disponibles.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85800" y="2212848"/>
            <a:ext cx="3817620" cy="2450592"/>
            <a:chOff x="685800" y="2212848"/>
            <a:chExt cx="3817620" cy="2450592"/>
          </a:xfrm>
        </p:grpSpPr>
        <p:sp>
          <p:nvSpPr>
            <p:cNvPr id="13" name="Rectangle 12"/>
            <p:cNvSpPr/>
            <p:nvPr/>
          </p:nvSpPr>
          <p:spPr>
            <a:xfrm>
              <a:off x="685800" y="2212848"/>
              <a:ext cx="3817620" cy="2450592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85800" y="2212848"/>
              <a:ext cx="381762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60120" y="2505456"/>
              <a:ext cx="3268979" cy="43386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400" b="1" i="0">
                  <a:solidFill>
                    <a:srgbClr val="242D57"/>
                  </a:solidFill>
                  <a:latin typeface="Oswald"/>
                </a:rPr>
                <a:t>Mirar solo kilómetros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60120" y="3012472"/>
              <a:ext cx="3268979" cy="1468087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5B6585"/>
                  </a:solidFill>
                  <a:latin typeface="Open Sans"/>
                </a:rPr>
                <a:t>puede ocultar combustible, trabajo de descarga y producto expuesto a merma.</a:t>
              </a:r>
            </a:p>
          </p:txBody>
        </p:sp>
      </p:grpSp>
      <p:pic>
        <p:nvPicPr>
          <p:cNvPr id="17" name="Picture 16" descr="chillo-medio-cuer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804013"/>
            <a:ext cx="2377440" cy="3053986"/>
          </a:xfrm>
          <a:prstGeom prst="rect">
            <a:avLst/>
          </a:prstGeom>
        </p:spPr>
      </p:pic>
      <p:grpSp>
        <p:nvGrpSpPr>
          <p:cNvPr id="18" name="Group 17"/>
          <p:cNvGrpSpPr/>
          <p:nvPr/>
        </p:nvGrpSpPr>
        <p:grpSpPr>
          <a:xfrm>
            <a:off x="4777740" y="2212848"/>
            <a:ext cx="3817620" cy="2450592"/>
            <a:chOff x="4777740" y="2212848"/>
            <a:chExt cx="3817620" cy="2450592"/>
          </a:xfrm>
        </p:grpSpPr>
        <p:sp>
          <p:nvSpPr>
            <p:cNvPr id="19" name="Rectangle 18"/>
            <p:cNvSpPr/>
            <p:nvPr/>
          </p:nvSpPr>
          <p:spPr>
            <a:xfrm>
              <a:off x="4777740" y="2212848"/>
              <a:ext cx="3817620" cy="2450592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777740" y="2212848"/>
              <a:ext cx="381762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052059" y="2505456"/>
              <a:ext cx="3268979" cy="849441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400" b="1" i="0">
                  <a:solidFill>
                    <a:srgbClr val="FFFFFF"/>
                  </a:solidFill>
                  <a:latin typeface="Oswald"/>
                </a:rPr>
                <a:t>Comparar el servicio completo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052059" y="3428049"/>
              <a:ext cx="3268979" cy="105251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B9C2DC"/>
                  </a:solidFill>
                  <a:latin typeface="Open Sans"/>
                </a:rPr>
                <a:t>ayuda a que el planificador entienda los costos y las entregas pendientes.</a:t>
              </a: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685800" y="4919472"/>
            <a:ext cx="7909560" cy="896112"/>
            <a:chOff x="685800" y="4919472"/>
            <a:chExt cx="7909560" cy="896112"/>
          </a:xfrm>
        </p:grpSpPr>
        <p:sp>
          <p:nvSpPr>
            <p:cNvPr id="24" name="Rectangle 23"/>
            <p:cNvSpPr/>
            <p:nvPr/>
          </p:nvSpPr>
          <p:spPr>
            <a:xfrm>
              <a:off x="685800" y="4919472"/>
              <a:ext cx="7909560" cy="896112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85800" y="4919472"/>
              <a:ext cx="64008" cy="896112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05840" y="4919472"/>
              <a:ext cx="7360920" cy="896112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000" b="1" i="0">
                  <a:solidFill>
                    <a:srgbClr val="7D6520"/>
                  </a:solidFill>
                  <a:latin typeface="Open Sans"/>
                </a:rPr>
                <a:t>Nuestra hipótesis: </a:t>
              </a:r>
              <a:r>
                <a:rPr sz="2000" b="1" i="0">
                  <a:solidFill>
                    <a:srgbClr val="242D57"/>
                  </a:solidFill>
                  <a:latin typeface="Open Sans"/>
                </a:rPr>
                <a:t>una decisión explicable entre flota propia y contratada.</a:t>
              </a:r>
            </a:p>
          </p:txBody>
        </p:sp>
      </p:grpSp>
      <p:sp>
        <p:nvSpPr>
          <p:cNvPr id="27" name="Rounded Rectangular Callout 26"/>
          <p:cNvSpPr/>
          <p:nvPr/>
        </p:nvSpPr>
        <p:spPr>
          <a:xfrm>
            <a:off x="8759952" y="2395728"/>
            <a:ext cx="3200400" cy="914400"/>
          </a:xfrm>
          <a:prstGeom prst="wedgeRoundRectCallout">
            <a:avLst>
              <a:gd name="adj1" fmla="val 11999"/>
              <a:gd name="adj2" fmla="val 97999"/>
              <a:gd name="adj3" fmla="val 16667"/>
            </a:avLst>
          </a:prstGeom>
          <a:solidFill>
            <a:srgbClr val="FFFFFF"/>
          </a:solidFill>
          <a:ln w="12700">
            <a:solidFill>
              <a:srgbClr val="D5DBEA"/>
            </a:solidFill>
          </a:ln>
          <a:effectLst>
            <a:outerShdw blurRad="177800" dist="50800" dir="5400000" algn="t" rotWithShape="0">
              <a:srgbClr val="162451">
                <a:alpha val="30000"/>
              </a:srgbClr>
            </a:outerShdw>
          </a:effectLst>
        </p:spPr>
        <p:txBody>
          <a:bodyPr rtlCol="0" anchor="ctr" wrap="square" lIns="146304" rIns="146304" tIns="54864" bIns="54864"/>
          <a:lstStyle/>
          <a:p>
            <a:pPr algn="ctr"/>
            <a:r>
              <a:rPr sz="1400" b="1" i="0">
                <a:solidFill>
                  <a:srgbClr val="242D57"/>
                </a:solidFill>
                <a:latin typeface="Open Sans"/>
              </a:rPr>
              <a:t>Si solo miramos kilómetros, la cuenta sale </a:t>
            </a:r>
            <a:r>
              <a:rPr sz="1400" b="1" i="0">
                <a:solidFill>
                  <a:srgbClr val="7D6520"/>
                </a:solidFill>
                <a:latin typeface="Open Sans"/>
              </a:rPr>
              <a:t>incompleta</a:t>
            </a:r>
            <a:r>
              <a:rPr sz="1400" b="1" i="0">
                <a:solidFill>
                  <a:srgbClr val="242D57"/>
                </a:solidFill>
                <a:latin typeface="Open Sans"/>
              </a:rPr>
              <a:t>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90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2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B9C2DC"/>
                </a:solidFill>
                <a:latin typeface="Open Sans"/>
              </a:rPr>
              <a:t>HACKATHON EXPO CLEAN 2026 · RETO 1 · 03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C4A857"/>
                  </a:solidFill>
                  <a:latin typeface="Open Sans"/>
                </a:rPr>
                <a:t>ANEXO 5.7 · SOLUCIÓN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FFFFFF"/>
                  </a:solidFill>
                  <a:latin typeface="Oswald"/>
                </a:rPr>
                <a:t>El motor calcula. La persona decide.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2E3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9C2DC"/>
                </a:solidFill>
                <a:latin typeface="Open Sans"/>
              </a:rPr>
              <a:t>Fuente: matriz A-10, A-11 y P-01/P-02; guion T4.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42299" y="2221992"/>
            <a:ext cx="8307095" cy="18288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12" name="Group 11"/>
          <p:cNvGrpSpPr/>
          <p:nvPr/>
        </p:nvGrpSpPr>
        <p:grpSpPr>
          <a:xfrm>
            <a:off x="685800" y="1810512"/>
            <a:ext cx="2512999" cy="2523744"/>
            <a:chOff x="685800" y="1810512"/>
            <a:chExt cx="2512999" cy="2523744"/>
          </a:xfrm>
        </p:grpSpPr>
        <p:sp>
          <p:nvSpPr>
            <p:cNvPr id="13" name="Oval 12"/>
            <p:cNvSpPr/>
            <p:nvPr/>
          </p:nvSpPr>
          <p:spPr>
            <a:xfrm>
              <a:off x="1530819" y="1810512"/>
              <a:ext cx="822960" cy="822960"/>
            </a:xfrm>
            <a:prstGeom prst="ellipse">
              <a:avLst/>
            </a:prstGeom>
            <a:solidFill>
              <a:srgbClr val="162451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30819" y="1810512"/>
              <a:ext cx="822960" cy="82296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C4A857"/>
                  </a:solidFill>
                  <a:latin typeface="Oswald"/>
                </a:rPr>
                <a:t>01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85800" y="2852928"/>
              <a:ext cx="2512999" cy="1481328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85800" y="2852928"/>
              <a:ext cx="2512999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68680" y="3017520"/>
              <a:ext cx="2147239" cy="5029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600" b="1" i="0">
                  <a:solidFill>
                    <a:srgbClr val="FFFFFF"/>
                  </a:solidFill>
                  <a:latin typeface="Oswald"/>
                </a:rPr>
                <a:t>Comparar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68680" y="3566160"/>
              <a:ext cx="2147239" cy="6858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Rutas con flota propia y contratada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454831" y="1810512"/>
            <a:ext cx="2512999" cy="2523744"/>
            <a:chOff x="3454831" y="1810512"/>
            <a:chExt cx="2512999" cy="2523744"/>
          </a:xfrm>
        </p:grpSpPr>
        <p:sp>
          <p:nvSpPr>
            <p:cNvPr id="20" name="Oval 19"/>
            <p:cNvSpPr/>
            <p:nvPr/>
          </p:nvSpPr>
          <p:spPr>
            <a:xfrm>
              <a:off x="4299851" y="1810512"/>
              <a:ext cx="822960" cy="822960"/>
            </a:xfrm>
            <a:prstGeom prst="ellipse">
              <a:avLst/>
            </a:prstGeom>
            <a:solidFill>
              <a:srgbClr val="162451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299851" y="1810512"/>
              <a:ext cx="822960" cy="82296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C4A857"/>
                  </a:solidFill>
                  <a:latin typeface="Oswald"/>
                </a:rPr>
                <a:t>02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454831" y="2852928"/>
              <a:ext cx="2512999" cy="1481328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454831" y="2852928"/>
              <a:ext cx="2512999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637711" y="3017520"/>
              <a:ext cx="2147239" cy="5029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600" b="1" i="0">
                  <a:solidFill>
                    <a:srgbClr val="FFFFFF"/>
                  </a:solidFill>
                  <a:latin typeface="Oswald"/>
                </a:rPr>
                <a:t>Desglosar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637711" y="3566160"/>
              <a:ext cx="2147239" cy="6858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Costo total estimado de servir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6223863" y="1810512"/>
            <a:ext cx="2512999" cy="2523744"/>
            <a:chOff x="6223863" y="1810512"/>
            <a:chExt cx="2512999" cy="2523744"/>
          </a:xfrm>
        </p:grpSpPr>
        <p:sp>
          <p:nvSpPr>
            <p:cNvPr id="27" name="Oval 26"/>
            <p:cNvSpPr/>
            <p:nvPr/>
          </p:nvSpPr>
          <p:spPr>
            <a:xfrm>
              <a:off x="7068883" y="1810512"/>
              <a:ext cx="822960" cy="822960"/>
            </a:xfrm>
            <a:prstGeom prst="ellipse">
              <a:avLst/>
            </a:prstGeom>
            <a:solidFill>
              <a:srgbClr val="162451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068883" y="1810512"/>
              <a:ext cx="822960" cy="82296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C4A857"/>
                  </a:solidFill>
                  <a:latin typeface="Oswald"/>
                </a:rPr>
                <a:t>03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223863" y="2852928"/>
              <a:ext cx="2512999" cy="1481328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6223863" y="2852928"/>
              <a:ext cx="2512999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406743" y="3017520"/>
              <a:ext cx="2147239" cy="5029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600" b="1" i="0">
                  <a:solidFill>
                    <a:srgbClr val="FFFFFF"/>
                  </a:solidFill>
                  <a:latin typeface="Oswald"/>
                </a:rPr>
                <a:t>Explicar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406743" y="3566160"/>
              <a:ext cx="2147239" cy="6858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La IA comunica los datos calculados</a:t>
              </a: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8992895" y="1810512"/>
            <a:ext cx="2512999" cy="2523744"/>
            <a:chOff x="8992895" y="1810512"/>
            <a:chExt cx="2512999" cy="2523744"/>
          </a:xfrm>
        </p:grpSpPr>
        <p:sp>
          <p:nvSpPr>
            <p:cNvPr id="34" name="Oval 33"/>
            <p:cNvSpPr/>
            <p:nvPr/>
          </p:nvSpPr>
          <p:spPr>
            <a:xfrm>
              <a:off x="9837915" y="1810512"/>
              <a:ext cx="822960" cy="822960"/>
            </a:xfrm>
            <a:prstGeom prst="ellipse">
              <a:avLst/>
            </a:prstGeom>
            <a:solidFill>
              <a:srgbClr val="162451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837915" y="1810512"/>
              <a:ext cx="822960" cy="82296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C4A857"/>
                  </a:solidFill>
                  <a:latin typeface="Oswald"/>
                </a:rPr>
                <a:t>04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8992895" y="2852928"/>
              <a:ext cx="2512999" cy="1481328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8992895" y="2852928"/>
              <a:ext cx="2512999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175775" y="3017520"/>
              <a:ext cx="2147239" cy="5029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600" b="1" i="0">
                  <a:solidFill>
                    <a:srgbClr val="FFFFFF"/>
                  </a:solidFill>
                  <a:latin typeface="Oswald"/>
                </a:rPr>
                <a:t>Decidir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9175775" y="3566160"/>
              <a:ext cx="2147239" cy="6858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El planificador elige la opción</a:t>
              </a:r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685800" y="4590288"/>
            <a:ext cx="108200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 spc="120">
                <a:solidFill>
                  <a:srgbClr val="E6D7A3"/>
                </a:solidFill>
                <a:latin typeface="Open Sans"/>
              </a:rPr>
              <a:t>PROPUESTA · A/B/C ya ensayado en el motor; falta llevarlo a operación</a:t>
            </a:r>
          </a:p>
        </p:txBody>
      </p:sp>
      <p:grpSp>
        <p:nvGrpSpPr>
          <p:cNvPr id="41" name="Group 40"/>
          <p:cNvGrpSpPr/>
          <p:nvPr/>
        </p:nvGrpSpPr>
        <p:grpSpPr>
          <a:xfrm>
            <a:off x="1687626" y="5074920"/>
            <a:ext cx="8816442" cy="731520"/>
            <a:chOff x="1687626" y="5074920"/>
            <a:chExt cx="8816442" cy="731520"/>
          </a:xfrm>
        </p:grpSpPr>
        <p:sp>
          <p:nvSpPr>
            <p:cNvPr id="42" name="TextBox 41"/>
            <p:cNvSpPr txBox="1"/>
            <p:nvPr/>
          </p:nvSpPr>
          <p:spPr>
            <a:xfrm>
              <a:off x="2922066" y="5074920"/>
              <a:ext cx="6347561" cy="73152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3200" b="1" i="0">
                  <a:solidFill>
                    <a:srgbClr val="FFFFFF"/>
                  </a:solidFill>
                  <a:latin typeface="Oswald"/>
                </a:rPr>
                <a:t>La IA explica; </a:t>
              </a:r>
              <a:r>
                <a:rPr sz="3200" b="1" i="0">
                  <a:solidFill>
                    <a:srgbClr val="C4A857"/>
                  </a:solidFill>
                  <a:latin typeface="Oswald"/>
                </a:rPr>
                <a:t>el planificador decide.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1687626" y="5449824"/>
              <a:ext cx="1097280" cy="18288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9406788" y="5449824"/>
              <a:ext cx="1097280" cy="18288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5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40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04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ANEXO 5.7 · PROTOTIPO / DEMO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La pantalla de rutas, en una captura real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captura-rutas.png, Entregable 2. La captura muestra otro escenario sintético; no es Quito ni A/B/C.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1618488"/>
            <a:ext cx="7187184" cy="3085259"/>
            <a:chOff x="685800" y="1618488"/>
            <a:chExt cx="7187184" cy="3085259"/>
          </a:xfrm>
        </p:grpSpPr>
        <p:sp>
          <p:nvSpPr>
            <p:cNvPr id="12" name="Rectangle 11"/>
            <p:cNvSpPr/>
            <p:nvPr/>
          </p:nvSpPr>
          <p:spPr>
            <a:xfrm>
              <a:off x="685800" y="1618488"/>
              <a:ext cx="7187184" cy="303953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5DBEA"/>
              </a:solidFill>
            </a:ln>
            <a:effectLst>
              <a:outerShdw blurRad="152400" dist="50800" dir="5400000" algn="t" rotWithShape="0">
                <a:srgbClr val="162451">
                  <a:alpha val="18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Picture 12" descr="captura-rutas-recort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8952" y="1691640"/>
              <a:ext cx="7040880" cy="2893235"/>
            </a:xfrm>
            <a:prstGeom prst="rect">
              <a:avLst/>
            </a:prstGeom>
          </p:spPr>
        </p:pic>
        <p:sp>
          <p:nvSpPr>
            <p:cNvPr id="14" name="Rectangle 13"/>
            <p:cNvSpPr/>
            <p:nvPr/>
          </p:nvSpPr>
          <p:spPr>
            <a:xfrm>
              <a:off x="685800" y="4658027"/>
              <a:ext cx="7187184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8183879" y="1618488"/>
            <a:ext cx="3322015" cy="3085259"/>
            <a:chOff x="8183879" y="1618488"/>
            <a:chExt cx="3322015" cy="3085259"/>
          </a:xfrm>
        </p:grpSpPr>
        <p:sp>
          <p:nvSpPr>
            <p:cNvPr id="16" name="Rectangle 15"/>
            <p:cNvSpPr/>
            <p:nvPr/>
          </p:nvSpPr>
          <p:spPr>
            <a:xfrm>
              <a:off x="8183879" y="1618488"/>
              <a:ext cx="3322015" cy="3085259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8183879" y="1618488"/>
              <a:ext cx="3322015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458200" y="1911095"/>
              <a:ext cx="2773375" cy="468495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600" b="1" i="0">
                  <a:solidFill>
                    <a:srgbClr val="242D57"/>
                  </a:solidFill>
                  <a:latin typeface="Oswald"/>
                </a:rPr>
                <a:t>Interfaz existente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458200" y="2452743"/>
              <a:ext cx="2773375" cy="2068123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700" b="0" i="0">
                  <a:solidFill>
                    <a:srgbClr val="5B6585"/>
                  </a:solidFill>
                  <a:latin typeface="Open Sans"/>
                </a:rPr>
                <a:t>La captura documenta una vista de rutas. No demuestra la comparación de flota ni una corrida del escenario de Quito.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685800" y="5087795"/>
            <a:ext cx="10820095" cy="749808"/>
            <a:chOff x="685800" y="5087795"/>
            <a:chExt cx="10820095" cy="749808"/>
          </a:xfrm>
        </p:grpSpPr>
        <p:sp>
          <p:nvSpPr>
            <p:cNvPr id="21" name="Rectangle 20"/>
            <p:cNvSpPr/>
            <p:nvPr/>
          </p:nvSpPr>
          <p:spPr>
            <a:xfrm>
              <a:off x="685800" y="5087795"/>
              <a:ext cx="10820095" cy="749808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85800" y="5087795"/>
              <a:ext cx="64008" cy="749808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1005840" y="5307251"/>
              <a:ext cx="1992954" cy="310896"/>
            </a:xfrm>
            <a:prstGeom prst="roundRect">
              <a:avLst>
                <a:gd name="adj" fmla="val 50000"/>
              </a:avLst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05840" y="5307251"/>
              <a:ext cx="1992954" cy="31089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1" i="0" spc="100">
                  <a:solidFill>
                    <a:srgbClr val="162451"/>
                  </a:solidFill>
                  <a:latin typeface="Open Sans"/>
                </a:rPr>
                <a:t>DATOS SINTÉTICOS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273114" y="5087795"/>
              <a:ext cx="8004180" cy="74980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800" b="1" i="0">
                  <a:solidFill>
                    <a:srgbClr val="FFFFFF"/>
                  </a:solidFill>
                  <a:latin typeface="Open Sans"/>
                </a:rPr>
                <a:t>Captura real · los datos visibles pertenecen a otro escenario sintético.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5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05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ANEXO 5.7 · PROTOTIPO / DEMO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A / B / C: el motor compara y recomienda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7909560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67354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ensayo técnico #285 (PR #295, 1585ab7), 02-suggest-pitch-abc.json · demo-quito-planificacion, corrida local 17-oct · 4 pedidos, 6 entregas críticas, 55,9 km · diésel USD 3,11/gal (Primicias, 12-oct) · matriz P-02.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1536192"/>
            <a:ext cx="7909559" cy="310896"/>
            <a:chOff x="685800" y="1536192"/>
            <a:chExt cx="7909559" cy="310896"/>
          </a:xfrm>
        </p:grpSpPr>
        <p:sp>
          <p:nvSpPr>
            <p:cNvPr id="12" name="Rounded Rectangle 11"/>
            <p:cNvSpPr/>
            <p:nvPr/>
          </p:nvSpPr>
          <p:spPr>
            <a:xfrm>
              <a:off x="685800" y="1536192"/>
              <a:ext cx="1992954" cy="310896"/>
            </a:xfrm>
            <a:prstGeom prst="roundRect">
              <a:avLst>
                <a:gd name="adj" fmla="val 50000"/>
              </a:avLst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85800" y="1536192"/>
              <a:ext cx="1992954" cy="31089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1" i="0" spc="100">
                  <a:solidFill>
                    <a:srgbClr val="162451"/>
                  </a:solidFill>
                  <a:latin typeface="Open Sans"/>
                </a:rPr>
                <a:t>DATOS SINTÉTICOS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861634" y="1536192"/>
              <a:ext cx="5733725" cy="31089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>
                  <a:solidFill>
                    <a:srgbClr val="5B6585"/>
                  </a:solidFill>
                  <a:latin typeface="Open Sans"/>
                </a:rPr>
                <a:t>Ensayo técnico del motor · escenario sintético de Quito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85800" y="2011680"/>
            <a:ext cx="7772400" cy="603504"/>
            <a:chOff x="685800" y="2011680"/>
            <a:chExt cx="7772400" cy="603504"/>
          </a:xfrm>
        </p:grpSpPr>
        <p:sp>
          <p:nvSpPr>
            <p:cNvPr id="16" name="Rectangle 15"/>
            <p:cNvSpPr/>
            <p:nvPr/>
          </p:nvSpPr>
          <p:spPr>
            <a:xfrm>
              <a:off x="685800" y="2011680"/>
              <a:ext cx="2240280" cy="603504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77240" y="2011680"/>
              <a:ext cx="2057400" cy="60350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9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242D57"/>
                  </a:solidFill>
                  <a:latin typeface="Oswald"/>
                </a:rPr>
                <a:t/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926080" y="2011680"/>
              <a:ext cx="1783080" cy="603504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017520" y="2011680"/>
              <a:ext cx="1600200" cy="60350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9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FFFFFF"/>
                  </a:solidFill>
                  <a:latin typeface="Oswald"/>
                </a:rPr>
                <a:t>A · Flota propia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709160" y="2011680"/>
              <a:ext cx="1783080" cy="603504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800600" y="2011680"/>
              <a:ext cx="1600200" cy="60350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9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FFFFFF"/>
                  </a:solidFill>
                  <a:latin typeface="Oswald"/>
                </a:rPr>
                <a:t>B · Propia, críticos primero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492240" y="2011680"/>
              <a:ext cx="1965960" cy="60350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583680" y="2011680"/>
              <a:ext cx="1783080" cy="60350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9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162451"/>
                  </a:solidFill>
                  <a:latin typeface="Oswald"/>
                </a:rPr>
                <a:t>C · Operador contratado</a:t>
              </a:r>
            </a:p>
          </p:txBody>
        </p:sp>
      </p:grpSp>
      <p:pic>
        <p:nvPicPr>
          <p:cNvPr id="24" name="Picture 23" descr="chillo-medio-cuer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804013"/>
            <a:ext cx="2377440" cy="3053986"/>
          </a:xfrm>
          <a:prstGeom prst="rect">
            <a:avLst/>
          </a:prstGeom>
        </p:spPr>
      </p:pic>
      <p:grpSp>
        <p:nvGrpSpPr>
          <p:cNvPr id="25" name="Group 24"/>
          <p:cNvGrpSpPr/>
          <p:nvPr/>
        </p:nvGrpSpPr>
        <p:grpSpPr>
          <a:xfrm>
            <a:off x="685800" y="2615184"/>
            <a:ext cx="7772400" cy="457200"/>
            <a:chOff x="685800" y="2615184"/>
            <a:chExt cx="7772400" cy="457200"/>
          </a:xfrm>
        </p:grpSpPr>
        <p:sp>
          <p:nvSpPr>
            <p:cNvPr id="26" name="Rectangle 25"/>
            <p:cNvSpPr/>
            <p:nvPr/>
          </p:nvSpPr>
          <p:spPr>
            <a:xfrm>
              <a:off x="685800" y="2615184"/>
              <a:ext cx="22402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868680" y="2615184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>
                  <a:solidFill>
                    <a:srgbClr val="242D57"/>
                  </a:solidFill>
                  <a:latin typeface="Open Sans"/>
                </a:rPr>
                <a:t>Flota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2926080" y="2615184"/>
              <a:ext cx="17830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017520" y="26151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Propia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709160" y="2615184"/>
              <a:ext cx="17830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800600" y="26151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Propia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6492240" y="2615184"/>
              <a:ext cx="1965960" cy="457200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583680" y="2615184"/>
              <a:ext cx="17830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7D6520"/>
                  </a:solidFill>
                  <a:latin typeface="Oswald"/>
                </a:rPr>
                <a:t>Contratada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685800" y="3061411"/>
              <a:ext cx="7772400" cy="10972"/>
            </a:xfrm>
            <a:prstGeom prst="rect">
              <a:avLst/>
            </a:prstGeom>
            <a:solidFill>
              <a:srgbClr val="D5DB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685800" y="3072384"/>
            <a:ext cx="7772400" cy="457200"/>
            <a:chOff x="685800" y="3072384"/>
            <a:chExt cx="7772400" cy="457200"/>
          </a:xfrm>
        </p:grpSpPr>
        <p:sp>
          <p:nvSpPr>
            <p:cNvPr id="36" name="Rectangle 35"/>
            <p:cNvSpPr/>
            <p:nvPr/>
          </p:nvSpPr>
          <p:spPr>
            <a:xfrm>
              <a:off x="685800" y="3072384"/>
              <a:ext cx="2240280" cy="45720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868680" y="3072384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>
                  <a:solidFill>
                    <a:srgbClr val="242D57"/>
                  </a:solidFill>
                  <a:latin typeface="Open Sans"/>
                </a:rPr>
                <a:t>Críticos a tiempo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926080" y="3072384"/>
              <a:ext cx="1783080" cy="45720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017520" y="30723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5 de 6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4709160" y="3072384"/>
              <a:ext cx="1783080" cy="45720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4800600" y="30723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6 de 6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6492240" y="3072384"/>
              <a:ext cx="1965960" cy="457200"/>
            </a:xfrm>
            <a:prstGeom prst="rect">
              <a:avLst/>
            </a:prstGeom>
            <a:solidFill>
              <a:srgbClr val="F1E8C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583680" y="3072384"/>
              <a:ext cx="17830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7D6520"/>
                  </a:solidFill>
                  <a:latin typeface="Oswald"/>
                </a:rPr>
                <a:t>6 de 6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685800" y="3518611"/>
              <a:ext cx="7772400" cy="10972"/>
            </a:xfrm>
            <a:prstGeom prst="rect">
              <a:avLst/>
            </a:prstGeom>
            <a:solidFill>
              <a:srgbClr val="D5DB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" name="Group 44"/>
          <p:cNvGrpSpPr/>
          <p:nvPr/>
        </p:nvGrpSpPr>
        <p:grpSpPr>
          <a:xfrm>
            <a:off x="685800" y="3529584"/>
            <a:ext cx="7772400" cy="457200"/>
            <a:chOff x="685800" y="3529584"/>
            <a:chExt cx="7772400" cy="457200"/>
          </a:xfrm>
        </p:grpSpPr>
        <p:sp>
          <p:nvSpPr>
            <p:cNvPr id="46" name="Rectangle 45"/>
            <p:cNvSpPr/>
            <p:nvPr/>
          </p:nvSpPr>
          <p:spPr>
            <a:xfrm>
              <a:off x="685800" y="3529584"/>
              <a:ext cx="22402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868680" y="3529584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>
                  <a:solidFill>
                    <a:srgbClr val="242D57"/>
                  </a:solidFill>
                  <a:latin typeface="Open Sans"/>
                </a:rPr>
                <a:t>Puntaje del motor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926080" y="3529584"/>
              <a:ext cx="17830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017520" y="35295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81,7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4709160" y="3529584"/>
              <a:ext cx="17830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4800600" y="35295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89,1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6492240" y="3529584"/>
              <a:ext cx="1965960" cy="457200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6583680" y="3529584"/>
              <a:ext cx="17830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7D6520"/>
                  </a:solidFill>
                  <a:latin typeface="Oswald"/>
                </a:rPr>
                <a:t>90,8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85800" y="3975811"/>
              <a:ext cx="7772400" cy="10972"/>
            </a:xfrm>
            <a:prstGeom prst="rect">
              <a:avLst/>
            </a:prstGeom>
            <a:solidFill>
              <a:srgbClr val="D5DB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" name="Group 54"/>
          <p:cNvGrpSpPr/>
          <p:nvPr/>
        </p:nvGrpSpPr>
        <p:grpSpPr>
          <a:xfrm>
            <a:off x="685800" y="3986784"/>
            <a:ext cx="7772400" cy="585216"/>
            <a:chOff x="685800" y="3986784"/>
            <a:chExt cx="7772400" cy="585216"/>
          </a:xfrm>
        </p:grpSpPr>
        <p:sp>
          <p:nvSpPr>
            <p:cNvPr id="56" name="Rectangle 55"/>
            <p:cNvSpPr/>
            <p:nvPr/>
          </p:nvSpPr>
          <p:spPr>
            <a:xfrm>
              <a:off x="685800" y="3986784"/>
              <a:ext cx="2240280" cy="585216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868680" y="3986784"/>
              <a:ext cx="2011680" cy="58521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>
                  <a:solidFill>
                    <a:srgbClr val="242D57"/>
                  </a:solidFill>
                  <a:latin typeface="Open Sans"/>
                </a:rPr>
                <a:t>Costo total estimado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2926080" y="3986784"/>
              <a:ext cx="1783080" cy="585216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3017520" y="3986784"/>
              <a:ext cx="1600200" cy="58521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242D57"/>
                  </a:solidFill>
                  <a:latin typeface="Oswald"/>
                </a:rPr>
                <a:t>USD 57,89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4709160" y="3986784"/>
              <a:ext cx="1783080" cy="585216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4800600" y="3986784"/>
              <a:ext cx="1600200" cy="58521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242D57"/>
                  </a:solidFill>
                  <a:latin typeface="Oswald"/>
                </a:rPr>
                <a:t>USD 69,89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6492240" y="3986784"/>
              <a:ext cx="1965960" cy="585216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6583680" y="3986784"/>
              <a:ext cx="1783080" cy="58521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7D6520"/>
                  </a:solidFill>
                  <a:latin typeface="Oswald"/>
                </a:rPr>
                <a:t>USD 66,90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685800" y="4561027"/>
              <a:ext cx="7772400" cy="10972"/>
            </a:xfrm>
            <a:prstGeom prst="rect">
              <a:avLst/>
            </a:prstGeom>
            <a:solidFill>
              <a:srgbClr val="D5DB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685800" y="3986784"/>
              <a:ext cx="7772400" cy="27432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66" name="Rectangle 65"/>
          <p:cNvSpPr/>
          <p:nvPr/>
        </p:nvSpPr>
        <p:spPr>
          <a:xfrm>
            <a:off x="6492240" y="2011680"/>
            <a:ext cx="1965960" cy="2560320"/>
          </a:xfrm>
          <a:prstGeom prst="rect">
            <a:avLst/>
          </a:prstGeom>
          <a:noFill/>
          <a:ln w="38100">
            <a:solidFill>
              <a:srgbClr val="C4A857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67" name="Group 66"/>
          <p:cNvGrpSpPr/>
          <p:nvPr/>
        </p:nvGrpSpPr>
        <p:grpSpPr>
          <a:xfrm>
            <a:off x="685800" y="4773168"/>
            <a:ext cx="7909560" cy="658368"/>
            <a:chOff x="685800" y="4773168"/>
            <a:chExt cx="7909560" cy="658368"/>
          </a:xfrm>
        </p:grpSpPr>
        <p:sp>
          <p:nvSpPr>
            <p:cNvPr id="68" name="Rectangle 67"/>
            <p:cNvSpPr/>
            <p:nvPr/>
          </p:nvSpPr>
          <p:spPr>
            <a:xfrm>
              <a:off x="685800" y="4773168"/>
              <a:ext cx="7909560" cy="658368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685800" y="4773168"/>
              <a:ext cx="54864" cy="658368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886968" y="4773168"/>
              <a:ext cx="7589520" cy="65836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250" b="1" i="0">
                  <a:solidFill>
                    <a:srgbClr val="242D57"/>
                  </a:solidFill>
                  <a:latin typeface="Open Sans"/>
                </a:rPr>
                <a:t>Recomendación del motor: C. El operador contratado cubre el 100 % de los pedidos, con los 6 críticos a tiempo y respuesta de 4 h. </a:t>
              </a:r>
              <a:r>
                <a:rPr sz="1250" b="0" i="0">
                  <a:solidFill>
                    <a:srgbClr val="242D57"/>
                  </a:solidFill>
                  <a:latin typeface="Open Sans"/>
                </a:rPr>
                <a:t>La más barata no siempre es la mejor: A deja un crítico fuera de ventana. El planificador decide.</a:t>
              </a:r>
            </a:p>
          </p:txBody>
        </p:sp>
      </p:grpSp>
      <p:sp>
        <p:nvSpPr>
          <p:cNvPr id="71" name="Rounded Rectangular Callout 70"/>
          <p:cNvSpPr/>
          <p:nvPr/>
        </p:nvSpPr>
        <p:spPr>
          <a:xfrm>
            <a:off x="8759952" y="2395728"/>
            <a:ext cx="3200400" cy="914400"/>
          </a:xfrm>
          <a:prstGeom prst="wedgeRoundRectCallout">
            <a:avLst>
              <a:gd name="adj1" fmla="val 11999"/>
              <a:gd name="adj2" fmla="val 97999"/>
              <a:gd name="adj3" fmla="val 16667"/>
            </a:avLst>
          </a:prstGeom>
          <a:solidFill>
            <a:srgbClr val="FFFFFF"/>
          </a:solidFill>
          <a:ln w="12700">
            <a:solidFill>
              <a:srgbClr val="D5DBEA"/>
            </a:solidFill>
          </a:ln>
          <a:effectLst>
            <a:outerShdw blurRad="177800" dist="50800" dir="5400000" algn="t" rotWithShape="0">
              <a:srgbClr val="162451">
                <a:alpha val="30000"/>
              </a:srgbClr>
            </a:outerShdw>
          </a:effectLst>
        </p:spPr>
        <p:txBody>
          <a:bodyPr rtlCol="0" anchor="ctr" wrap="square" lIns="146304" rIns="146304" tIns="54864" bIns="54864"/>
          <a:lstStyle/>
          <a:p>
            <a:pPr algn="ctr"/>
            <a:r>
              <a:rPr sz="1400" b="1" i="0">
                <a:solidFill>
                  <a:srgbClr val="242D57"/>
                </a:solidFill>
                <a:latin typeface="Open Sans"/>
              </a:rPr>
              <a:t>Una ruta no es solo kilómetros: también es </a:t>
            </a:r>
            <a:r>
              <a:rPr sz="1400" b="1" i="0">
                <a:solidFill>
                  <a:srgbClr val="7D6520"/>
                </a:solidFill>
                <a:latin typeface="Open Sans"/>
              </a:rPr>
              <a:t>quien descarga</a:t>
            </a:r>
            <a:r>
              <a:rPr sz="1400" b="1" i="0">
                <a:solidFill>
                  <a:srgbClr val="242D57"/>
                </a:solidFill>
                <a:latin typeface="Open Sans"/>
              </a:rPr>
              <a:t>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0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6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850"/>
                            </p:stCondLst>
                            <p:childTnLst>
                              <p:par>
                                <p:cTn id="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71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B9C2DC"/>
                </a:solidFill>
                <a:latin typeface="Open Sans"/>
              </a:rPr>
              <a:t>HACKATHON EXPO CLEAN 2026 · RETO 1 · 06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481328"/>
            <a:chOff x="685800" y="402336"/>
            <a:chExt cx="10820095" cy="1481328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C4A857"/>
                  </a:solidFill>
                  <a:latin typeface="Open Sans"/>
                </a:rPr>
                <a:t>ANEXO 5.7 · IMPACTO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FFFFFF"/>
                  </a:solidFill>
                  <a:latin typeface="Oswald"/>
                </a:rPr>
                <a:t>Indicadores que cualquier rol puede entender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85800" y="1517904"/>
              <a:ext cx="9144000" cy="36576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900" b="0" i="0">
                  <a:solidFill>
                    <a:srgbClr val="B9C2DC"/>
                  </a:solidFill>
                  <a:latin typeface="Open Sans"/>
                </a:rPr>
                <a:t>Preguntas sencillas para conversar con el equipo operativo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2E3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9C2DC"/>
                </a:solidFill>
                <a:latin typeface="Open Sans"/>
              </a:rPr>
              <a:t>Propuesta de indicadores: matriz P-07 en curso; diseño de medición según la propuesta de planificación.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85800" y="2084831"/>
            <a:ext cx="3423818" cy="1901952"/>
            <a:chOff x="685800" y="2084831"/>
            <a:chExt cx="3423818" cy="1901952"/>
          </a:xfrm>
        </p:grpSpPr>
        <p:sp>
          <p:nvSpPr>
            <p:cNvPr id="13" name="Rectangle 12"/>
            <p:cNvSpPr/>
            <p:nvPr/>
          </p:nvSpPr>
          <p:spPr>
            <a:xfrm>
              <a:off x="685800" y="2084831"/>
              <a:ext cx="3423818" cy="1901952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85800" y="2084831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286658" y="2322575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01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60120" y="2377439"/>
              <a:ext cx="2235098" cy="381917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100" b="1" i="0">
                  <a:solidFill>
                    <a:srgbClr val="FFFFFF"/>
                  </a:solidFill>
                  <a:latin typeface="Oswald"/>
                </a:rPr>
                <a:t>Costo por kilómetro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60120" y="2832509"/>
              <a:ext cx="2875178" cy="97139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¿Cuánto cuesta recorrer esta ruta?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4383938" y="2084831"/>
            <a:ext cx="3423818" cy="1901952"/>
            <a:chOff x="4383938" y="2084831"/>
            <a:chExt cx="3423818" cy="1901952"/>
          </a:xfrm>
        </p:grpSpPr>
        <p:sp>
          <p:nvSpPr>
            <p:cNvPr id="19" name="Rectangle 18"/>
            <p:cNvSpPr/>
            <p:nvPr/>
          </p:nvSpPr>
          <p:spPr>
            <a:xfrm>
              <a:off x="4383938" y="2084831"/>
              <a:ext cx="3423818" cy="1901952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383938" y="2084831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984796" y="2322575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02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658258" y="2377439"/>
              <a:ext cx="2235098" cy="381917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100" b="1" i="0">
                  <a:solidFill>
                    <a:srgbClr val="FFFFFF"/>
                  </a:solidFill>
                  <a:latin typeface="Oswald"/>
                </a:rPr>
                <a:t>Costo por entrega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58258" y="2832509"/>
              <a:ext cx="2875178" cy="97139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¿Cuánto cuesta atender cada pedido?</a:t>
              </a: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8082076" y="2084831"/>
            <a:ext cx="3423818" cy="1901952"/>
            <a:chOff x="8082076" y="2084831"/>
            <a:chExt cx="3423818" cy="1901952"/>
          </a:xfrm>
        </p:grpSpPr>
        <p:sp>
          <p:nvSpPr>
            <p:cNvPr id="25" name="Rectangle 24"/>
            <p:cNvSpPr/>
            <p:nvPr/>
          </p:nvSpPr>
          <p:spPr>
            <a:xfrm>
              <a:off x="8082076" y="2084831"/>
              <a:ext cx="3423818" cy="1901952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082076" y="2084831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682935" y="2322575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03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356396" y="2377439"/>
              <a:ext cx="2235098" cy="381917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100" b="1" i="0">
                  <a:solidFill>
                    <a:srgbClr val="FFFFFF"/>
                  </a:solidFill>
                  <a:latin typeface="Oswald"/>
                </a:rPr>
                <a:t>Entregas a tiempo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8356396" y="2832509"/>
              <a:ext cx="2875178" cy="97139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¿Llegamos dentro de la ventana acordada?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685800" y="4133087"/>
            <a:ext cx="3423818" cy="1901952"/>
            <a:chOff x="685800" y="4133087"/>
            <a:chExt cx="3423818" cy="1901952"/>
          </a:xfrm>
        </p:grpSpPr>
        <p:sp>
          <p:nvSpPr>
            <p:cNvPr id="31" name="Rectangle 30"/>
            <p:cNvSpPr/>
            <p:nvPr/>
          </p:nvSpPr>
          <p:spPr>
            <a:xfrm>
              <a:off x="685800" y="4133087"/>
              <a:ext cx="3423818" cy="1901952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685800" y="4133087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286658" y="4370832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60120" y="4425696"/>
              <a:ext cx="2235098" cy="381917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100" b="1" i="0">
                  <a:solidFill>
                    <a:srgbClr val="FFFFFF"/>
                  </a:solidFill>
                  <a:latin typeface="Oswald"/>
                </a:rPr>
                <a:t>Pendientes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60120" y="4880765"/>
              <a:ext cx="2875178" cy="97139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¿Qué pedidos quedaron sin atender?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4383938" y="4133087"/>
            <a:ext cx="3423818" cy="1901952"/>
            <a:chOff x="4383938" y="4133087"/>
            <a:chExt cx="3423818" cy="1901952"/>
          </a:xfrm>
        </p:grpSpPr>
        <p:sp>
          <p:nvSpPr>
            <p:cNvPr id="37" name="Rectangle 36"/>
            <p:cNvSpPr/>
            <p:nvPr/>
          </p:nvSpPr>
          <p:spPr>
            <a:xfrm>
              <a:off x="4383938" y="4133087"/>
              <a:ext cx="3423818" cy="1901952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383938" y="4133087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984796" y="4370832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05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658258" y="4425696"/>
              <a:ext cx="2235098" cy="381917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100" b="1" i="0">
                  <a:solidFill>
                    <a:srgbClr val="FFFFFF"/>
                  </a:solidFill>
                  <a:latin typeface="Oswald"/>
                </a:rPr>
                <a:t>Mermas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4658258" y="4880765"/>
              <a:ext cx="2875178" cy="97139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¿Qué producto se dañó o rechazó?</a:t>
              </a: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8082076" y="4133087"/>
            <a:ext cx="3423818" cy="1901952"/>
            <a:chOff x="8082076" y="4133087"/>
            <a:chExt cx="3423818" cy="1901952"/>
          </a:xfrm>
        </p:grpSpPr>
        <p:sp>
          <p:nvSpPr>
            <p:cNvPr id="43" name="Rectangle 42"/>
            <p:cNvSpPr/>
            <p:nvPr/>
          </p:nvSpPr>
          <p:spPr>
            <a:xfrm>
              <a:off x="8082076" y="4133087"/>
              <a:ext cx="3423818" cy="1901952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8082076" y="4133087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0682935" y="4370832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06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356396" y="4425696"/>
              <a:ext cx="2235098" cy="745546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100" b="1" i="0">
                  <a:solidFill>
                    <a:srgbClr val="FFFFFF"/>
                  </a:solidFill>
                  <a:latin typeface="Oswald"/>
                </a:rPr>
                <a:t>Propia frente a contratada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8356396" y="5244394"/>
              <a:ext cx="2875178" cy="607765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¿Qué opción conviene con los datos disponibles?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1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5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8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15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07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ANEXO 5.7 · VIABILIDAD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Lo que podemos respaldar hoy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matriz P-01/P-04/P-11 y A-22. Ensayo P-01: sintético, fixture demo-base; no es la demo A/B/C.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1783080"/>
            <a:ext cx="5250027" cy="2103120"/>
            <a:chOff x="685800" y="1783080"/>
            <a:chExt cx="5250027" cy="2103120"/>
          </a:xfrm>
        </p:grpSpPr>
        <p:sp>
          <p:nvSpPr>
            <p:cNvPr id="12" name="Rectangle 11"/>
            <p:cNvSpPr/>
            <p:nvPr/>
          </p:nvSpPr>
          <p:spPr>
            <a:xfrm>
              <a:off x="685800" y="1783080"/>
              <a:ext cx="5250027" cy="210312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5800" y="1783080"/>
              <a:ext cx="5250027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112867" y="202082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7D6520"/>
                  </a:solidFill>
                  <a:latin typeface="Oswald"/>
                </a:rPr>
                <a:t>01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60120" y="2075688"/>
              <a:ext cx="4061307" cy="468495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600" b="1" i="0">
                  <a:solidFill>
                    <a:srgbClr val="242D57"/>
                  </a:solidFill>
                  <a:latin typeface="Oswald"/>
                </a:rPr>
                <a:t>Costo estimado de servir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60120" y="2617335"/>
              <a:ext cx="4701387" cy="108598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5B6585"/>
                  </a:solidFill>
                  <a:latin typeface="Open Sans"/>
                </a:rPr>
                <a:t>Ensayo técnico sintético: combustible según carga, desgaste, conductor, ayudantes y merma esperada.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255867" y="1783080"/>
            <a:ext cx="5250027" cy="2103120"/>
            <a:chOff x="6255867" y="1783080"/>
            <a:chExt cx="5250027" cy="2103120"/>
          </a:xfrm>
        </p:grpSpPr>
        <p:sp>
          <p:nvSpPr>
            <p:cNvPr id="18" name="Rectangle 17"/>
            <p:cNvSpPr/>
            <p:nvPr/>
          </p:nvSpPr>
          <p:spPr>
            <a:xfrm>
              <a:off x="6255867" y="1783080"/>
              <a:ext cx="5250027" cy="210312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255867" y="1783080"/>
              <a:ext cx="5250027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682935" y="202082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7D6520"/>
                  </a:solidFill>
                  <a:latin typeface="Oswald"/>
                </a:rPr>
                <a:t>02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530187" y="2075688"/>
              <a:ext cx="4061307" cy="468495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600" b="1" i="0">
                  <a:solidFill>
                    <a:srgbClr val="242D57"/>
                  </a:solidFill>
                  <a:latin typeface="Oswald"/>
                </a:rPr>
                <a:t>Importación y escenario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530187" y="2617335"/>
              <a:ext cx="4701387" cy="108598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5B6585"/>
                  </a:solidFill>
                  <a:latin typeface="Open Sans"/>
                </a:rPr>
                <a:t>Hay prueba de importación del escenario sintético de Quito. La comparación completa no está ensayada en pantalla.</a:t>
              </a: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685800" y="4343400"/>
            <a:ext cx="10820095" cy="1234440"/>
            <a:chOff x="685800" y="4343400"/>
            <a:chExt cx="10820095" cy="1234440"/>
          </a:xfrm>
        </p:grpSpPr>
        <p:sp>
          <p:nvSpPr>
            <p:cNvPr id="24" name="Rectangle 23"/>
            <p:cNvSpPr/>
            <p:nvPr/>
          </p:nvSpPr>
          <p:spPr>
            <a:xfrm>
              <a:off x="685800" y="4343400"/>
              <a:ext cx="10820095" cy="1234440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85800" y="4343400"/>
              <a:ext cx="64008" cy="123444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97280" y="4343400"/>
              <a:ext cx="1280160" cy="123444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200" b="1" i="0" spc="150">
                  <a:solidFill>
                    <a:srgbClr val="C4A857"/>
                  </a:solidFill>
                  <a:latin typeface="Oswald"/>
                </a:rPr>
                <a:t>LÍMITE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468880" y="4343400"/>
              <a:ext cx="8716975" cy="123444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pen Sans"/>
                </a:rPr>
                <a:t>Costo estimado y pruebas del motor no equivalen a resultados medidos de una empresa.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B9C2DC"/>
                </a:solidFill>
                <a:latin typeface="Open Sans"/>
              </a:rPr>
              <a:t>HACKATHON EXPO CLEAN 2026 · RETO 1 · 08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C4A857"/>
                  </a:solidFill>
                  <a:latin typeface="Open Sans"/>
                </a:rPr>
                <a:t>ANEXO 5.7 · MODELO DE NEGOCIO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FFFFFF"/>
                  </a:solidFill>
                  <a:latin typeface="Oswald"/>
                </a:rPr>
                <a:t>Una propuesta comercial por validar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2E3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9C2DC"/>
                </a:solidFill>
                <a:latin typeface="Open Sans"/>
              </a:rPr>
              <a:t>Fuente: matriz A-26/A-30/A-31. Sin precio, ventas ni costos mensuales confirmados.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1783080"/>
            <a:ext cx="5250027" cy="2103120"/>
            <a:chOff x="685800" y="1783080"/>
            <a:chExt cx="5250027" cy="2103120"/>
          </a:xfrm>
        </p:grpSpPr>
        <p:sp>
          <p:nvSpPr>
            <p:cNvPr id="12" name="Rectangle 11"/>
            <p:cNvSpPr/>
            <p:nvPr/>
          </p:nvSpPr>
          <p:spPr>
            <a:xfrm>
              <a:off x="685800" y="1783080"/>
              <a:ext cx="5250027" cy="210312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5800" y="1783080"/>
              <a:ext cx="5250027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112867" y="202082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01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60120" y="2075688"/>
              <a:ext cx="4061307" cy="503127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800" b="1" i="0">
                  <a:solidFill>
                    <a:srgbClr val="FFFFFF"/>
                  </a:solidFill>
                  <a:latin typeface="Oswald"/>
                </a:rPr>
                <a:t>Cliente propuesto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60120" y="2651967"/>
              <a:ext cx="4701387" cy="1051352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900" b="0" i="0">
                  <a:solidFill>
                    <a:srgbClr val="B9C2DC"/>
                  </a:solidFill>
                  <a:latin typeface="Open Sans"/>
                </a:rPr>
                <a:t>Empresas de servicios de limpieza con operaciones de abastecimiento y rutas por planificar.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255867" y="1783080"/>
            <a:ext cx="5250027" cy="2103120"/>
            <a:chOff x="6255867" y="1783080"/>
            <a:chExt cx="5250027" cy="2103120"/>
          </a:xfrm>
        </p:grpSpPr>
        <p:sp>
          <p:nvSpPr>
            <p:cNvPr id="18" name="Rectangle 17"/>
            <p:cNvSpPr/>
            <p:nvPr/>
          </p:nvSpPr>
          <p:spPr>
            <a:xfrm>
              <a:off x="6255867" y="1783080"/>
              <a:ext cx="5250027" cy="210312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255867" y="1783080"/>
              <a:ext cx="5250027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682935" y="202082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02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530187" y="2075688"/>
              <a:ext cx="4061307" cy="503127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800" b="1" i="0">
                  <a:solidFill>
                    <a:srgbClr val="FFFFFF"/>
                  </a:solidFill>
                  <a:latin typeface="Oswald"/>
                </a:rPr>
                <a:t>Cómo se propone cobrar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530187" y="2651967"/>
              <a:ext cx="4701387" cy="1051352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900" b="0" i="0">
                  <a:solidFill>
                    <a:srgbClr val="B9C2DC"/>
                  </a:solidFill>
                  <a:latin typeface="Open Sans"/>
                </a:rPr>
                <a:t>Implementación e integración inicial, más una suscripción. Precio y disposición de pago por validar.</a:t>
              </a: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685800" y="4407408"/>
            <a:ext cx="10820095" cy="1033272"/>
            <a:chOff x="685800" y="4407408"/>
            <a:chExt cx="10820095" cy="1033272"/>
          </a:xfrm>
        </p:grpSpPr>
        <p:sp>
          <p:nvSpPr>
            <p:cNvPr id="24" name="Rectangle 23"/>
            <p:cNvSpPr/>
            <p:nvPr/>
          </p:nvSpPr>
          <p:spPr>
            <a:xfrm>
              <a:off x="5592927" y="4407408"/>
              <a:ext cx="1005840" cy="2286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85800" y="4617720"/>
              <a:ext cx="10820095" cy="82296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pen Sans"/>
                </a:rPr>
                <a:t>El piloto serviría para validar el uso, los costos reales y el valor para el cliente.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09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ANEXO 5.7 · RIESGOS Y MITIGACIÓN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RIESGOS Y ESTRATEGIAS DE MITIGACIÓN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7909560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67354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matriz P-16 y diseño de riesgos de la propuesta del evento. Medidas propuestas, no todas implementadas.</a:t>
            </a:r>
          </a:p>
        </p:txBody>
      </p:sp>
      <p:pic>
        <p:nvPicPr>
          <p:cNvPr id="11" name="Picture 10" descr="chillo-medio-cuer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804013"/>
            <a:ext cx="2377440" cy="3053986"/>
          </a:xfrm>
          <a:prstGeom prst="rect">
            <a:avLst/>
          </a:prstGeom>
        </p:spPr>
      </p:pic>
      <p:grpSp>
        <p:nvGrpSpPr>
          <p:cNvPr id="12" name="Group 11"/>
          <p:cNvGrpSpPr/>
          <p:nvPr/>
        </p:nvGrpSpPr>
        <p:grpSpPr>
          <a:xfrm>
            <a:off x="685800" y="1572768"/>
            <a:ext cx="7909560" cy="676656"/>
            <a:chOff x="685800" y="1572768"/>
            <a:chExt cx="7909560" cy="676656"/>
          </a:xfrm>
        </p:grpSpPr>
        <p:sp>
          <p:nvSpPr>
            <p:cNvPr id="13" name="Rectangle 12"/>
            <p:cNvSpPr/>
            <p:nvPr/>
          </p:nvSpPr>
          <p:spPr>
            <a:xfrm>
              <a:off x="685800" y="1572768"/>
              <a:ext cx="2971800" cy="676656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86968" y="1572768"/>
              <a:ext cx="2697480" cy="67665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700" b="1" i="0">
                  <a:solidFill>
                    <a:srgbClr val="FFFFFF"/>
                  </a:solidFill>
                  <a:latin typeface="Oswald"/>
                </a:rPr>
                <a:t>Datos incompletos</a:t>
              </a:r>
            </a:p>
          </p:txBody>
        </p:sp>
        <p:sp>
          <p:nvSpPr>
            <p:cNvPr id="15" name="Isosceles Triangle 14"/>
            <p:cNvSpPr/>
            <p:nvPr/>
          </p:nvSpPr>
          <p:spPr>
            <a:xfrm rot="5400000">
              <a:off x="3776472" y="1828799"/>
              <a:ext cx="182880" cy="164592"/>
            </a:xfrm>
            <a:prstGeom prst="triangle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069080" y="1572768"/>
              <a:ext cx="4526280" cy="676656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297680" y="1572768"/>
              <a:ext cx="4160520" cy="67665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550" b="0" i="0">
                  <a:solidFill>
                    <a:srgbClr val="242D57"/>
                  </a:solidFill>
                  <a:latin typeface="Open Sans"/>
                </a:rPr>
                <a:t>Validar al importar; mostrar ‘sin dato’ y supuestos.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85800" y="2368296"/>
            <a:ext cx="7909560" cy="676656"/>
            <a:chOff x="685800" y="2368296"/>
            <a:chExt cx="7909560" cy="676656"/>
          </a:xfrm>
        </p:grpSpPr>
        <p:sp>
          <p:nvSpPr>
            <p:cNvPr id="19" name="Rectangle 18"/>
            <p:cNvSpPr/>
            <p:nvPr/>
          </p:nvSpPr>
          <p:spPr>
            <a:xfrm>
              <a:off x="685800" y="2368296"/>
              <a:ext cx="2971800" cy="676656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86968" y="2368296"/>
              <a:ext cx="2697480" cy="67665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700" b="1" i="0">
                  <a:solidFill>
                    <a:srgbClr val="FFFFFF"/>
                  </a:solidFill>
                  <a:latin typeface="Oswald"/>
                </a:rPr>
                <a:t>Ruta poco realista</a:t>
              </a:r>
            </a:p>
          </p:txBody>
        </p:sp>
        <p:sp>
          <p:nvSpPr>
            <p:cNvPr id="21" name="Isosceles Triangle 20"/>
            <p:cNvSpPr/>
            <p:nvPr/>
          </p:nvSpPr>
          <p:spPr>
            <a:xfrm rot="5400000">
              <a:off x="3776472" y="2624328"/>
              <a:ext cx="182880" cy="164592"/>
            </a:xfrm>
            <a:prstGeom prst="triangle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069080" y="2368296"/>
              <a:ext cx="4526280" cy="676656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297680" y="2368296"/>
              <a:ext cx="4160520" cy="67665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550" b="0" i="0">
                  <a:solidFill>
                    <a:srgbClr val="242D57"/>
                  </a:solidFill>
                  <a:latin typeface="Open Sans"/>
                </a:rPr>
                <a:t>Revisar ventanas, capacidad y restricciones antes de publicar.</a:t>
              </a: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685800" y="3163824"/>
            <a:ext cx="7909560" cy="676656"/>
            <a:chOff x="685800" y="3163824"/>
            <a:chExt cx="7909560" cy="676656"/>
          </a:xfrm>
        </p:grpSpPr>
        <p:sp>
          <p:nvSpPr>
            <p:cNvPr id="25" name="Rectangle 24"/>
            <p:cNvSpPr/>
            <p:nvPr/>
          </p:nvSpPr>
          <p:spPr>
            <a:xfrm>
              <a:off x="685800" y="3163824"/>
              <a:ext cx="2971800" cy="676656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886968" y="3163824"/>
              <a:ext cx="2697480" cy="67665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700" b="1" i="0">
                  <a:solidFill>
                    <a:srgbClr val="FFFFFF"/>
                  </a:solidFill>
                  <a:latin typeface="Oswald"/>
                </a:rPr>
                <a:t>Costo estimado inexacto</a:t>
              </a:r>
            </a:p>
          </p:txBody>
        </p:sp>
        <p:sp>
          <p:nvSpPr>
            <p:cNvPr id="27" name="Isosceles Triangle 26"/>
            <p:cNvSpPr/>
            <p:nvPr/>
          </p:nvSpPr>
          <p:spPr>
            <a:xfrm rot="5400000">
              <a:off x="3776472" y="3419856"/>
              <a:ext cx="182880" cy="164592"/>
            </a:xfrm>
            <a:prstGeom prst="triangle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4069080" y="3163824"/>
              <a:ext cx="4526280" cy="676656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297680" y="3163824"/>
              <a:ext cx="4160520" cy="67665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550" b="0" i="0">
                  <a:solidFill>
                    <a:srgbClr val="242D57"/>
                  </a:solidFill>
                  <a:latin typeface="Open Sans"/>
                </a:rPr>
                <a:t>Mostrar el desglose y calibrar con viajes conciliados.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685800" y="3959352"/>
            <a:ext cx="7909560" cy="676656"/>
            <a:chOff x="685800" y="3959352"/>
            <a:chExt cx="7909560" cy="676656"/>
          </a:xfrm>
        </p:grpSpPr>
        <p:sp>
          <p:nvSpPr>
            <p:cNvPr id="31" name="Rectangle 30"/>
            <p:cNvSpPr/>
            <p:nvPr/>
          </p:nvSpPr>
          <p:spPr>
            <a:xfrm>
              <a:off x="685800" y="3959352"/>
              <a:ext cx="2971800" cy="676656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86968" y="3959352"/>
              <a:ext cx="2697480" cy="67665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700" b="1" i="0">
                  <a:solidFill>
                    <a:srgbClr val="FFFFFF"/>
                  </a:solidFill>
                  <a:latin typeface="Oswald"/>
                </a:rPr>
                <a:t>Error en la explicación de IA</a:t>
              </a:r>
            </a:p>
          </p:txBody>
        </p:sp>
        <p:sp>
          <p:nvSpPr>
            <p:cNvPr id="33" name="Isosceles Triangle 32"/>
            <p:cNvSpPr/>
            <p:nvPr/>
          </p:nvSpPr>
          <p:spPr>
            <a:xfrm rot="5400000">
              <a:off x="3776472" y="4215384"/>
              <a:ext cx="182880" cy="164592"/>
            </a:xfrm>
            <a:prstGeom prst="triangle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4069080" y="3959352"/>
              <a:ext cx="4526280" cy="676656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297680" y="3959352"/>
              <a:ext cx="4160520" cy="67665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550" b="0" i="0">
                  <a:solidFill>
                    <a:srgbClr val="242D57"/>
                  </a:solidFill>
                  <a:latin typeface="Open Sans"/>
                </a:rPr>
                <a:t>Basarla en cifras calculadas; el planificador decide.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85800" y="4754880"/>
            <a:ext cx="7909560" cy="676656"/>
            <a:chOff x="685800" y="4754880"/>
            <a:chExt cx="7909560" cy="676656"/>
          </a:xfrm>
        </p:grpSpPr>
        <p:sp>
          <p:nvSpPr>
            <p:cNvPr id="37" name="Rectangle 36"/>
            <p:cNvSpPr/>
            <p:nvPr/>
          </p:nvSpPr>
          <p:spPr>
            <a:xfrm>
              <a:off x="685800" y="4754880"/>
              <a:ext cx="2971800" cy="676656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886968" y="4754880"/>
              <a:ext cx="2697480" cy="67665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700" b="1" i="0">
                  <a:solidFill>
                    <a:srgbClr val="FFFFFF"/>
                  </a:solidFill>
                  <a:latin typeface="Oswald"/>
                </a:rPr>
                <a:t>Resistencia al cambio</a:t>
              </a:r>
            </a:p>
          </p:txBody>
        </p:sp>
        <p:sp>
          <p:nvSpPr>
            <p:cNvPr id="39" name="Isosceles Triangle 38"/>
            <p:cNvSpPr/>
            <p:nvPr/>
          </p:nvSpPr>
          <p:spPr>
            <a:xfrm rot="5400000">
              <a:off x="3776472" y="5010912"/>
              <a:ext cx="182880" cy="164592"/>
            </a:xfrm>
            <a:prstGeom prst="triangle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4069080" y="4754880"/>
              <a:ext cx="4526280" cy="676656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4297680" y="4754880"/>
              <a:ext cx="4160520" cy="67665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550" b="0" i="0">
                  <a:solidFill>
                    <a:srgbClr val="242D57"/>
                  </a:solidFill>
                  <a:latin typeface="Open Sans"/>
                </a:rPr>
                <a:t>Capacitar por rol y revisar el plan con el equipo.</a:t>
              </a:r>
            </a:p>
          </p:txBody>
        </p:sp>
      </p:grpSp>
      <p:sp>
        <p:nvSpPr>
          <p:cNvPr id="42" name="TextBox 41"/>
          <p:cNvSpPr txBox="1"/>
          <p:nvPr/>
        </p:nvSpPr>
        <p:spPr>
          <a:xfrm>
            <a:off x="685800" y="5614416"/>
            <a:ext cx="7909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1">
                <a:solidFill>
                  <a:srgbClr val="7D6520"/>
                </a:solidFill>
                <a:latin typeface="Open Sans"/>
              </a:rPr>
              <a:t>La charla de logística destacó especialmente este análisis.</a:t>
            </a:r>
          </a:p>
        </p:txBody>
      </p:sp>
      <p:sp>
        <p:nvSpPr>
          <p:cNvPr id="43" name="Rounded Rectangular Callout 42"/>
          <p:cNvSpPr/>
          <p:nvPr/>
        </p:nvSpPr>
        <p:spPr>
          <a:xfrm>
            <a:off x="8759952" y="2395728"/>
            <a:ext cx="3200400" cy="914400"/>
          </a:xfrm>
          <a:prstGeom prst="wedgeRoundRectCallout">
            <a:avLst>
              <a:gd name="adj1" fmla="val 11999"/>
              <a:gd name="adj2" fmla="val 97999"/>
              <a:gd name="adj3" fmla="val 16667"/>
            </a:avLst>
          </a:prstGeom>
          <a:solidFill>
            <a:srgbClr val="FFFFFF"/>
          </a:solidFill>
          <a:ln w="12700">
            <a:solidFill>
              <a:srgbClr val="D5DBEA"/>
            </a:solidFill>
          </a:ln>
          <a:effectLst>
            <a:outerShdw blurRad="177800" dist="50800" dir="5400000" algn="t" rotWithShape="0">
              <a:srgbClr val="162451">
                <a:alpha val="30000"/>
              </a:srgbClr>
            </a:outerShdw>
          </a:effectLst>
        </p:spPr>
        <p:txBody>
          <a:bodyPr rtlCol="0" anchor="ctr" wrap="square" lIns="146304" rIns="146304" tIns="54864" bIns="54864"/>
          <a:lstStyle/>
          <a:p>
            <a:pPr algn="ctr"/>
            <a:r>
              <a:rPr sz="1400" b="1" i="0">
                <a:solidFill>
                  <a:srgbClr val="242D57"/>
                </a:solidFill>
                <a:latin typeface="Open Sans"/>
              </a:rPr>
              <a:t>Todo plan tiene riesgos; lo clave es saber </a:t>
            </a:r>
            <a:r>
              <a:rPr sz="1400" b="1" i="0">
                <a:solidFill>
                  <a:srgbClr val="7D6520"/>
                </a:solidFill>
                <a:latin typeface="Open Sans"/>
              </a:rPr>
              <a:t>mitigarlos</a:t>
            </a:r>
            <a:r>
              <a:rPr sz="1400" b="1" i="0">
                <a:solidFill>
                  <a:srgbClr val="242D57"/>
                </a:solidFill>
                <a:latin typeface="Open Sans"/>
              </a:rPr>
              <a:t>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9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25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95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3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65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43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B9C2DC"/>
                </a:solidFill>
                <a:latin typeface="Open Sans"/>
              </a:rPr>
              <a:t>HACKATHON EXPO CLEAN 2026 · RETO 1 · 10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C4A857"/>
                  </a:solidFill>
                  <a:latin typeface="Open Sans"/>
                </a:rPr>
                <a:t>ANEXO 5.7 · PRÓXIMO PASO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FFFFFF"/>
                  </a:solidFill>
                  <a:latin typeface="Oswald"/>
                </a:rPr>
                <a:t>Hoja de ruta: validar antes de prometer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7909560" cy="10972"/>
          </a:xfrm>
          <a:prstGeom prst="rect">
            <a:avLst/>
          </a:prstGeom>
          <a:solidFill>
            <a:srgbClr val="2E3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67354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9C2DC"/>
                </a:solidFill>
                <a:latin typeface="Open Sans"/>
              </a:rPr>
              <a:t>Fuente: matriz P-02/P-05/P-10/P-12/P-13/P-14/P-15 y A-32. Propuestas sujetas a validación.</a:t>
            </a:r>
          </a:p>
        </p:txBody>
      </p:sp>
      <p:pic>
        <p:nvPicPr>
          <p:cNvPr id="11" name="Picture 10" descr="chillo-cuerpo-ent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48" y="2212848"/>
            <a:ext cx="1958112" cy="3931920"/>
          </a:xfrm>
          <a:prstGeom prst="rect">
            <a:avLst/>
          </a:prstGeom>
        </p:spPr>
      </p:pic>
      <p:grpSp>
        <p:nvGrpSpPr>
          <p:cNvPr id="12" name="Group 11"/>
          <p:cNvGrpSpPr/>
          <p:nvPr/>
        </p:nvGrpSpPr>
        <p:grpSpPr>
          <a:xfrm>
            <a:off x="685800" y="1627632"/>
            <a:ext cx="3826764" cy="1499616"/>
            <a:chOff x="685800" y="1627632"/>
            <a:chExt cx="3826764" cy="1499616"/>
          </a:xfrm>
        </p:grpSpPr>
        <p:sp>
          <p:nvSpPr>
            <p:cNvPr id="13" name="Rectangle 12"/>
            <p:cNvSpPr/>
            <p:nvPr/>
          </p:nvSpPr>
          <p:spPr>
            <a:xfrm>
              <a:off x="685800" y="1627632"/>
              <a:ext cx="3826764" cy="1499616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85800" y="1627632"/>
              <a:ext cx="3826764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689604" y="1865376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01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60120" y="1920240"/>
              <a:ext cx="2638044" cy="399233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swald"/>
                </a:rPr>
                <a:t>Desplegar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60120" y="2392625"/>
              <a:ext cx="3278124" cy="551742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550" b="0" i="0">
                  <a:solidFill>
                    <a:srgbClr val="B9C2DC"/>
                  </a:solidFill>
                  <a:latin typeface="Open Sans"/>
                </a:rPr>
                <a:t>Comparación propia / contratada, en producción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4768596" y="1627632"/>
            <a:ext cx="3826764" cy="1499616"/>
            <a:chOff x="4768596" y="1627632"/>
            <a:chExt cx="3826764" cy="1499616"/>
          </a:xfrm>
        </p:grpSpPr>
        <p:sp>
          <p:nvSpPr>
            <p:cNvPr id="19" name="Rectangle 18"/>
            <p:cNvSpPr/>
            <p:nvPr/>
          </p:nvSpPr>
          <p:spPr>
            <a:xfrm>
              <a:off x="4768596" y="1627632"/>
              <a:ext cx="3826764" cy="1499616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768596" y="1627632"/>
              <a:ext cx="3826764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772400" y="1865376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02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042916" y="1920240"/>
              <a:ext cx="2638044" cy="399233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swald"/>
                </a:rPr>
                <a:t>Validar Quito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042916" y="2392625"/>
              <a:ext cx="3278124" cy="551742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550" b="0" i="0">
                  <a:solidFill>
                    <a:srgbClr val="B9C2DC"/>
                  </a:solidFill>
                  <a:latin typeface="Open Sans"/>
                </a:rPr>
                <a:t>Tráfico y restricciones con fuentes vigentes</a:t>
              </a: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685800" y="3236976"/>
            <a:ext cx="3826764" cy="1499616"/>
            <a:chOff x="685800" y="3236976"/>
            <a:chExt cx="3826764" cy="1499616"/>
          </a:xfrm>
        </p:grpSpPr>
        <p:sp>
          <p:nvSpPr>
            <p:cNvPr id="25" name="Rectangle 24"/>
            <p:cNvSpPr/>
            <p:nvPr/>
          </p:nvSpPr>
          <p:spPr>
            <a:xfrm>
              <a:off x="685800" y="3236976"/>
              <a:ext cx="3826764" cy="1499616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85800" y="3236976"/>
              <a:ext cx="3826764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689604" y="3474720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03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60120" y="3529584"/>
              <a:ext cx="2638044" cy="399233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swald"/>
                </a:rPr>
                <a:t>Completar el ciclo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60120" y="4001969"/>
              <a:ext cx="3278124" cy="551742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550" b="0" i="0">
                  <a:solidFill>
                    <a:srgbClr val="B9C2DC"/>
                  </a:solidFill>
                  <a:latin typeface="Open Sans"/>
                </a:rPr>
                <a:t>Guía de retorno para entregas pendientes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4768596" y="3236976"/>
            <a:ext cx="3826764" cy="1499616"/>
            <a:chOff x="4768596" y="3236976"/>
            <a:chExt cx="3826764" cy="1499616"/>
          </a:xfrm>
        </p:grpSpPr>
        <p:sp>
          <p:nvSpPr>
            <p:cNvPr id="31" name="Rectangle 30"/>
            <p:cNvSpPr/>
            <p:nvPr/>
          </p:nvSpPr>
          <p:spPr>
            <a:xfrm>
              <a:off x="4768596" y="3236976"/>
              <a:ext cx="3826764" cy="1499616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4768596" y="3236976"/>
              <a:ext cx="3826764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772400" y="3474720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042916" y="3529584"/>
              <a:ext cx="2638044" cy="399233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swald"/>
                </a:rPr>
                <a:t>Calibrar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042916" y="4001969"/>
              <a:ext cx="3278124" cy="551742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550" b="0" i="0">
                  <a:solidFill>
                    <a:srgbClr val="B9C2DC"/>
                  </a:solidFill>
                  <a:latin typeface="Open Sans"/>
                </a:rPr>
                <a:t>Pronóstico y costos con datos conciliados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85800" y="4892040"/>
            <a:ext cx="7909560" cy="1051560"/>
            <a:chOff x="685800" y="4892040"/>
            <a:chExt cx="7909560" cy="1051560"/>
          </a:xfrm>
        </p:grpSpPr>
        <p:sp>
          <p:nvSpPr>
            <p:cNvPr id="37" name="Rectangle 36"/>
            <p:cNvSpPr/>
            <p:nvPr/>
          </p:nvSpPr>
          <p:spPr>
            <a:xfrm>
              <a:off x="685800" y="4892040"/>
              <a:ext cx="7909560" cy="105156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05840" y="4892040"/>
              <a:ext cx="7269480" cy="105156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300" b="1" i="0">
                  <a:solidFill>
                    <a:srgbClr val="162451"/>
                  </a:solidFill>
                  <a:latin typeface="Oswald"/>
                </a:rPr>
                <a:t>Próximo paso: </a:t>
              </a:r>
              <a:r>
                <a:rPr sz="1800" b="1" i="0">
                  <a:solidFill>
                    <a:srgbClr val="162451"/>
                  </a:solidFill>
                  <a:latin typeface="Open Sans"/>
                </a:rPr>
                <a:t>acordar un piloto, una línea base y los indicadores con una empresa.</a:t>
              </a:r>
            </a:p>
          </p:txBody>
        </p:sp>
      </p:grpSp>
      <p:sp>
        <p:nvSpPr>
          <p:cNvPr id="39" name="Rounded Rectangular Callout 38"/>
          <p:cNvSpPr/>
          <p:nvPr/>
        </p:nvSpPr>
        <p:spPr>
          <a:xfrm>
            <a:off x="8759952" y="1188720"/>
            <a:ext cx="3200400" cy="914400"/>
          </a:xfrm>
          <a:prstGeom prst="wedgeRoundRectCallout">
            <a:avLst>
              <a:gd name="adj1" fmla="val 6285"/>
              <a:gd name="adj2" fmla="val 68000"/>
              <a:gd name="adj3" fmla="val 16667"/>
            </a:avLst>
          </a:prstGeom>
          <a:solidFill>
            <a:srgbClr val="FFFFFF"/>
          </a:solidFill>
          <a:ln w="12700">
            <a:solidFill>
              <a:srgbClr val="D5DBEA"/>
            </a:solidFill>
          </a:ln>
          <a:effectLst>
            <a:outerShdw blurRad="177800" dist="50800" dir="5400000" algn="t" rotWithShape="0">
              <a:srgbClr val="162451">
                <a:alpha val="30000"/>
              </a:srgbClr>
            </a:outerShdw>
          </a:effectLst>
        </p:spPr>
        <p:txBody>
          <a:bodyPr rtlCol="0" anchor="ctr" wrap="square" lIns="146304" rIns="146304" tIns="54864" bIns="54864"/>
          <a:lstStyle/>
          <a:p>
            <a:pPr algn="ctr"/>
            <a:r>
              <a:rPr sz="1400" b="1" i="0">
                <a:solidFill>
                  <a:srgbClr val="242D57"/>
                </a:solidFill>
                <a:latin typeface="Open Sans"/>
              </a:rPr>
              <a:t>¿Lo validamos juntos en un </a:t>
            </a:r>
            <a:r>
              <a:rPr sz="1400" b="1" i="0">
                <a:solidFill>
                  <a:srgbClr val="7D6520"/>
                </a:solidFill>
                <a:latin typeface="Open Sans"/>
              </a:rPr>
              <a:t>piloto</a:t>
            </a:r>
            <a:r>
              <a:rPr sz="1400" b="1" i="0">
                <a:solidFill>
                  <a:srgbClr val="242D57"/>
                </a:solidFill>
                <a:latin typeface="Open Sans"/>
              </a:rPr>
              <a:t>? ¡Kikirikí!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9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3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IstpetDev · Pitch Expo Clean · v3</dc:title>
  <dc:subject>Planificación logística, basado en guion T4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