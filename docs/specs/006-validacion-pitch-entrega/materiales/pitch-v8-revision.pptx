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Joseph · 15 s</a:t>
            </a:r>
          </a:p>
          <a:p>
            <a:r>
              <a:t>¿Cómo se entera hoy una empresa de limpieza de que a un hospital le falta desinfectante? Cuando el hospital llama. Ese día ya es tarde.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Joseph · 40 s</a:t>
            </a:r>
          </a:p>
          <a:p>
            <a:r>
              <a:t>Pongámonos en un día cualquiera, en nuestro escenario de Quito, que es sintético. Cuatro pedidos, con seis entregas críticas, entre hospitales y otros clientes, necesitan insumos de limpieza hoy. Hay tres maneras de atenderlos. A: un solo viaje con flota propia. B: también flota propia, pero los críticos primero, en el primer turno. C: contratar un operador externo. Hoy esa decisión se toma mirando kilómetros. Pero lo que cuesta de verdad es el personal, el combustible, la descarga y el producto que se daña. Y lo que importa: que lo crítico llegue a tiempo.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Alexander · 15 s</a:t>
            </a:r>
          </a:p>
          <a:p>
            <a:r>
              <a:t>Todo empieza antes de que el cliente llame: el sistema revisa inventario y consumo, y avisa qué punto entra en riesgo y cuánto reponer.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Alexander · 55 s</a:t>
            </a:r>
          </a:p>
          <a:p>
            <a:r>
              <a:t>Y esta es la decisión, con costo completo y no solo kilómetros. A es la más barata: 57,89 dólares. Pero solo llega a tiempo a 5 de las 6 entregas críticas. B y C llegan al 100 %. Entre ellas, C, el operador contratado, cuesta 66,90 contra 69,89 de B. El motor recomienda C, con 90,8 puntos, y la inteligencia artificial le explica al planificador por qué, en palabras simples. La más barata no fue la mejor. Y la persona decide.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Alexander · 30 s</a:t>
            </a:r>
          </a:p>
          <a:p>
            <a:r>
              <a:t>Elegida la opción, el sistema arma la ruta con capacidad, horarios y jornada, y el planificador la aprueba. En el camino queda registro: cada caja viaja con QR y los daños o errores de rotulado se anotan con su motivo. Así, cuando alguien pregunta qué se entregó, hay respuesta.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Bryan · 35 s</a:t>
            </a:r>
          </a:p>
          <a:p>
            <a:r>
              <a:t>¿Qué cambia? Lo que escuchamos en el sector es que se repone por calendario o por urgencia, y la entrega se decide por kilómetros. Nosotros hacemos con la entrega lo que se hace con una buena cotización: ponerle el costo completo antes de decidir. Un motor de reglas calcula, siempre igual con los mismos datos. La inteligencia artificial explica, no inventa cifras, y si falla hay una explicación de respaldo. La alerta no se queda en alerta: termina en una decisión con costo y en una entrega comprobable.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Anthony · 25 s</a:t>
            </a:r>
          </a:p>
          <a:p>
            <a:r>
              <a:t>Construido: de la alerta a la prueba de entrega. Ensayado: la decisión A, B y C en un ensayo técnico sobre un escenario sintético de Quito de 40 puntos, y una corrida del agente de inteligencia artificial, incluida su caída al respaldo. Siguiente fase: usarlo en una empresa real, cargar sus datos y medir contra su línea base, probar el recorrido sin señal en un teléfono real, y llevar la comparación A, B y C 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Jorge · 40 s</a:t>
            </a:r>
          </a:p>
          <a:p>
            <a:r>
              <a:t>En un piloto queremos medir tres cosas: menos faltantes descubiertos tarde, más entregas críticas a tiempo y cuánto cuesta realmente cada entrega. No prometemos un ahorro: lo medimos contra una línea base. No necesita hardware nuevo: funciona en la web y en el teléfono del conductor. Proponemos implementación inicial más suscripción, que validaremos. Y si falta un dato, el sistema dice “sin dato”. Esos indicadores alimentan informes ejecutivos: ya tenemos la sección Reportes.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Joseph · 15 s</a:t>
            </a:r>
          </a:p>
          <a:p>
            <a:r>
              <a:t>Una buena cotización de limpieza suma el costo completo. Nosotros hacemos lo mismo con la entrega: la decidimos con su costo real, antes de hacerla, y dejamos la prueba. Buscamos una empresa de limpieza para un piloto: con su línea base, indicadores acordados y sus datos. Gracias.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Bryan · 20 s</a:t>
            </a:r>
          </a:p>
          <a:p>
            <a:r>
              <a:t>Escaneen el QR y entren con la cuenta del jurado. Amazon Cognito, el servicio de acceso de Amazon en la nube, valida su identidad. Ustedes pueden consultar como auditores, sin modificar la operación. La conexión va cifrada. Dejamos esta pantalla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gif"/><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hyperlink" Target="https://istpetdev.doicela.dev/" TargetMode="External"/><Relationship Id="rId5"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451"/>
        </a:solidFill>
        <a:effectLst/>
      </p:bgPr>
    </p:bg>
    <p:spTree>
      <p:nvGrpSpPr>
        <p:cNvPr id="1" name=""/>
        <p:cNvGrpSpPr/>
        <p:nvPr/>
      </p:nvGrpSpPr>
      <p:grpSpPr/>
      <p:pic>
        <p:nvPicPr>
          <p:cNvPr id="2" name="Picture 1" descr="istpet-logo-blanco.png"/>
          <p:cNvPicPr>
            <a:picLocks noChangeAspect="1"/>
          </p:cNvPicPr>
          <p:nvPr/>
        </p:nvPicPr>
        <p:blipFill>
          <a:blip r:embed="rId2"/>
          <a:stretch>
            <a:fillRect/>
          </a:stretch>
        </p:blipFill>
        <p:spPr>
          <a:xfrm>
            <a:off x="685800" y="566928"/>
            <a:ext cx="3078866" cy="1097280"/>
          </a:xfrm>
          <a:prstGeom prst="rect">
            <a:avLst/>
          </a:prstGeom>
        </p:spPr>
      </p:pic>
      <p:grpSp>
        <p:nvGrpSpPr>
          <p:cNvPr id="3" name="Group 2"/>
          <p:cNvGrpSpPr/>
          <p:nvPr/>
        </p:nvGrpSpPr>
        <p:grpSpPr>
          <a:xfrm>
            <a:off x="685800" y="2121408"/>
            <a:ext cx="7863840" cy="2651760"/>
            <a:chOff x="685800" y="2121408"/>
            <a:chExt cx="7863840" cy="2651760"/>
          </a:xfrm>
        </p:grpSpPr>
        <p:sp>
          <p:nvSpPr>
            <p:cNvPr id="4" name="Rectangle 3"/>
            <p:cNvSpPr/>
            <p:nvPr/>
          </p:nvSpPr>
          <p:spPr>
            <a:xfrm>
              <a:off x="685800" y="2121408"/>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2130552"/>
              <a:ext cx="7315200" cy="274320"/>
            </a:xfrm>
            <a:prstGeom prst="rect">
              <a:avLst/>
            </a:prstGeom>
            <a:noFill/>
          </p:spPr>
          <p:txBody>
            <a:bodyPr wrap="square" anchor="t" lIns="0" rIns="0" tIns="0" bIns="0">
              <a:spAutoFit/>
            </a:bodyPr>
            <a:lstStyle/>
            <a:p>
              <a:pPr algn="l">
                <a:spcAft>
                  <a:spcPts val="0"/>
                </a:spcAft>
              </a:pPr>
              <a:r>
                <a:rPr sz="1400" b="1" i="0" spc="200">
                  <a:solidFill>
                    <a:srgbClr val="C4A857"/>
                  </a:solidFill>
                  <a:latin typeface="Open Sans"/>
                </a:rPr>
                <a:t>OPTIMIZACIÓN Y TRAZABILIDAD LOGÍSTICA</a:t>
              </a:r>
            </a:p>
          </p:txBody>
        </p:sp>
        <p:sp>
          <p:nvSpPr>
            <p:cNvPr id="6" name="TextBox 5"/>
            <p:cNvSpPr txBox="1"/>
            <p:nvPr/>
          </p:nvSpPr>
          <p:spPr>
            <a:xfrm>
              <a:off x="685800" y="2487168"/>
              <a:ext cx="7863840" cy="2286000"/>
            </a:xfrm>
            <a:prstGeom prst="rect">
              <a:avLst/>
            </a:prstGeom>
            <a:noFill/>
          </p:spPr>
          <p:txBody>
            <a:bodyPr wrap="square" anchor="t" lIns="0" rIns="0" tIns="0" bIns="0">
              <a:spAutoFit/>
            </a:bodyPr>
            <a:lstStyle/>
            <a:p>
              <a:pPr algn="l">
                <a:lnSpc>
                  <a:spcPct val="95000"/>
                </a:lnSpc>
                <a:spcAft>
                  <a:spcPts val="0"/>
                </a:spcAft>
              </a:pPr>
              <a:r>
                <a:rPr sz="4000" b="1" i="0">
                  <a:solidFill>
                    <a:srgbClr val="FFFFFF"/>
                  </a:solidFill>
                  <a:latin typeface="Oswald"/>
                </a:rPr>
                <a:t>¿Cómo se entera una empresa de limpieza de que a un hospital le falta desinfectante?</a:t>
              </a:r>
            </a:p>
          </p:txBody>
        </p:sp>
      </p:grpSp>
      <p:sp>
        <p:nvSpPr>
          <p:cNvPr id="7" name="TextBox 6"/>
          <p:cNvSpPr txBox="1"/>
          <p:nvPr/>
        </p:nvSpPr>
        <p:spPr>
          <a:xfrm>
            <a:off x="685800" y="4846320"/>
            <a:ext cx="7863840" cy="457200"/>
          </a:xfrm>
          <a:prstGeom prst="rect">
            <a:avLst/>
          </a:prstGeom>
          <a:noFill/>
        </p:spPr>
        <p:txBody>
          <a:bodyPr wrap="square" anchor="t" lIns="0" rIns="0" tIns="0" bIns="0">
            <a:spAutoFit/>
          </a:bodyPr>
          <a:lstStyle/>
          <a:p>
            <a:pPr algn="l">
              <a:spcAft>
                <a:spcPts val="0"/>
              </a:spcAft>
            </a:pPr>
            <a:r>
              <a:rPr sz="2200" b="0" i="0">
                <a:solidFill>
                  <a:srgbClr val="B9C2DC"/>
                </a:solidFill>
                <a:latin typeface="Open Sans"/>
              </a:rPr>
              <a:t>Cuando el hospital llama. </a:t>
            </a:r>
            <a:r>
              <a:rPr sz="2200" b="1" i="0">
                <a:solidFill>
                  <a:srgbClr val="E6D7A3"/>
                </a:solidFill>
                <a:latin typeface="Open Sans"/>
              </a:rPr>
              <a:t>Ese día ya es tarde.</a:t>
            </a:r>
          </a:p>
        </p:txBody>
      </p:sp>
      <p:grpSp>
        <p:nvGrpSpPr>
          <p:cNvPr id="8" name="Group 7"/>
          <p:cNvGrpSpPr/>
          <p:nvPr/>
        </p:nvGrpSpPr>
        <p:grpSpPr>
          <a:xfrm>
            <a:off x="685800" y="5669280"/>
            <a:ext cx="8229600" cy="841248"/>
            <a:chOff x="685800" y="5669280"/>
            <a:chExt cx="8229600" cy="841248"/>
          </a:xfrm>
        </p:grpSpPr>
        <p:sp>
          <p:nvSpPr>
            <p:cNvPr id="9" name="Rectangle 8"/>
            <p:cNvSpPr/>
            <p:nvPr/>
          </p:nvSpPr>
          <p:spPr>
            <a:xfrm>
              <a:off x="685800" y="5669280"/>
              <a:ext cx="1005840" cy="22860"/>
            </a:xfrm>
            <a:prstGeom prst="rect">
              <a:avLst/>
            </a:prstGeom>
            <a:solidFill>
              <a:srgbClr val="C4A857"/>
            </a:solidFill>
            <a:ln>
              <a:noFill/>
            </a:ln>
          </p:spPr>
          <p:txBody>
            <a:bodyPr rtlCol="0" anchor="ctr"/>
            <a:lstStyle/>
            <a:p>
              <a:pPr algn="ctr"/>
            </a:p>
          </p:txBody>
        </p:sp>
        <p:sp>
          <p:nvSpPr>
            <p:cNvPr id="10" name="TextBox 9"/>
            <p:cNvSpPr txBox="1"/>
            <p:nvPr/>
          </p:nvSpPr>
          <p:spPr>
            <a:xfrm>
              <a:off x="685800" y="5852160"/>
              <a:ext cx="8229600" cy="320040"/>
            </a:xfrm>
            <a:prstGeom prst="rect">
              <a:avLst/>
            </a:prstGeom>
            <a:noFill/>
          </p:spPr>
          <p:txBody>
            <a:bodyPr wrap="square" anchor="t" lIns="0" rIns="0" tIns="0" bIns="0">
              <a:spAutoFit/>
            </a:bodyPr>
            <a:lstStyle/>
            <a:p>
              <a:pPr algn="l">
                <a:spcAft>
                  <a:spcPts val="0"/>
                </a:spcAft>
              </a:pPr>
              <a:r>
                <a:rPr sz="1500" b="0" i="0">
                  <a:solidFill>
                    <a:srgbClr val="FFFFFF"/>
                  </a:solidFill>
                  <a:latin typeface="Open Sans"/>
                </a:rPr>
                <a:t>Equipo IstpetDev · Instituto Superior Tecnológico Traversari</a:t>
              </a:r>
            </a:p>
          </p:txBody>
        </p:sp>
        <p:sp>
          <p:nvSpPr>
            <p:cNvPr id="11" name="TextBox 10"/>
            <p:cNvSpPr txBox="1"/>
            <p:nvPr/>
          </p:nvSpPr>
          <p:spPr>
            <a:xfrm>
              <a:off x="685800" y="6236208"/>
              <a:ext cx="8229600" cy="274320"/>
            </a:xfrm>
            <a:prstGeom prst="rect">
              <a:avLst/>
            </a:prstGeom>
            <a:noFill/>
          </p:spPr>
          <p:txBody>
            <a:bodyPr wrap="square" anchor="t" lIns="0" rIns="0" tIns="0" bIns="0">
              <a:spAutoFit/>
            </a:bodyPr>
            <a:lstStyle/>
            <a:p>
              <a:pPr algn="l">
                <a:spcAft>
                  <a:spcPts val="0"/>
                </a:spcAft>
              </a:pPr>
              <a:r>
                <a:rPr sz="1200" b="0" i="0" spc="150">
                  <a:solidFill>
                    <a:srgbClr val="B9C2DC"/>
                  </a:solidFill>
                  <a:latin typeface="Open Sans"/>
                </a:rPr>
                <a:t>HACKATHON EXPO CLEAN 2026 · RETO 1</a:t>
              </a:r>
            </a:p>
          </p:txBody>
        </p:sp>
      </p:grpSp>
      <p:pic>
        <p:nvPicPr>
          <p:cNvPr id="12" name="Picture 11" descr="chillo-cuerpo-entero.png"/>
          <p:cNvPicPr>
            <a:picLocks noChangeAspect="1"/>
          </p:cNvPicPr>
          <p:nvPr/>
        </p:nvPicPr>
        <p:blipFill>
          <a:blip r:embed="rId3"/>
          <a:stretch>
            <a:fillRect/>
          </a:stretch>
        </p:blipFill>
        <p:spPr>
          <a:xfrm>
            <a:off x="9098280" y="2075688"/>
            <a:ext cx="2299643" cy="4617720"/>
          </a:xfrm>
          <a:prstGeom prst="rect">
            <a:avLst/>
          </a:prstGeom>
        </p:spPr>
      </p:pic>
      <p:sp>
        <p:nvSpPr>
          <p:cNvPr id="13" name="Rounded Rectangular Callout 12"/>
          <p:cNvSpPr/>
          <p:nvPr/>
        </p:nvSpPr>
        <p:spPr>
          <a:xfrm>
            <a:off x="7315200" y="502920"/>
            <a:ext cx="4617720" cy="1097280"/>
          </a:xfrm>
          <a:prstGeom prst="wedgeRoundRectCallout">
            <a:avLst>
              <a:gd name="adj1" fmla="val 13366"/>
              <a:gd name="adj2" fmla="val 104166"/>
              <a:gd name="adj3" fmla="val 16667"/>
            </a:avLst>
          </a:prstGeom>
          <a:solidFill>
            <a:srgbClr val="FFFFFF"/>
          </a:solidFill>
          <a:ln w="12700">
            <a:solidFill>
              <a:srgbClr val="D5DBEA"/>
            </a:solidFill>
          </a:ln>
          <a:effectLst>
            <a:outerShdw blurRad="177800" dist="50800" dir="5400000" algn="t" rotWithShape="0">
              <a:srgbClr val="162451">
                <a:alpha val="30000"/>
              </a:srgbClr>
            </a:outerShdw>
          </a:effectLst>
        </p:spPr>
        <p:txBody>
          <a:bodyPr rtlCol="0" anchor="ctr" wrap="square" lIns="146304" rIns="146304" tIns="54864" bIns="54864"/>
          <a:lstStyle/>
          <a:p>
            <a:pPr algn="ctr"/>
            <a:r>
              <a:rPr sz="1500" b="1" i="0">
                <a:solidFill>
                  <a:srgbClr val="242D57"/>
                </a:solidFill>
                <a:latin typeface="Open Sans"/>
              </a:rPr>
              <a:t>¡Hola! Soy Chillo: el motor </a:t>
            </a:r>
            <a:r>
              <a:rPr sz="1500" b="1" i="0">
                <a:solidFill>
                  <a:srgbClr val="7D6520"/>
                </a:solidFill>
                <a:latin typeface="Open Sans"/>
              </a:rPr>
              <a:t>calcula y la IA explica</a:t>
            </a:r>
            <a:r>
              <a:rPr sz="1500" b="1" i="0">
                <a:solidFill>
                  <a:srgbClr val="242D57"/>
                </a:solidFill>
                <a:latin typeface="Open Sans"/>
              </a:rPr>
              <a:t> para llegar antes que la llamada.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8" fill="hold">
                            <p:stCondLst>
                              <p:cond delay="500"/>
                            </p:stCondLst>
                            <p:childTnLst>
                              <p:par>
                                <p:cTn id="11" presetID="22" presetClass="entr" presetSubtype="8"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600"/>
                                        <p:tgtEl>
                                          <p:spTgt spid="3"/>
                                        </p:tgtEl>
                                      </p:cBhvr>
                                    </p:animEffect>
                                  </p:childTnLst>
                                </p:cTn>
                              </p:par>
                            </p:childTnLst>
                          </p:cTn>
                        </p:par>
                        <p:par>
                          <p:cTn id="12" fill="hold">
                            <p:stCondLst>
                              <p:cond delay="1100"/>
                            </p:stCondLst>
                            <p:childTnLst>
                              <p:par>
                                <p:cTn id="15" presetID="10" presetClass="entr" presetSubtype="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childTnLst>
                          </p:cTn>
                        </p:par>
                        <p:par>
                          <p:cTn id="19" fill="hold">
                            <p:stCondLst>
                              <p:cond delay="1550"/>
                            </p:stCondLst>
                            <p:childTnLst>
                              <p:par>
                                <p:cTn id="24" presetID="53" presetClass="entr" presetSubtype="16"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550" fill="hold"/>
                                        <p:tgtEl>
                                          <p:spTgt spid="12"/>
                                        </p:tgtEl>
                                        <p:attrNameLst>
                                          <p:attrName>ppt_w</p:attrName>
                                        </p:attrNameLst>
                                      </p:cBhvr>
                                      <p:tavLst>
                                        <p:tav tm="0">
                                          <p:val>
                                            <p:strVal val="#ppt_w*0.7"/>
                                          </p:val>
                                        </p:tav>
                                        <p:tav tm="100000">
                                          <p:val>
                                            <p:strVal val="#ppt_w"/>
                                          </p:val>
                                        </p:tav>
                                      </p:tavLst>
                                    </p:anim>
                                    <p:anim calcmode="lin" valueType="num">
                                      <p:cBhvr>
                                        <p:cTn id="22" dur="550" fill="hold"/>
                                        <p:tgtEl>
                                          <p:spTgt spid="12"/>
                                        </p:tgtEl>
                                        <p:attrNameLst>
                                          <p:attrName>ppt_h</p:attrName>
                                        </p:attrNameLst>
                                      </p:cBhvr>
                                      <p:tavLst>
                                        <p:tav tm="0">
                                          <p:val>
                                            <p:strVal val="#ppt_h*0.7"/>
                                          </p:val>
                                        </p:tav>
                                        <p:tav tm="100000">
                                          <p:val>
                                            <p:strVal val="#ppt_h"/>
                                          </p:val>
                                        </p:tav>
                                      </p:tavLst>
                                    </p:anim>
                                    <p:animEffect transition="in" filter="fade">
                                      <p:cBhvr>
                                        <p:cTn id="23" dur="550"/>
                                        <p:tgtEl>
                                          <p:spTgt spid="12"/>
                                        </p:tgtEl>
                                      </p:cBhvr>
                                    </p:animEffect>
                                  </p:childTnLst>
                                </p:cTn>
                              </p:par>
                            </p:childTnLst>
                          </p:cTn>
                        </p:par>
                      </p:childTnLst>
                    </p:cTn>
                  </p:par>
                  <p:par>
                    <p:cTn id="25" fill="hold">
                      <p:stCondLst>
                        <p:cond delay="indefinite"/>
                      </p:stCondLst>
                      <p:childTnLst>
                        <p:par>
                          <p:cTn id="26"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62451"/>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B9C2DC"/>
                </a:solidFill>
                <a:latin typeface="Open Sans"/>
              </a:rPr>
              <a:t>HACKATHON EXPO CLEAN 2026 · RETO 1 · 02</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C4A857"/>
                  </a:solidFill>
                  <a:latin typeface="Open Sans"/>
                </a:rPr>
                <a:t>EL CASO</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FFFFFF"/>
                  </a:solidFill>
                  <a:latin typeface="Oswald"/>
                </a:rPr>
                <a:t>Los mismos pedidos, tres maneras de atenderlos</a:t>
              </a:r>
            </a:p>
          </p:txBody>
        </p:sp>
      </p:grpSp>
      <p:sp>
        <p:nvSpPr>
          <p:cNvPr id="7" name="Rectangle 6"/>
          <p:cNvSpPr/>
          <p:nvPr/>
        </p:nvSpPr>
        <p:spPr>
          <a:xfrm>
            <a:off x="685800" y="6217920"/>
            <a:ext cx="10820095" cy="10972"/>
          </a:xfrm>
          <a:prstGeom prst="rect">
            <a:avLst/>
          </a:prstGeom>
          <a:solidFill>
            <a:srgbClr val="2E3B6E"/>
          </a:solidFill>
          <a:ln>
            <a:noFill/>
          </a:ln>
        </p:spPr>
        <p:txBody>
          <a:bodyPr rtlCol="0" anchor="ctr"/>
          <a:lstStyle/>
          <a:p>
            <a:pPr algn="ctr"/>
          </a:p>
        </p:txBody>
      </p:sp>
      <p:pic>
        <p:nvPicPr>
          <p:cNvPr id="8" name="Picture 7" descr="istpet-logo-blanc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B9C2DC"/>
                </a:solidFill>
                <a:latin typeface="Open Sans"/>
              </a:rPr>
              <a:t>Fuente: ensayo técnico del motor sobre un escenario sintético de Quito: 4 pedidos, 6 entregas críticas, opciones A, B y C. No son clientes ni operaciones medidas.</a:t>
            </a:r>
          </a:p>
        </p:txBody>
      </p:sp>
      <p:grpSp>
        <p:nvGrpSpPr>
          <p:cNvPr id="11" name="Group 10"/>
          <p:cNvGrpSpPr/>
          <p:nvPr/>
        </p:nvGrpSpPr>
        <p:grpSpPr>
          <a:xfrm>
            <a:off x="685800" y="2221992"/>
            <a:ext cx="3017520" cy="2011680"/>
            <a:chOff x="685800" y="2221992"/>
            <a:chExt cx="3017520" cy="2011680"/>
          </a:xfrm>
        </p:grpSpPr>
        <p:sp>
          <p:nvSpPr>
            <p:cNvPr id="12" name="Rectangle 11"/>
            <p:cNvSpPr/>
            <p:nvPr/>
          </p:nvSpPr>
          <p:spPr>
            <a:xfrm>
              <a:off x="685800" y="2221992"/>
              <a:ext cx="3017520" cy="2011680"/>
            </a:xfrm>
            <a:prstGeom prst="rect">
              <a:avLst/>
            </a:prstGeom>
            <a:solidFill>
              <a:srgbClr val="2E3B6E"/>
            </a:solidFill>
            <a:ln w="19050">
              <a:solidFill>
                <a:srgbClr val="C4A857"/>
              </a:solidFill>
            </a:ln>
          </p:spPr>
          <p:txBody>
            <a:bodyPr rtlCol="0" anchor="ctr"/>
            <a:lstStyle/>
            <a:p>
              <a:pPr algn="ctr"/>
            </a:p>
          </p:txBody>
        </p:sp>
        <p:sp>
          <p:nvSpPr>
            <p:cNvPr id="13" name="Rectangle 12"/>
            <p:cNvSpPr/>
            <p:nvPr/>
          </p:nvSpPr>
          <p:spPr>
            <a:xfrm>
              <a:off x="685800" y="2221992"/>
              <a:ext cx="3017520" cy="54864"/>
            </a:xfrm>
            <a:prstGeom prst="rect">
              <a:avLst/>
            </a:prstGeom>
            <a:solidFill>
              <a:srgbClr val="C4A857"/>
            </a:solidFill>
            <a:ln>
              <a:noFill/>
            </a:ln>
          </p:spPr>
          <p:txBody>
            <a:bodyPr rtlCol="0" anchor="ctr"/>
            <a:lstStyle/>
            <a:p>
              <a:pPr algn="ctr"/>
            </a:p>
          </p:txBody>
        </p:sp>
        <p:sp>
          <p:nvSpPr>
            <p:cNvPr id="14" name="TextBox 13"/>
            <p:cNvSpPr txBox="1"/>
            <p:nvPr/>
          </p:nvSpPr>
          <p:spPr>
            <a:xfrm>
              <a:off x="914400" y="2404872"/>
              <a:ext cx="2560320" cy="566928"/>
            </a:xfrm>
            <a:prstGeom prst="rect">
              <a:avLst/>
            </a:prstGeom>
            <a:noFill/>
          </p:spPr>
          <p:txBody>
            <a:bodyPr wrap="square" anchor="t" lIns="0" rIns="0" tIns="0" bIns="0">
              <a:spAutoFit/>
            </a:bodyPr>
            <a:lstStyle/>
            <a:p>
              <a:pPr algn="l">
                <a:spcAft>
                  <a:spcPts val="0"/>
                </a:spcAft>
              </a:pPr>
              <a:r>
                <a:rPr sz="2800" b="1" i="0">
                  <a:solidFill>
                    <a:srgbClr val="C4A857"/>
                  </a:solidFill>
                  <a:latin typeface="Oswald"/>
                </a:rPr>
                <a:t>4 pedidos</a:t>
              </a:r>
            </a:p>
          </p:txBody>
        </p:sp>
        <p:sp>
          <p:nvSpPr>
            <p:cNvPr id="15" name="TextBox 14"/>
            <p:cNvSpPr txBox="1"/>
            <p:nvPr/>
          </p:nvSpPr>
          <p:spPr>
            <a:xfrm>
              <a:off x="914400" y="2999232"/>
              <a:ext cx="2560320" cy="1097280"/>
            </a:xfrm>
            <a:prstGeom prst="rect">
              <a:avLst/>
            </a:prstGeom>
            <a:noFill/>
          </p:spPr>
          <p:txBody>
            <a:bodyPr wrap="square" anchor="t" lIns="0" rIns="0" tIns="0" bIns="0">
              <a:spAutoFit/>
            </a:bodyPr>
            <a:lstStyle/>
            <a:p>
              <a:pPr algn="l">
                <a:lnSpc>
                  <a:spcPct val="105000"/>
                </a:lnSpc>
                <a:spcAft>
                  <a:spcPts val="300"/>
                </a:spcAft>
              </a:pPr>
              <a:r>
                <a:rPr sz="1450" b="1" i="0">
                  <a:solidFill>
                    <a:srgbClr val="FF9A8B"/>
                  </a:solidFill>
                  <a:latin typeface="Open Sans"/>
                </a:rPr>
                <a:t>6 entregas críticas</a:t>
              </a:r>
            </a:p>
            <a:p>
              <a:pPr algn="l">
                <a:lnSpc>
                  <a:spcPct val="105000"/>
                </a:lnSpc>
                <a:spcAft>
                  <a:spcPts val="300"/>
                </a:spcAft>
              </a:pPr>
              <a:r>
                <a:rPr sz="1450" b="0" i="0">
                  <a:solidFill>
                    <a:srgbClr val="B9C2DC"/>
                  </a:solidFill>
                  <a:latin typeface="Open Sans"/>
                </a:rPr>
                <a:t>Hospitales y otros clientes</a:t>
              </a:r>
            </a:p>
            <a:p>
              <a:pPr algn="l">
                <a:lnSpc>
                  <a:spcPct val="105000"/>
                </a:lnSpc>
                <a:spcAft>
                  <a:spcPts val="300"/>
                </a:spcAft>
              </a:pPr>
              <a:r>
                <a:rPr sz="1450" b="0" i="0">
                  <a:solidFill>
                    <a:srgbClr val="B9C2DC"/>
                  </a:solidFill>
                  <a:latin typeface="Open Sans"/>
                </a:rPr>
                <a:t>Quito, datos sintéticos</a:t>
              </a:r>
            </a:p>
          </p:txBody>
        </p:sp>
      </p:grpSp>
      <p:grpSp>
        <p:nvGrpSpPr>
          <p:cNvPr id="16" name="Group 15"/>
          <p:cNvGrpSpPr/>
          <p:nvPr/>
        </p:nvGrpSpPr>
        <p:grpSpPr>
          <a:xfrm>
            <a:off x="3703320" y="2135124"/>
            <a:ext cx="1188719" cy="2185416"/>
            <a:chOff x="3703320" y="2135124"/>
            <a:chExt cx="1188719" cy="2185416"/>
          </a:xfrm>
        </p:grpSpPr>
        <p:sp>
          <p:nvSpPr>
            <p:cNvPr id="17" name="Rectangle 16"/>
            <p:cNvSpPr/>
            <p:nvPr/>
          </p:nvSpPr>
          <p:spPr>
            <a:xfrm>
              <a:off x="3703320" y="3214116"/>
              <a:ext cx="594359" cy="27432"/>
            </a:xfrm>
            <a:prstGeom prst="rect">
              <a:avLst/>
            </a:prstGeom>
            <a:solidFill>
              <a:srgbClr val="C4A857"/>
            </a:solidFill>
            <a:ln>
              <a:noFill/>
            </a:ln>
          </p:spPr>
          <p:txBody>
            <a:bodyPr rtlCol="0" anchor="ctr"/>
            <a:lstStyle/>
            <a:p>
              <a:pPr algn="ctr"/>
            </a:p>
          </p:txBody>
        </p:sp>
        <p:sp>
          <p:nvSpPr>
            <p:cNvPr id="18" name="Rectangle 17"/>
            <p:cNvSpPr/>
            <p:nvPr/>
          </p:nvSpPr>
          <p:spPr>
            <a:xfrm>
              <a:off x="4283964" y="2148840"/>
              <a:ext cx="27432" cy="2157984"/>
            </a:xfrm>
            <a:prstGeom prst="rect">
              <a:avLst/>
            </a:prstGeom>
            <a:solidFill>
              <a:srgbClr val="C4A857"/>
            </a:solidFill>
            <a:ln>
              <a:noFill/>
            </a:ln>
          </p:spPr>
          <p:txBody>
            <a:bodyPr rtlCol="0" anchor="ctr"/>
            <a:lstStyle/>
            <a:p>
              <a:pPr algn="ctr"/>
            </a:p>
          </p:txBody>
        </p:sp>
        <p:sp>
          <p:nvSpPr>
            <p:cNvPr id="19" name="Rectangle 18"/>
            <p:cNvSpPr/>
            <p:nvPr/>
          </p:nvSpPr>
          <p:spPr>
            <a:xfrm>
              <a:off x="4297679" y="2135124"/>
              <a:ext cx="594360" cy="27432"/>
            </a:xfrm>
            <a:prstGeom prst="rect">
              <a:avLst/>
            </a:prstGeom>
            <a:solidFill>
              <a:srgbClr val="C4A857"/>
            </a:solidFill>
            <a:ln>
              <a:noFill/>
            </a:ln>
          </p:spPr>
          <p:txBody>
            <a:bodyPr rtlCol="0" anchor="ctr"/>
            <a:lstStyle/>
            <a:p>
              <a:pPr algn="ctr"/>
            </a:p>
          </p:txBody>
        </p:sp>
        <p:sp>
          <p:nvSpPr>
            <p:cNvPr id="20" name="Rectangle 19"/>
            <p:cNvSpPr/>
            <p:nvPr/>
          </p:nvSpPr>
          <p:spPr>
            <a:xfrm>
              <a:off x="4297679" y="3214116"/>
              <a:ext cx="594360" cy="27432"/>
            </a:xfrm>
            <a:prstGeom prst="rect">
              <a:avLst/>
            </a:prstGeom>
            <a:solidFill>
              <a:srgbClr val="C4A857"/>
            </a:solidFill>
            <a:ln>
              <a:noFill/>
            </a:ln>
          </p:spPr>
          <p:txBody>
            <a:bodyPr rtlCol="0" anchor="ctr"/>
            <a:lstStyle/>
            <a:p>
              <a:pPr algn="ctr"/>
            </a:p>
          </p:txBody>
        </p:sp>
        <p:sp>
          <p:nvSpPr>
            <p:cNvPr id="21" name="Rectangle 20"/>
            <p:cNvSpPr/>
            <p:nvPr/>
          </p:nvSpPr>
          <p:spPr>
            <a:xfrm>
              <a:off x="4297679" y="4293108"/>
              <a:ext cx="594360" cy="27432"/>
            </a:xfrm>
            <a:prstGeom prst="rect">
              <a:avLst/>
            </a:prstGeom>
            <a:solidFill>
              <a:srgbClr val="C4A857"/>
            </a:solidFill>
            <a:ln>
              <a:noFill/>
            </a:ln>
          </p:spPr>
          <p:txBody>
            <a:bodyPr rtlCol="0" anchor="ctr"/>
            <a:lstStyle/>
            <a:p>
              <a:pPr algn="ctr"/>
            </a:p>
          </p:txBody>
        </p:sp>
      </p:grpSp>
      <p:grpSp>
        <p:nvGrpSpPr>
          <p:cNvPr id="22" name="Group 21"/>
          <p:cNvGrpSpPr/>
          <p:nvPr/>
        </p:nvGrpSpPr>
        <p:grpSpPr>
          <a:xfrm>
            <a:off x="4892040" y="1691640"/>
            <a:ext cx="6613855" cy="914400"/>
            <a:chOff x="4892040" y="1691640"/>
            <a:chExt cx="6613855" cy="914400"/>
          </a:xfrm>
        </p:grpSpPr>
        <p:sp>
          <p:nvSpPr>
            <p:cNvPr id="23" name="Rectangle 22"/>
            <p:cNvSpPr/>
            <p:nvPr/>
          </p:nvSpPr>
          <p:spPr>
            <a:xfrm>
              <a:off x="4892040" y="1691640"/>
              <a:ext cx="6613855" cy="914400"/>
            </a:xfrm>
            <a:prstGeom prst="rect">
              <a:avLst/>
            </a:prstGeom>
            <a:solidFill>
              <a:srgbClr val="2E3B6E"/>
            </a:solidFill>
            <a:ln>
              <a:noFill/>
            </a:ln>
          </p:spPr>
          <p:txBody>
            <a:bodyPr rtlCol="0" anchor="ctr"/>
            <a:lstStyle/>
            <a:p>
              <a:pPr algn="ctr"/>
            </a:p>
          </p:txBody>
        </p:sp>
        <p:sp>
          <p:nvSpPr>
            <p:cNvPr id="24" name="Rectangle 23"/>
            <p:cNvSpPr/>
            <p:nvPr/>
          </p:nvSpPr>
          <p:spPr>
            <a:xfrm>
              <a:off x="4892040" y="1691640"/>
              <a:ext cx="64008" cy="914400"/>
            </a:xfrm>
            <a:prstGeom prst="rect">
              <a:avLst/>
            </a:prstGeom>
            <a:solidFill>
              <a:srgbClr val="C4A857"/>
            </a:solidFill>
            <a:ln>
              <a:noFill/>
            </a:ln>
          </p:spPr>
          <p:txBody>
            <a:bodyPr rtlCol="0" anchor="ctr"/>
            <a:lstStyle/>
            <a:p>
              <a:pPr algn="ctr"/>
            </a:p>
          </p:txBody>
        </p:sp>
        <p:sp>
          <p:nvSpPr>
            <p:cNvPr id="25" name="Oval 24"/>
            <p:cNvSpPr/>
            <p:nvPr/>
          </p:nvSpPr>
          <p:spPr>
            <a:xfrm>
              <a:off x="5166359" y="1837944"/>
              <a:ext cx="621792" cy="621792"/>
            </a:xfrm>
            <a:prstGeom prst="ellipse">
              <a:avLst/>
            </a:prstGeom>
            <a:solidFill>
              <a:srgbClr val="162451"/>
            </a:solidFill>
            <a:ln w="19050">
              <a:solidFill>
                <a:srgbClr val="C4A857"/>
              </a:solidFill>
            </a:ln>
          </p:spPr>
          <p:txBody>
            <a:bodyPr rtlCol="0" anchor="ctr"/>
            <a:lstStyle/>
            <a:p>
              <a:pPr algn="ctr"/>
            </a:p>
          </p:txBody>
        </p:sp>
        <p:sp>
          <p:nvSpPr>
            <p:cNvPr id="26" name="TextBox 25"/>
            <p:cNvSpPr txBox="1"/>
            <p:nvPr/>
          </p:nvSpPr>
          <p:spPr>
            <a:xfrm>
              <a:off x="5166359" y="1837944"/>
              <a:ext cx="621792" cy="621792"/>
            </a:xfrm>
            <a:prstGeom prst="rect">
              <a:avLst/>
            </a:prstGeom>
            <a:noFill/>
          </p:spPr>
          <p:txBody>
            <a:bodyPr wrap="square" anchor="ctr" lIns="0" rIns="0" tIns="0" bIns="0">
              <a:spAutoFit/>
            </a:bodyPr>
            <a:lstStyle/>
            <a:p>
              <a:pPr algn="ctr">
                <a:spcAft>
                  <a:spcPts val="0"/>
                </a:spcAft>
              </a:pPr>
              <a:r>
                <a:rPr sz="2600" b="1" i="0">
                  <a:solidFill>
                    <a:srgbClr val="C4A857"/>
                  </a:solidFill>
                  <a:latin typeface="Oswald"/>
                </a:rPr>
                <a:t>A</a:t>
              </a:r>
            </a:p>
          </p:txBody>
        </p:sp>
        <p:sp>
          <p:nvSpPr>
            <p:cNvPr id="27" name="TextBox 26"/>
            <p:cNvSpPr txBox="1"/>
            <p:nvPr/>
          </p:nvSpPr>
          <p:spPr>
            <a:xfrm>
              <a:off x="6035040" y="1801368"/>
              <a:ext cx="5287975" cy="438912"/>
            </a:xfrm>
            <a:prstGeom prst="rect">
              <a:avLst/>
            </a:prstGeom>
            <a:noFill/>
          </p:spPr>
          <p:txBody>
            <a:bodyPr wrap="square" anchor="t" lIns="0" rIns="0" tIns="0" bIns="0">
              <a:spAutoFit/>
            </a:bodyPr>
            <a:lstStyle/>
            <a:p>
              <a:pPr algn="l">
                <a:spcAft>
                  <a:spcPts val="0"/>
                </a:spcAft>
              </a:pPr>
              <a:r>
                <a:rPr sz="2200" b="1" i="0">
                  <a:solidFill>
                    <a:srgbClr val="FFFFFF"/>
                  </a:solidFill>
                  <a:latin typeface="Oswald"/>
                </a:rPr>
                <a:t>Un solo viaje</a:t>
              </a:r>
            </a:p>
          </p:txBody>
        </p:sp>
        <p:sp>
          <p:nvSpPr>
            <p:cNvPr id="28" name="TextBox 27"/>
            <p:cNvSpPr txBox="1"/>
            <p:nvPr/>
          </p:nvSpPr>
          <p:spPr>
            <a:xfrm>
              <a:off x="6035040" y="2240280"/>
              <a:ext cx="5287975" cy="310896"/>
            </a:xfrm>
            <a:prstGeom prst="rect">
              <a:avLst/>
            </a:prstGeom>
            <a:noFill/>
          </p:spPr>
          <p:txBody>
            <a:bodyPr wrap="square" anchor="t" lIns="0" rIns="0" tIns="0" bIns="0">
              <a:spAutoFit/>
            </a:bodyPr>
            <a:lstStyle/>
            <a:p>
              <a:pPr algn="l">
                <a:spcAft>
                  <a:spcPts val="0"/>
                </a:spcAft>
              </a:pPr>
              <a:r>
                <a:rPr sz="1500" b="0" i="0">
                  <a:solidFill>
                    <a:srgbClr val="B9C2DC"/>
                  </a:solidFill>
                  <a:latin typeface="Open Sans"/>
                </a:rPr>
                <a:t>Flota propia: todo en un recorrido</a:t>
              </a:r>
            </a:p>
          </p:txBody>
        </p:sp>
      </p:grpSp>
      <p:grpSp>
        <p:nvGrpSpPr>
          <p:cNvPr id="29" name="Group 28"/>
          <p:cNvGrpSpPr/>
          <p:nvPr/>
        </p:nvGrpSpPr>
        <p:grpSpPr>
          <a:xfrm>
            <a:off x="4892040" y="2770632"/>
            <a:ext cx="6613855" cy="914400"/>
            <a:chOff x="4892040" y="2770632"/>
            <a:chExt cx="6613855" cy="914400"/>
          </a:xfrm>
        </p:grpSpPr>
        <p:sp>
          <p:nvSpPr>
            <p:cNvPr id="30" name="Rectangle 29"/>
            <p:cNvSpPr/>
            <p:nvPr/>
          </p:nvSpPr>
          <p:spPr>
            <a:xfrm>
              <a:off x="4892040" y="2770632"/>
              <a:ext cx="6613855" cy="914400"/>
            </a:xfrm>
            <a:prstGeom prst="rect">
              <a:avLst/>
            </a:prstGeom>
            <a:solidFill>
              <a:srgbClr val="2E3B6E"/>
            </a:solidFill>
            <a:ln>
              <a:noFill/>
            </a:ln>
          </p:spPr>
          <p:txBody>
            <a:bodyPr rtlCol="0" anchor="ctr"/>
            <a:lstStyle/>
            <a:p>
              <a:pPr algn="ctr"/>
            </a:p>
          </p:txBody>
        </p:sp>
        <p:sp>
          <p:nvSpPr>
            <p:cNvPr id="31" name="Rectangle 30"/>
            <p:cNvSpPr/>
            <p:nvPr/>
          </p:nvSpPr>
          <p:spPr>
            <a:xfrm>
              <a:off x="4892040" y="2770632"/>
              <a:ext cx="64008" cy="914400"/>
            </a:xfrm>
            <a:prstGeom prst="rect">
              <a:avLst/>
            </a:prstGeom>
            <a:solidFill>
              <a:srgbClr val="C4A857"/>
            </a:solidFill>
            <a:ln>
              <a:noFill/>
            </a:ln>
          </p:spPr>
          <p:txBody>
            <a:bodyPr rtlCol="0" anchor="ctr"/>
            <a:lstStyle/>
            <a:p>
              <a:pPr algn="ctr"/>
            </a:p>
          </p:txBody>
        </p:sp>
        <p:sp>
          <p:nvSpPr>
            <p:cNvPr id="32" name="Oval 31"/>
            <p:cNvSpPr/>
            <p:nvPr/>
          </p:nvSpPr>
          <p:spPr>
            <a:xfrm>
              <a:off x="5166359" y="2916936"/>
              <a:ext cx="621792" cy="621792"/>
            </a:xfrm>
            <a:prstGeom prst="ellipse">
              <a:avLst/>
            </a:prstGeom>
            <a:solidFill>
              <a:srgbClr val="162451"/>
            </a:solidFill>
            <a:ln w="19050">
              <a:solidFill>
                <a:srgbClr val="C4A857"/>
              </a:solidFill>
            </a:ln>
          </p:spPr>
          <p:txBody>
            <a:bodyPr rtlCol="0" anchor="ctr"/>
            <a:lstStyle/>
            <a:p>
              <a:pPr algn="ctr"/>
            </a:p>
          </p:txBody>
        </p:sp>
        <p:sp>
          <p:nvSpPr>
            <p:cNvPr id="33" name="TextBox 32"/>
            <p:cNvSpPr txBox="1"/>
            <p:nvPr/>
          </p:nvSpPr>
          <p:spPr>
            <a:xfrm>
              <a:off x="5166359" y="2916936"/>
              <a:ext cx="621792" cy="621792"/>
            </a:xfrm>
            <a:prstGeom prst="rect">
              <a:avLst/>
            </a:prstGeom>
            <a:noFill/>
          </p:spPr>
          <p:txBody>
            <a:bodyPr wrap="square" anchor="ctr" lIns="0" rIns="0" tIns="0" bIns="0">
              <a:spAutoFit/>
            </a:bodyPr>
            <a:lstStyle/>
            <a:p>
              <a:pPr algn="ctr">
                <a:spcAft>
                  <a:spcPts val="0"/>
                </a:spcAft>
              </a:pPr>
              <a:r>
                <a:rPr sz="2600" b="1" i="0">
                  <a:solidFill>
                    <a:srgbClr val="C4A857"/>
                  </a:solidFill>
                  <a:latin typeface="Oswald"/>
                </a:rPr>
                <a:t>B</a:t>
              </a:r>
            </a:p>
          </p:txBody>
        </p:sp>
        <p:sp>
          <p:nvSpPr>
            <p:cNvPr id="34" name="TextBox 33"/>
            <p:cNvSpPr txBox="1"/>
            <p:nvPr/>
          </p:nvSpPr>
          <p:spPr>
            <a:xfrm>
              <a:off x="6035040" y="2880360"/>
              <a:ext cx="5287975" cy="438912"/>
            </a:xfrm>
            <a:prstGeom prst="rect">
              <a:avLst/>
            </a:prstGeom>
            <a:noFill/>
          </p:spPr>
          <p:txBody>
            <a:bodyPr wrap="square" anchor="t" lIns="0" rIns="0" tIns="0" bIns="0">
              <a:spAutoFit/>
            </a:bodyPr>
            <a:lstStyle/>
            <a:p>
              <a:pPr algn="l">
                <a:spcAft>
                  <a:spcPts val="0"/>
                </a:spcAft>
              </a:pPr>
              <a:r>
                <a:rPr sz="2200" b="1" i="0">
                  <a:solidFill>
                    <a:srgbClr val="FFFFFF"/>
                  </a:solidFill>
                  <a:latin typeface="Oswald"/>
                </a:rPr>
                <a:t>Los críticos primero</a:t>
              </a:r>
            </a:p>
          </p:txBody>
        </p:sp>
        <p:sp>
          <p:nvSpPr>
            <p:cNvPr id="35" name="TextBox 34"/>
            <p:cNvSpPr txBox="1"/>
            <p:nvPr/>
          </p:nvSpPr>
          <p:spPr>
            <a:xfrm>
              <a:off x="6035040" y="3319272"/>
              <a:ext cx="5287975" cy="310896"/>
            </a:xfrm>
            <a:prstGeom prst="rect">
              <a:avLst/>
            </a:prstGeom>
            <a:noFill/>
          </p:spPr>
          <p:txBody>
            <a:bodyPr wrap="square" anchor="t" lIns="0" rIns="0" tIns="0" bIns="0">
              <a:spAutoFit/>
            </a:bodyPr>
            <a:lstStyle/>
            <a:p>
              <a:pPr algn="l">
                <a:spcAft>
                  <a:spcPts val="0"/>
                </a:spcAft>
              </a:pPr>
              <a:r>
                <a:rPr sz="1500" b="0" i="0">
                  <a:solidFill>
                    <a:srgbClr val="B9C2DC"/>
                  </a:solidFill>
                  <a:latin typeface="Open Sans"/>
                </a:rPr>
                <a:t>Flota propia: lo crítico sale en el primer turno</a:t>
              </a:r>
            </a:p>
          </p:txBody>
        </p:sp>
      </p:grpSp>
      <p:grpSp>
        <p:nvGrpSpPr>
          <p:cNvPr id="36" name="Group 35"/>
          <p:cNvGrpSpPr/>
          <p:nvPr/>
        </p:nvGrpSpPr>
        <p:grpSpPr>
          <a:xfrm>
            <a:off x="4892040" y="3849624"/>
            <a:ext cx="6613855" cy="914400"/>
            <a:chOff x="4892040" y="3849624"/>
            <a:chExt cx="6613855" cy="914400"/>
          </a:xfrm>
        </p:grpSpPr>
        <p:sp>
          <p:nvSpPr>
            <p:cNvPr id="37" name="Rectangle 36"/>
            <p:cNvSpPr/>
            <p:nvPr/>
          </p:nvSpPr>
          <p:spPr>
            <a:xfrm>
              <a:off x="4892040" y="3849624"/>
              <a:ext cx="6613855" cy="914400"/>
            </a:xfrm>
            <a:prstGeom prst="rect">
              <a:avLst/>
            </a:prstGeom>
            <a:solidFill>
              <a:srgbClr val="2E3B6E"/>
            </a:solidFill>
            <a:ln>
              <a:noFill/>
            </a:ln>
          </p:spPr>
          <p:txBody>
            <a:bodyPr rtlCol="0" anchor="ctr"/>
            <a:lstStyle/>
            <a:p>
              <a:pPr algn="ctr"/>
            </a:p>
          </p:txBody>
        </p:sp>
        <p:sp>
          <p:nvSpPr>
            <p:cNvPr id="38" name="Rectangle 37"/>
            <p:cNvSpPr/>
            <p:nvPr/>
          </p:nvSpPr>
          <p:spPr>
            <a:xfrm>
              <a:off x="4892040" y="3849624"/>
              <a:ext cx="64008" cy="914400"/>
            </a:xfrm>
            <a:prstGeom prst="rect">
              <a:avLst/>
            </a:prstGeom>
            <a:solidFill>
              <a:srgbClr val="C4A857"/>
            </a:solidFill>
            <a:ln>
              <a:noFill/>
            </a:ln>
          </p:spPr>
          <p:txBody>
            <a:bodyPr rtlCol="0" anchor="ctr"/>
            <a:lstStyle/>
            <a:p>
              <a:pPr algn="ctr"/>
            </a:p>
          </p:txBody>
        </p:sp>
        <p:sp>
          <p:nvSpPr>
            <p:cNvPr id="39" name="Oval 38"/>
            <p:cNvSpPr/>
            <p:nvPr/>
          </p:nvSpPr>
          <p:spPr>
            <a:xfrm>
              <a:off x="5166359" y="3995928"/>
              <a:ext cx="621792" cy="621792"/>
            </a:xfrm>
            <a:prstGeom prst="ellipse">
              <a:avLst/>
            </a:prstGeom>
            <a:solidFill>
              <a:srgbClr val="162451"/>
            </a:solidFill>
            <a:ln w="19050">
              <a:solidFill>
                <a:srgbClr val="C4A857"/>
              </a:solidFill>
            </a:ln>
          </p:spPr>
          <p:txBody>
            <a:bodyPr rtlCol="0" anchor="ctr"/>
            <a:lstStyle/>
            <a:p>
              <a:pPr algn="ctr"/>
            </a:p>
          </p:txBody>
        </p:sp>
        <p:sp>
          <p:nvSpPr>
            <p:cNvPr id="40" name="TextBox 39"/>
            <p:cNvSpPr txBox="1"/>
            <p:nvPr/>
          </p:nvSpPr>
          <p:spPr>
            <a:xfrm>
              <a:off x="5166359" y="3995928"/>
              <a:ext cx="621792" cy="621792"/>
            </a:xfrm>
            <a:prstGeom prst="rect">
              <a:avLst/>
            </a:prstGeom>
            <a:noFill/>
          </p:spPr>
          <p:txBody>
            <a:bodyPr wrap="square" anchor="ctr" lIns="0" rIns="0" tIns="0" bIns="0">
              <a:spAutoFit/>
            </a:bodyPr>
            <a:lstStyle/>
            <a:p>
              <a:pPr algn="ctr">
                <a:spcAft>
                  <a:spcPts val="0"/>
                </a:spcAft>
              </a:pPr>
              <a:r>
                <a:rPr sz="2600" b="1" i="0">
                  <a:solidFill>
                    <a:srgbClr val="C4A857"/>
                  </a:solidFill>
                  <a:latin typeface="Oswald"/>
                </a:rPr>
                <a:t>C</a:t>
              </a:r>
            </a:p>
          </p:txBody>
        </p:sp>
        <p:sp>
          <p:nvSpPr>
            <p:cNvPr id="41" name="TextBox 40"/>
            <p:cNvSpPr txBox="1"/>
            <p:nvPr/>
          </p:nvSpPr>
          <p:spPr>
            <a:xfrm>
              <a:off x="6035040" y="3959352"/>
              <a:ext cx="5287975" cy="438912"/>
            </a:xfrm>
            <a:prstGeom prst="rect">
              <a:avLst/>
            </a:prstGeom>
            <a:noFill/>
          </p:spPr>
          <p:txBody>
            <a:bodyPr wrap="square" anchor="t" lIns="0" rIns="0" tIns="0" bIns="0">
              <a:spAutoFit/>
            </a:bodyPr>
            <a:lstStyle/>
            <a:p>
              <a:pPr algn="l">
                <a:spcAft>
                  <a:spcPts val="0"/>
                </a:spcAft>
              </a:pPr>
              <a:r>
                <a:rPr sz="2200" b="1" i="0">
                  <a:solidFill>
                    <a:srgbClr val="FFFFFF"/>
                  </a:solidFill>
                  <a:latin typeface="Oswald"/>
                </a:rPr>
                <a:t>Operador contratado</a:t>
              </a:r>
            </a:p>
          </p:txBody>
        </p:sp>
        <p:sp>
          <p:nvSpPr>
            <p:cNvPr id="42" name="TextBox 41"/>
            <p:cNvSpPr txBox="1"/>
            <p:nvPr/>
          </p:nvSpPr>
          <p:spPr>
            <a:xfrm>
              <a:off x="6035040" y="4398264"/>
              <a:ext cx="5287975" cy="310896"/>
            </a:xfrm>
            <a:prstGeom prst="rect">
              <a:avLst/>
            </a:prstGeom>
            <a:noFill/>
          </p:spPr>
          <p:txBody>
            <a:bodyPr wrap="square" anchor="t" lIns="0" rIns="0" tIns="0" bIns="0">
              <a:spAutoFit/>
            </a:bodyPr>
            <a:lstStyle/>
            <a:p>
              <a:pPr algn="l">
                <a:spcAft>
                  <a:spcPts val="0"/>
                </a:spcAft>
              </a:pPr>
              <a:r>
                <a:rPr sz="1500" b="0" i="0">
                  <a:solidFill>
                    <a:srgbClr val="B9C2DC"/>
                  </a:solidFill>
                  <a:latin typeface="Open Sans"/>
                </a:rPr>
                <a:t>Un transportista externo cubre todo</a:t>
              </a:r>
            </a:p>
          </p:txBody>
        </p:sp>
      </p:grpSp>
      <p:grpSp>
        <p:nvGrpSpPr>
          <p:cNvPr id="43" name="Group 42"/>
          <p:cNvGrpSpPr/>
          <p:nvPr/>
        </p:nvGrpSpPr>
        <p:grpSpPr>
          <a:xfrm>
            <a:off x="685800" y="5138928"/>
            <a:ext cx="10820095" cy="877824"/>
            <a:chOff x="685800" y="5138928"/>
            <a:chExt cx="10820095" cy="877824"/>
          </a:xfrm>
        </p:grpSpPr>
        <p:sp>
          <p:nvSpPr>
            <p:cNvPr id="44" name="Rectangle 43"/>
            <p:cNvSpPr/>
            <p:nvPr/>
          </p:nvSpPr>
          <p:spPr>
            <a:xfrm>
              <a:off x="685800" y="5138928"/>
              <a:ext cx="10820095" cy="877824"/>
            </a:xfrm>
            <a:prstGeom prst="rect">
              <a:avLst/>
            </a:prstGeom>
            <a:solidFill>
              <a:srgbClr val="B82E2E"/>
            </a:solidFill>
            <a:ln>
              <a:noFill/>
            </a:ln>
          </p:spPr>
          <p:txBody>
            <a:bodyPr rtlCol="0" anchor="ctr"/>
            <a:lstStyle/>
            <a:p>
              <a:pPr algn="ctr"/>
            </a:p>
          </p:txBody>
        </p:sp>
        <p:sp>
          <p:nvSpPr>
            <p:cNvPr id="45" name="Rectangle 44"/>
            <p:cNvSpPr/>
            <p:nvPr/>
          </p:nvSpPr>
          <p:spPr>
            <a:xfrm>
              <a:off x="685800" y="5138928"/>
              <a:ext cx="82296" cy="877824"/>
            </a:xfrm>
            <a:prstGeom prst="rect">
              <a:avLst/>
            </a:prstGeom>
            <a:solidFill>
              <a:srgbClr val="C4A857"/>
            </a:solidFill>
            <a:ln>
              <a:noFill/>
            </a:ln>
          </p:spPr>
          <p:txBody>
            <a:bodyPr rtlCol="0" anchor="ctr"/>
            <a:lstStyle/>
            <a:p>
              <a:pPr algn="ctr"/>
            </a:p>
          </p:txBody>
        </p:sp>
        <p:sp>
          <p:nvSpPr>
            <p:cNvPr id="46" name="TextBox 45"/>
            <p:cNvSpPr txBox="1"/>
            <p:nvPr/>
          </p:nvSpPr>
          <p:spPr>
            <a:xfrm>
              <a:off x="1051560" y="5138928"/>
              <a:ext cx="6583680" cy="877824"/>
            </a:xfrm>
            <a:prstGeom prst="rect">
              <a:avLst/>
            </a:prstGeom>
            <a:noFill/>
          </p:spPr>
          <p:txBody>
            <a:bodyPr wrap="square" anchor="ctr" lIns="0" rIns="0" tIns="0" bIns="0">
              <a:spAutoFit/>
            </a:bodyPr>
            <a:lstStyle/>
            <a:p>
              <a:pPr algn="l">
                <a:spcAft>
                  <a:spcPts val="0"/>
                </a:spcAft>
              </a:pPr>
              <a:r>
                <a:rPr sz="1600" b="1" i="0">
                  <a:solidFill>
                    <a:srgbClr val="FFFFFF"/>
                  </a:solidFill>
                  <a:latin typeface="Open Sans"/>
                </a:rPr>
                <a:t>El problema: hoy se decide mirando kilómetros. </a:t>
              </a:r>
              <a:r>
                <a:rPr sz="1600" b="0" i="0">
                  <a:solidFill>
                    <a:srgbClr val="FFFFFF"/>
                  </a:solidFill>
                  <a:latin typeface="Open Sans"/>
                </a:rPr>
                <a:t>Lo que cuesta de verdad: personal, combustible, descarga y producto que se daña.</a:t>
              </a:r>
            </a:p>
          </p:txBody>
        </p:sp>
        <p:sp>
          <p:nvSpPr>
            <p:cNvPr id="47" name="TextBox 46"/>
            <p:cNvSpPr txBox="1"/>
            <p:nvPr/>
          </p:nvSpPr>
          <p:spPr>
            <a:xfrm>
              <a:off x="7818120" y="5138928"/>
              <a:ext cx="3413455" cy="877824"/>
            </a:xfrm>
            <a:prstGeom prst="rect">
              <a:avLst/>
            </a:prstGeom>
            <a:noFill/>
          </p:spPr>
          <p:txBody>
            <a:bodyPr wrap="square" anchor="ctr" lIns="0" rIns="0" tIns="0" bIns="0">
              <a:spAutoFit/>
            </a:bodyPr>
            <a:lstStyle/>
            <a:p>
              <a:pPr algn="r">
                <a:spcAft>
                  <a:spcPts val="0"/>
                </a:spcAft>
              </a:pPr>
              <a:r>
                <a:rPr sz="3400" b="1" i="0">
                  <a:solidFill>
                    <a:srgbClr val="FFFFFF"/>
                  </a:solidFill>
                  <a:latin typeface="Oswald"/>
                </a:rPr>
                <a:t>¿Cuál conviene?</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10"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par>
                          <p:cTn id="12" fill="hold">
                            <p:stCondLst>
                              <p:cond delay="850"/>
                            </p:stCondLst>
                            <p:childTnLst>
                              <p:par>
                                <p:cTn id="15" presetID="22" presetClass="entr" presetSubtype="8"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left)">
                                      <p:cBhvr>
                                        <p:cTn id="14" dur="500"/>
                                        <p:tgtEl>
                                          <p:spTgt spid="16"/>
                                        </p:tgtEl>
                                      </p:cBhvr>
                                    </p:animEffect>
                                  </p:childTnLst>
                                </p:cTn>
                              </p:par>
                            </p:childTnLst>
                          </p:cTn>
                        </p:par>
                        <p:par>
                          <p:cTn id="16" fill="hold">
                            <p:stCondLst>
                              <p:cond delay="1350"/>
                            </p:stCondLst>
                            <p:childTnLst>
                              <p:par>
                                <p:cTn id="19" presetID="2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400"/>
                                        <p:tgtEl>
                                          <p:spTgt spid="22"/>
                                        </p:tgtEl>
                                      </p:cBhvr>
                                    </p:animEffect>
                                  </p:childTnLst>
                                </p:cTn>
                              </p:par>
                            </p:childTnLst>
                          </p:cTn>
                        </p:par>
                        <p:par>
                          <p:cTn id="20" fill="hold">
                            <p:stCondLst>
                              <p:cond delay="1750"/>
                            </p:stCondLst>
                            <p:childTnLst>
                              <p:par>
                                <p:cTn id="23" presetID="22" presetClass="entr" presetSubtype="8" fill="hold" grpId="0" nodeType="after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400"/>
                                        <p:tgtEl>
                                          <p:spTgt spid="29"/>
                                        </p:tgtEl>
                                      </p:cBhvr>
                                    </p:animEffect>
                                  </p:childTnLst>
                                </p:cTn>
                              </p:par>
                            </p:childTnLst>
                          </p:cTn>
                        </p:par>
                        <p:par>
                          <p:cTn id="24" fill="hold">
                            <p:stCondLst>
                              <p:cond delay="2150"/>
                            </p:stCondLst>
                            <p:childTnLst>
                              <p:par>
                                <p:cTn id="27" presetID="22" presetClass="entr" presetSubtype="8" fill="hold" grpId="0" nodeType="after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wipe(left)">
                                      <p:cBhvr>
                                        <p:cTn id="26" dur="4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2" presetID="22" presetClass="entr" presetSubtype="8"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wipe(left)">
                                      <p:cBhvr>
                                        <p:cTn id="31" dur="5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5B6585"/>
                </a:solidFill>
                <a:latin typeface="Open Sans"/>
              </a:rPr>
              <a:t>HACKATHON EXPO CLEAN 2026 · RETO 1 · 03</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7D6520"/>
                  </a:solidFill>
                  <a:latin typeface="Open Sans"/>
                </a:rPr>
                <a:t>PROTOTIPO / DEMO · DETECTAR</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242D57"/>
                  </a:solidFill>
                  <a:latin typeface="Oswald"/>
                </a:rPr>
                <a:t>El aviso llega antes que la llamada</a:t>
              </a:r>
            </a:p>
          </p:txBody>
        </p:sp>
      </p:grpSp>
      <p:sp>
        <p:nvSpPr>
          <p:cNvPr id="7" name="Rectangle 6"/>
          <p:cNvSpPr/>
          <p:nvPr/>
        </p:nvSpPr>
        <p:spPr>
          <a:xfrm>
            <a:off x="685800" y="6217920"/>
            <a:ext cx="10820095" cy="10972"/>
          </a:xfrm>
          <a:prstGeom prst="rect">
            <a:avLst/>
          </a:prstGeom>
          <a:solidFill>
            <a:srgbClr val="D5DBEA"/>
          </a:solidFill>
          <a:ln>
            <a:noFill/>
          </a:ln>
        </p:spPr>
        <p:txBody>
          <a:bodyPr rtlCol="0" anchor="ctr"/>
          <a:lstStyle/>
          <a:p>
            <a:pPr algn="ctr"/>
          </a:p>
        </p:txBody>
      </p:sp>
      <p:pic>
        <p:nvPicPr>
          <p:cNvPr id="8" name="Picture 7" descr="istpet-log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5B6585"/>
                </a:solidFill>
                <a:latin typeface="Open Sans"/>
              </a:rPr>
              <a:t>Fuente: pantalla Monitoreo de cobertura de stock (captura del 17-oct); cálculo de cobertura A-04. Datos sintéticos.</a:t>
            </a:r>
          </a:p>
        </p:txBody>
      </p:sp>
      <p:grpSp>
        <p:nvGrpSpPr>
          <p:cNvPr id="11" name="Group 10"/>
          <p:cNvGrpSpPr/>
          <p:nvPr/>
        </p:nvGrpSpPr>
        <p:grpSpPr>
          <a:xfrm>
            <a:off x="612648" y="1724621"/>
            <a:ext cx="7735824" cy="4094557"/>
            <a:chOff x="612648" y="1724621"/>
            <a:chExt cx="7735824" cy="4094557"/>
          </a:xfrm>
        </p:grpSpPr>
        <p:sp>
          <p:nvSpPr>
            <p:cNvPr id="12" name="Rectangle 11"/>
            <p:cNvSpPr/>
            <p:nvPr/>
          </p:nvSpPr>
          <p:spPr>
            <a:xfrm>
              <a:off x="612648" y="1724621"/>
              <a:ext cx="7735824" cy="4048837"/>
            </a:xfrm>
            <a:prstGeom prst="rect">
              <a:avLst/>
            </a:prstGeom>
            <a:solidFill>
              <a:srgbClr val="FFFFFF"/>
            </a:solidFill>
            <a:ln w="9525">
              <a:solidFill>
                <a:srgbClr val="D5DBEA"/>
              </a:solidFill>
            </a:ln>
            <a:effectLst>
              <a:outerShdw blurRad="152400" dist="50800" dir="5400000" algn="t" rotWithShape="0">
                <a:srgbClr val="162451">
                  <a:alpha val="18000"/>
                </a:srgbClr>
              </a:outerShdw>
            </a:effectLst>
          </p:spPr>
          <p:txBody>
            <a:bodyPr rtlCol="0" anchor="ctr"/>
            <a:lstStyle/>
            <a:p>
              <a:pPr algn="ctr"/>
            </a:p>
          </p:txBody>
        </p:sp>
        <p:pic>
          <p:nvPicPr>
            <p:cNvPr id="13" name="Picture 12" descr="alertas.png"/>
            <p:cNvPicPr>
              <a:picLocks noChangeAspect="1"/>
            </p:cNvPicPr>
            <p:nvPr/>
          </p:nvPicPr>
          <p:blipFill>
            <a:blip r:embed="rId3"/>
            <a:stretch>
              <a:fillRect/>
            </a:stretch>
          </p:blipFill>
          <p:spPr>
            <a:xfrm>
              <a:off x="685800" y="1797773"/>
              <a:ext cx="7589520" cy="3902533"/>
            </a:xfrm>
            <a:prstGeom prst="rect">
              <a:avLst/>
            </a:prstGeom>
          </p:spPr>
        </p:pic>
        <p:sp>
          <p:nvSpPr>
            <p:cNvPr id="14" name="Rectangle 13"/>
            <p:cNvSpPr/>
            <p:nvPr/>
          </p:nvSpPr>
          <p:spPr>
            <a:xfrm>
              <a:off x="612648" y="5773458"/>
              <a:ext cx="7735824" cy="45720"/>
            </a:xfrm>
            <a:prstGeom prst="rect">
              <a:avLst/>
            </a:prstGeom>
            <a:solidFill>
              <a:srgbClr val="C4A857"/>
            </a:solidFill>
            <a:ln>
              <a:noFill/>
            </a:ln>
          </p:spPr>
          <p:txBody>
            <a:bodyPr rtlCol="0" anchor="ctr"/>
            <a:lstStyle/>
            <a:p>
              <a:pPr algn="ctr"/>
            </a:p>
          </p:txBody>
        </p:sp>
      </p:grpSp>
      <p:grpSp>
        <p:nvGrpSpPr>
          <p:cNvPr id="15" name="Group 14"/>
          <p:cNvGrpSpPr/>
          <p:nvPr/>
        </p:nvGrpSpPr>
        <p:grpSpPr>
          <a:xfrm>
            <a:off x="8641080" y="1691640"/>
            <a:ext cx="2864815" cy="2880360"/>
            <a:chOff x="8641080" y="1691640"/>
            <a:chExt cx="2864815" cy="2880360"/>
          </a:xfrm>
        </p:grpSpPr>
        <p:sp>
          <p:nvSpPr>
            <p:cNvPr id="16" name="Rectangle 15"/>
            <p:cNvSpPr/>
            <p:nvPr/>
          </p:nvSpPr>
          <p:spPr>
            <a:xfrm>
              <a:off x="8641080" y="1691640"/>
              <a:ext cx="2864815" cy="2880360"/>
            </a:xfrm>
            <a:prstGeom prst="rect">
              <a:avLst/>
            </a:prstGeom>
            <a:solidFill>
              <a:srgbClr val="EDF0F7"/>
            </a:solidFill>
            <a:ln>
              <a:noFill/>
            </a:ln>
          </p:spPr>
          <p:txBody>
            <a:bodyPr rtlCol="0" anchor="ctr"/>
            <a:lstStyle/>
            <a:p>
              <a:pPr algn="ctr"/>
            </a:p>
          </p:txBody>
        </p:sp>
        <p:sp>
          <p:nvSpPr>
            <p:cNvPr id="17" name="Rectangle 16"/>
            <p:cNvSpPr/>
            <p:nvPr/>
          </p:nvSpPr>
          <p:spPr>
            <a:xfrm>
              <a:off x="8641080" y="1691640"/>
              <a:ext cx="2864815" cy="54864"/>
            </a:xfrm>
            <a:prstGeom prst="rect">
              <a:avLst/>
            </a:prstGeom>
            <a:solidFill>
              <a:srgbClr val="C4A857"/>
            </a:solidFill>
            <a:ln>
              <a:noFill/>
            </a:ln>
          </p:spPr>
          <p:txBody>
            <a:bodyPr rtlCol="0" anchor="ctr"/>
            <a:lstStyle/>
            <a:p>
              <a:pPr algn="ctr"/>
            </a:p>
          </p:txBody>
        </p:sp>
        <p:sp>
          <p:nvSpPr>
            <p:cNvPr id="18" name="TextBox 17"/>
            <p:cNvSpPr txBox="1"/>
            <p:nvPr/>
          </p:nvSpPr>
          <p:spPr>
            <a:xfrm>
              <a:off x="8915400" y="1984248"/>
              <a:ext cx="2316175" cy="780178"/>
            </a:xfrm>
            <a:prstGeom prst="rect">
              <a:avLst/>
            </a:prstGeom>
            <a:noFill/>
          </p:spPr>
          <p:txBody>
            <a:bodyPr wrap="square" anchor="t" lIns="0" rIns="0" tIns="0" bIns="0">
              <a:spAutoFit/>
            </a:bodyPr>
            <a:lstStyle/>
            <a:p>
              <a:pPr algn="l">
                <a:lnSpc>
                  <a:spcPct val="92000"/>
                </a:lnSpc>
                <a:spcAft>
                  <a:spcPts val="0"/>
                </a:spcAft>
              </a:pPr>
              <a:r>
                <a:rPr sz="2200" b="1" i="0">
                  <a:solidFill>
                    <a:srgbClr val="242D57"/>
                  </a:solidFill>
                  <a:latin typeface="Oswald"/>
                </a:rPr>
                <a:t>Monitoreo de cobertura</a:t>
              </a:r>
            </a:p>
          </p:txBody>
        </p:sp>
        <p:sp>
          <p:nvSpPr>
            <p:cNvPr id="19" name="TextBox 18"/>
            <p:cNvSpPr txBox="1"/>
            <p:nvPr/>
          </p:nvSpPr>
          <p:spPr>
            <a:xfrm>
              <a:off x="8915400" y="2837578"/>
              <a:ext cx="2316175" cy="1551541"/>
            </a:xfrm>
            <a:prstGeom prst="rect">
              <a:avLst/>
            </a:prstGeom>
            <a:noFill/>
          </p:spPr>
          <p:txBody>
            <a:bodyPr wrap="square" anchor="t" lIns="0" rIns="0" tIns="0" bIns="0">
              <a:spAutoFit/>
            </a:bodyPr>
            <a:lstStyle/>
            <a:p>
              <a:pPr algn="l">
                <a:lnSpc>
                  <a:spcPct val="105000"/>
                </a:lnSpc>
                <a:spcAft>
                  <a:spcPts val="0"/>
                </a:spcAft>
              </a:pPr>
              <a:r>
                <a:rPr sz="1600" b="0" i="0">
                  <a:solidFill>
                    <a:srgbClr val="5B6585"/>
                  </a:solidFill>
                  <a:latin typeface="Open Sans"/>
                </a:rPr>
                <a:t>Cada punto con sus días de cobertura, su nivel de riesgo y la cantidad sugerida para reponer.</a:t>
              </a:r>
            </a:p>
          </p:txBody>
        </p:sp>
      </p:grpSp>
      <p:grpSp>
        <p:nvGrpSpPr>
          <p:cNvPr id="20" name="Group 19"/>
          <p:cNvGrpSpPr/>
          <p:nvPr/>
        </p:nvGrpSpPr>
        <p:grpSpPr>
          <a:xfrm>
            <a:off x="8641080" y="4754880"/>
            <a:ext cx="2864815" cy="1051560"/>
            <a:chOff x="8641080" y="4754880"/>
            <a:chExt cx="2864815" cy="1051560"/>
          </a:xfrm>
        </p:grpSpPr>
        <p:sp>
          <p:nvSpPr>
            <p:cNvPr id="21" name="Rectangle 20"/>
            <p:cNvSpPr/>
            <p:nvPr/>
          </p:nvSpPr>
          <p:spPr>
            <a:xfrm>
              <a:off x="8641080" y="4754880"/>
              <a:ext cx="2864815" cy="1051560"/>
            </a:xfrm>
            <a:prstGeom prst="rect">
              <a:avLst/>
            </a:prstGeom>
            <a:solidFill>
              <a:srgbClr val="242D57"/>
            </a:solidFill>
            <a:ln>
              <a:noFill/>
            </a:ln>
          </p:spPr>
          <p:txBody>
            <a:bodyPr rtlCol="0" anchor="ctr"/>
            <a:lstStyle/>
            <a:p>
              <a:pPr algn="ctr"/>
            </a:p>
          </p:txBody>
        </p:sp>
        <p:sp>
          <p:nvSpPr>
            <p:cNvPr id="22" name="Rectangle 21"/>
            <p:cNvSpPr/>
            <p:nvPr/>
          </p:nvSpPr>
          <p:spPr>
            <a:xfrm>
              <a:off x="8641080" y="4754880"/>
              <a:ext cx="64008" cy="1051560"/>
            </a:xfrm>
            <a:prstGeom prst="rect">
              <a:avLst/>
            </a:prstGeom>
            <a:solidFill>
              <a:srgbClr val="C4A857"/>
            </a:solidFill>
            <a:ln>
              <a:noFill/>
            </a:ln>
          </p:spPr>
          <p:txBody>
            <a:bodyPr rtlCol="0" anchor="ctr"/>
            <a:lstStyle/>
            <a:p>
              <a:pPr algn="ctr"/>
            </a:p>
          </p:txBody>
        </p:sp>
        <p:sp>
          <p:nvSpPr>
            <p:cNvPr id="23" name="TextBox 22"/>
            <p:cNvSpPr txBox="1"/>
            <p:nvPr/>
          </p:nvSpPr>
          <p:spPr>
            <a:xfrm>
              <a:off x="8915400" y="4754880"/>
              <a:ext cx="2453335" cy="1051560"/>
            </a:xfrm>
            <a:prstGeom prst="rect">
              <a:avLst/>
            </a:prstGeom>
            <a:noFill/>
          </p:spPr>
          <p:txBody>
            <a:bodyPr wrap="square" anchor="ctr" lIns="0" rIns="0" tIns="0" bIns="0">
              <a:spAutoFit/>
            </a:bodyPr>
            <a:lstStyle/>
            <a:p>
              <a:pPr algn="l">
                <a:spcAft>
                  <a:spcPts val="0"/>
                </a:spcAft>
              </a:pPr>
              <a:r>
                <a:rPr sz="1600" b="1" i="0">
                  <a:solidFill>
                    <a:srgbClr val="FFFFFF"/>
                  </a:solidFill>
                  <a:latin typeface="Open Sans"/>
                </a:rPr>
                <a:t>El planificador sabe qué punto atender primero.</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22" presetClass="entr" presetSubtype="8"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600"/>
                                        <p:tgtEl>
                                          <p:spTgt spid="11"/>
                                        </p:tgtEl>
                                      </p:cBhvr>
                                    </p:animEffect>
                                  </p:childTnLst>
                                </p:cTn>
                              </p:par>
                            </p:childTnLst>
                          </p:cTn>
                        </p:par>
                        <p:par>
                          <p:cTn id="12" fill="hold">
                            <p:stCondLst>
                              <p:cond delay="1000"/>
                            </p:stCondLst>
                            <p:childTnLst>
                              <p:par>
                                <p:cTn id="15" presetID="10"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50"/>
                                        <p:tgtEl>
                                          <p:spTgt spid="15"/>
                                        </p:tgtEl>
                                      </p:cBhvr>
                                    </p:animEffect>
                                  </p:childTnLst>
                                </p:cTn>
                              </p:par>
                            </p:childTnLst>
                          </p:cTn>
                        </p:par>
                      </p:childTnLst>
                    </p:cTn>
                  </p:par>
                  <p:par>
                    <p:cTn id="16" fill="hold">
                      <p:stCondLst>
                        <p:cond delay="indefinite"/>
                      </p:stCondLst>
                      <p:childTnLst>
                        <p:par>
                          <p:cTn id="17"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5B6585"/>
                </a:solidFill>
                <a:latin typeface="Open Sans"/>
              </a:rPr>
              <a:t>HACKATHON EXPO CLEAN 2026 · RETO 1 · 04</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7D6520"/>
                  </a:solidFill>
                  <a:latin typeface="Open Sans"/>
                </a:rPr>
                <a:t>ANEXO 5.7 · PROTOTIPO / DEMO</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242D57"/>
                  </a:solidFill>
                  <a:latin typeface="Oswald"/>
                </a:rPr>
                <a:t>La más barata no fue la mejor</a:t>
              </a:r>
            </a:p>
          </p:txBody>
        </p:sp>
      </p:grpSp>
      <p:sp>
        <p:nvSpPr>
          <p:cNvPr id="7" name="Rectangle 6"/>
          <p:cNvSpPr/>
          <p:nvPr/>
        </p:nvSpPr>
        <p:spPr>
          <a:xfrm>
            <a:off x="685800" y="6217920"/>
            <a:ext cx="7909560" cy="10972"/>
          </a:xfrm>
          <a:prstGeom prst="rect">
            <a:avLst/>
          </a:prstGeom>
          <a:solidFill>
            <a:srgbClr val="D5DBEA"/>
          </a:solidFill>
          <a:ln>
            <a:noFill/>
          </a:ln>
        </p:spPr>
        <p:txBody>
          <a:bodyPr rtlCol="0" anchor="ctr"/>
          <a:lstStyle/>
          <a:p>
            <a:pPr algn="ctr"/>
          </a:p>
        </p:txBody>
      </p:sp>
      <p:pic>
        <p:nvPicPr>
          <p:cNvPr id="8" name="Picture 7" descr="istpet-log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6735463" cy="475488"/>
          </a:xfrm>
          <a:prstGeom prst="rect">
            <a:avLst/>
          </a:prstGeom>
          <a:noFill/>
        </p:spPr>
        <p:txBody>
          <a:bodyPr wrap="square" anchor="t" lIns="0" rIns="0" tIns="0" bIns="0">
            <a:spAutoFit/>
          </a:bodyPr>
          <a:lstStyle/>
          <a:p>
            <a:pPr algn="l">
              <a:spcAft>
                <a:spcPts val="0"/>
              </a:spcAft>
            </a:pPr>
            <a:r>
              <a:rPr sz="1000" b="0" i="0">
                <a:solidFill>
                  <a:srgbClr val="5B6585"/>
                </a:solidFill>
                <a:latin typeface="Open Sans"/>
              </a:rPr>
              <a:t>Fuente: ensayo técnico local del motor, 17-oct · escenario sintético de Quito · 4 pedidos, 6 entregas críticas, 55,9 km · diésel USD 3,11/gal (Primicias, 12-oct). Una sola corrida, sin clientes reales.</a:t>
            </a:r>
          </a:p>
        </p:txBody>
      </p:sp>
      <p:grpSp>
        <p:nvGrpSpPr>
          <p:cNvPr id="11" name="Group 10"/>
          <p:cNvGrpSpPr/>
          <p:nvPr/>
        </p:nvGrpSpPr>
        <p:grpSpPr>
          <a:xfrm>
            <a:off x="685800" y="1536192"/>
            <a:ext cx="7909559" cy="310896"/>
            <a:chOff x="685800" y="1536192"/>
            <a:chExt cx="7909559" cy="310896"/>
          </a:xfrm>
        </p:grpSpPr>
        <p:sp>
          <p:nvSpPr>
            <p:cNvPr id="12" name="Rounded Rectangle 11"/>
            <p:cNvSpPr/>
            <p:nvPr/>
          </p:nvSpPr>
          <p:spPr>
            <a:xfrm>
              <a:off x="685800" y="1536192"/>
              <a:ext cx="1992954" cy="310896"/>
            </a:xfrm>
            <a:prstGeom prst="roundRect">
              <a:avLst>
                <a:gd name="adj" fmla="val 50000"/>
              </a:avLst>
            </a:prstGeom>
            <a:solidFill>
              <a:srgbClr val="C4A857"/>
            </a:solidFill>
            <a:ln>
              <a:noFill/>
            </a:ln>
          </p:spPr>
          <p:txBody>
            <a:bodyPr rtlCol="0" anchor="ctr"/>
            <a:lstStyle/>
            <a:p>
              <a:pPr algn="ctr"/>
            </a:p>
          </p:txBody>
        </p:sp>
        <p:sp>
          <p:nvSpPr>
            <p:cNvPr id="13" name="TextBox 12"/>
            <p:cNvSpPr txBox="1"/>
            <p:nvPr/>
          </p:nvSpPr>
          <p:spPr>
            <a:xfrm>
              <a:off x="685800" y="1536192"/>
              <a:ext cx="1992954" cy="310896"/>
            </a:xfrm>
            <a:prstGeom prst="rect">
              <a:avLst/>
            </a:prstGeom>
            <a:noFill/>
          </p:spPr>
          <p:txBody>
            <a:bodyPr wrap="square" anchor="ctr" lIns="0" rIns="0" tIns="0" bIns="0">
              <a:spAutoFit/>
            </a:bodyPr>
            <a:lstStyle/>
            <a:p>
              <a:pPr algn="ctr">
                <a:spcAft>
                  <a:spcPts val="0"/>
                </a:spcAft>
              </a:pPr>
              <a:r>
                <a:rPr sz="1200" b="1" i="0" spc="100">
                  <a:solidFill>
                    <a:srgbClr val="162451"/>
                  </a:solidFill>
                  <a:latin typeface="Open Sans"/>
                </a:rPr>
                <a:t>DATOS SINTÉTICOS</a:t>
              </a:r>
            </a:p>
          </p:txBody>
        </p:sp>
        <p:sp>
          <p:nvSpPr>
            <p:cNvPr id="14" name="TextBox 13"/>
            <p:cNvSpPr txBox="1"/>
            <p:nvPr/>
          </p:nvSpPr>
          <p:spPr>
            <a:xfrm>
              <a:off x="2861634" y="1536192"/>
              <a:ext cx="5733725" cy="310896"/>
            </a:xfrm>
            <a:prstGeom prst="rect">
              <a:avLst/>
            </a:prstGeom>
            <a:noFill/>
          </p:spPr>
          <p:txBody>
            <a:bodyPr wrap="square" anchor="ctr" lIns="0" rIns="0" tIns="0" bIns="0">
              <a:spAutoFit/>
            </a:bodyPr>
            <a:lstStyle/>
            <a:p>
              <a:pPr algn="l">
                <a:spcAft>
                  <a:spcPts val="0"/>
                </a:spcAft>
              </a:pPr>
              <a:r>
                <a:rPr sz="1300" b="1" i="0">
                  <a:solidFill>
                    <a:srgbClr val="5B6585"/>
                  </a:solidFill>
                  <a:latin typeface="Open Sans"/>
                </a:rPr>
                <a:t>Ensayo técnico del motor · escenario sintético de Quito</a:t>
              </a:r>
            </a:p>
          </p:txBody>
        </p:sp>
      </p:grpSp>
      <p:grpSp>
        <p:nvGrpSpPr>
          <p:cNvPr id="15" name="Group 14"/>
          <p:cNvGrpSpPr/>
          <p:nvPr/>
        </p:nvGrpSpPr>
        <p:grpSpPr>
          <a:xfrm>
            <a:off x="685800" y="2011680"/>
            <a:ext cx="7772400" cy="603504"/>
            <a:chOff x="685800" y="2011680"/>
            <a:chExt cx="7772400" cy="603504"/>
          </a:xfrm>
        </p:grpSpPr>
        <p:sp>
          <p:nvSpPr>
            <p:cNvPr id="16" name="Rectangle 15"/>
            <p:cNvSpPr/>
            <p:nvPr/>
          </p:nvSpPr>
          <p:spPr>
            <a:xfrm>
              <a:off x="685800" y="2011680"/>
              <a:ext cx="2240280" cy="603504"/>
            </a:xfrm>
            <a:prstGeom prst="rect">
              <a:avLst/>
            </a:prstGeom>
            <a:solidFill>
              <a:srgbClr val="EDF0F7"/>
            </a:solidFill>
            <a:ln>
              <a:noFill/>
            </a:ln>
          </p:spPr>
          <p:txBody>
            <a:bodyPr rtlCol="0" anchor="ctr"/>
            <a:lstStyle/>
            <a:p>
              <a:pPr algn="ctr"/>
            </a:p>
          </p:txBody>
        </p:sp>
        <p:sp>
          <p:nvSpPr>
            <p:cNvPr id="17" name="TextBox 16"/>
            <p:cNvSpPr txBox="1"/>
            <p:nvPr/>
          </p:nvSpPr>
          <p:spPr>
            <a:xfrm>
              <a:off x="777240" y="2011680"/>
              <a:ext cx="2057400" cy="603504"/>
            </a:xfrm>
            <a:prstGeom prst="rect">
              <a:avLst/>
            </a:prstGeom>
            <a:noFill/>
          </p:spPr>
          <p:txBody>
            <a:bodyPr wrap="square" anchor="ctr" lIns="0" rIns="0" tIns="0" bIns="0">
              <a:spAutoFit/>
            </a:bodyPr>
            <a:lstStyle/>
            <a:p>
              <a:pPr algn="ctr">
                <a:lnSpc>
                  <a:spcPct val="90000"/>
                </a:lnSpc>
                <a:spcAft>
                  <a:spcPts val="0"/>
                </a:spcAft>
              </a:pPr>
              <a:r>
                <a:rPr sz="1500" b="1" i="0">
                  <a:solidFill>
                    <a:srgbClr val="242D57"/>
                  </a:solidFill>
                  <a:latin typeface="Oswald"/>
                </a:rPr>
                <a:t/>
              </a:r>
            </a:p>
          </p:txBody>
        </p:sp>
        <p:sp>
          <p:nvSpPr>
            <p:cNvPr id="18" name="Rectangle 17"/>
            <p:cNvSpPr/>
            <p:nvPr/>
          </p:nvSpPr>
          <p:spPr>
            <a:xfrm>
              <a:off x="2926080" y="2011680"/>
              <a:ext cx="1783080" cy="603504"/>
            </a:xfrm>
            <a:prstGeom prst="rect">
              <a:avLst/>
            </a:prstGeom>
            <a:solidFill>
              <a:srgbClr val="242D57"/>
            </a:solidFill>
            <a:ln>
              <a:noFill/>
            </a:ln>
          </p:spPr>
          <p:txBody>
            <a:bodyPr rtlCol="0" anchor="ctr"/>
            <a:lstStyle/>
            <a:p>
              <a:pPr algn="ctr"/>
            </a:p>
          </p:txBody>
        </p:sp>
        <p:sp>
          <p:nvSpPr>
            <p:cNvPr id="19" name="TextBox 18"/>
            <p:cNvSpPr txBox="1"/>
            <p:nvPr/>
          </p:nvSpPr>
          <p:spPr>
            <a:xfrm>
              <a:off x="3017520" y="2011680"/>
              <a:ext cx="1600200" cy="603504"/>
            </a:xfrm>
            <a:prstGeom prst="rect">
              <a:avLst/>
            </a:prstGeom>
            <a:noFill/>
          </p:spPr>
          <p:txBody>
            <a:bodyPr wrap="square" anchor="ctr" lIns="0" rIns="0" tIns="0" bIns="0">
              <a:spAutoFit/>
            </a:bodyPr>
            <a:lstStyle/>
            <a:p>
              <a:pPr algn="ctr">
                <a:lnSpc>
                  <a:spcPct val="90000"/>
                </a:lnSpc>
                <a:spcAft>
                  <a:spcPts val="0"/>
                </a:spcAft>
              </a:pPr>
              <a:r>
                <a:rPr sz="1500" b="1" i="0">
                  <a:solidFill>
                    <a:srgbClr val="FFFFFF"/>
                  </a:solidFill>
                  <a:latin typeface="Oswald"/>
                </a:rPr>
                <a:t>A · Flota propia</a:t>
              </a:r>
            </a:p>
          </p:txBody>
        </p:sp>
        <p:sp>
          <p:nvSpPr>
            <p:cNvPr id="20" name="Rectangle 19"/>
            <p:cNvSpPr/>
            <p:nvPr/>
          </p:nvSpPr>
          <p:spPr>
            <a:xfrm>
              <a:off x="4709160" y="2011680"/>
              <a:ext cx="1783080" cy="603504"/>
            </a:xfrm>
            <a:prstGeom prst="rect">
              <a:avLst/>
            </a:prstGeom>
            <a:solidFill>
              <a:srgbClr val="242D57"/>
            </a:solidFill>
            <a:ln>
              <a:noFill/>
            </a:ln>
          </p:spPr>
          <p:txBody>
            <a:bodyPr rtlCol="0" anchor="ctr"/>
            <a:lstStyle/>
            <a:p>
              <a:pPr algn="ctr"/>
            </a:p>
          </p:txBody>
        </p:sp>
        <p:sp>
          <p:nvSpPr>
            <p:cNvPr id="21" name="TextBox 20"/>
            <p:cNvSpPr txBox="1"/>
            <p:nvPr/>
          </p:nvSpPr>
          <p:spPr>
            <a:xfrm>
              <a:off x="4800600" y="2011680"/>
              <a:ext cx="1600200" cy="603504"/>
            </a:xfrm>
            <a:prstGeom prst="rect">
              <a:avLst/>
            </a:prstGeom>
            <a:noFill/>
          </p:spPr>
          <p:txBody>
            <a:bodyPr wrap="square" anchor="ctr" lIns="0" rIns="0" tIns="0" bIns="0">
              <a:spAutoFit/>
            </a:bodyPr>
            <a:lstStyle/>
            <a:p>
              <a:pPr algn="ctr">
                <a:lnSpc>
                  <a:spcPct val="90000"/>
                </a:lnSpc>
                <a:spcAft>
                  <a:spcPts val="0"/>
                </a:spcAft>
              </a:pPr>
              <a:r>
                <a:rPr sz="1500" b="1" i="0">
                  <a:solidFill>
                    <a:srgbClr val="FFFFFF"/>
                  </a:solidFill>
                  <a:latin typeface="Oswald"/>
                </a:rPr>
                <a:t>B · Propia, críticos primero</a:t>
              </a:r>
            </a:p>
          </p:txBody>
        </p:sp>
        <p:sp>
          <p:nvSpPr>
            <p:cNvPr id="22" name="Rectangle 21"/>
            <p:cNvSpPr/>
            <p:nvPr/>
          </p:nvSpPr>
          <p:spPr>
            <a:xfrm>
              <a:off x="6492240" y="2011680"/>
              <a:ext cx="1965960" cy="603504"/>
            </a:xfrm>
            <a:prstGeom prst="rect">
              <a:avLst/>
            </a:prstGeom>
            <a:solidFill>
              <a:srgbClr val="C4A857"/>
            </a:solidFill>
            <a:ln>
              <a:noFill/>
            </a:ln>
          </p:spPr>
          <p:txBody>
            <a:bodyPr rtlCol="0" anchor="ctr"/>
            <a:lstStyle/>
            <a:p>
              <a:pPr algn="ctr"/>
            </a:p>
          </p:txBody>
        </p:sp>
        <p:sp>
          <p:nvSpPr>
            <p:cNvPr id="23" name="TextBox 22"/>
            <p:cNvSpPr txBox="1"/>
            <p:nvPr/>
          </p:nvSpPr>
          <p:spPr>
            <a:xfrm>
              <a:off x="6583680" y="2011680"/>
              <a:ext cx="1783080" cy="603504"/>
            </a:xfrm>
            <a:prstGeom prst="rect">
              <a:avLst/>
            </a:prstGeom>
            <a:noFill/>
          </p:spPr>
          <p:txBody>
            <a:bodyPr wrap="square" anchor="ctr" lIns="0" rIns="0" tIns="0" bIns="0">
              <a:spAutoFit/>
            </a:bodyPr>
            <a:lstStyle/>
            <a:p>
              <a:pPr algn="ctr">
                <a:lnSpc>
                  <a:spcPct val="90000"/>
                </a:lnSpc>
                <a:spcAft>
                  <a:spcPts val="0"/>
                </a:spcAft>
              </a:pPr>
              <a:r>
                <a:rPr sz="1500" b="1" i="0">
                  <a:solidFill>
                    <a:srgbClr val="162451"/>
                  </a:solidFill>
                  <a:latin typeface="Oswald"/>
                </a:rPr>
                <a:t>C · Operador contratado</a:t>
              </a:r>
            </a:p>
          </p:txBody>
        </p:sp>
      </p:grpSp>
      <p:pic>
        <p:nvPicPr>
          <p:cNvPr id="24" name="Picture 23" descr="chillo-medio-cuerpo.png"/>
          <p:cNvPicPr>
            <a:picLocks noChangeAspect="1"/>
          </p:cNvPicPr>
          <p:nvPr/>
        </p:nvPicPr>
        <p:blipFill>
          <a:blip r:embed="rId3"/>
          <a:stretch>
            <a:fillRect/>
          </a:stretch>
        </p:blipFill>
        <p:spPr>
          <a:xfrm>
            <a:off x="9601200" y="3804013"/>
            <a:ext cx="2377440" cy="3053986"/>
          </a:xfrm>
          <a:prstGeom prst="rect">
            <a:avLst/>
          </a:prstGeom>
        </p:spPr>
      </p:pic>
      <p:grpSp>
        <p:nvGrpSpPr>
          <p:cNvPr id="25" name="Group 24"/>
          <p:cNvGrpSpPr/>
          <p:nvPr/>
        </p:nvGrpSpPr>
        <p:grpSpPr>
          <a:xfrm>
            <a:off x="685800" y="2615184"/>
            <a:ext cx="7772400" cy="457200"/>
            <a:chOff x="685800" y="2615184"/>
            <a:chExt cx="7772400" cy="457200"/>
          </a:xfrm>
        </p:grpSpPr>
        <p:sp>
          <p:nvSpPr>
            <p:cNvPr id="26" name="Rectangle 25"/>
            <p:cNvSpPr/>
            <p:nvPr/>
          </p:nvSpPr>
          <p:spPr>
            <a:xfrm>
              <a:off x="685800" y="2615184"/>
              <a:ext cx="2240280" cy="457200"/>
            </a:xfrm>
            <a:prstGeom prst="rect">
              <a:avLst/>
            </a:prstGeom>
            <a:solidFill>
              <a:srgbClr val="FFFFFF"/>
            </a:solidFill>
            <a:ln>
              <a:noFill/>
            </a:ln>
          </p:spPr>
          <p:txBody>
            <a:bodyPr rtlCol="0" anchor="ctr"/>
            <a:lstStyle/>
            <a:p>
              <a:pPr algn="ctr"/>
            </a:p>
          </p:txBody>
        </p:sp>
        <p:sp>
          <p:nvSpPr>
            <p:cNvPr id="27" name="TextBox 26"/>
            <p:cNvSpPr txBox="1"/>
            <p:nvPr/>
          </p:nvSpPr>
          <p:spPr>
            <a:xfrm>
              <a:off x="868680" y="2615184"/>
              <a:ext cx="2011680" cy="457200"/>
            </a:xfrm>
            <a:prstGeom prst="rect">
              <a:avLst/>
            </a:prstGeom>
            <a:noFill/>
          </p:spPr>
          <p:txBody>
            <a:bodyPr wrap="square" anchor="ctr" lIns="0" rIns="0" tIns="0" bIns="0">
              <a:spAutoFit/>
            </a:bodyPr>
            <a:lstStyle/>
            <a:p>
              <a:pPr algn="l">
                <a:spcAft>
                  <a:spcPts val="0"/>
                </a:spcAft>
              </a:pPr>
              <a:r>
                <a:rPr sz="1400" b="1" i="0">
                  <a:solidFill>
                    <a:srgbClr val="242D57"/>
                  </a:solidFill>
                  <a:latin typeface="Open Sans"/>
                </a:rPr>
                <a:t>Críticos a tiempo</a:t>
              </a:r>
            </a:p>
          </p:txBody>
        </p:sp>
        <p:sp>
          <p:nvSpPr>
            <p:cNvPr id="28" name="Rectangle 27"/>
            <p:cNvSpPr/>
            <p:nvPr/>
          </p:nvSpPr>
          <p:spPr>
            <a:xfrm>
              <a:off x="2926080" y="2615184"/>
              <a:ext cx="1783080" cy="457200"/>
            </a:xfrm>
            <a:prstGeom prst="rect">
              <a:avLst/>
            </a:prstGeom>
            <a:solidFill>
              <a:srgbClr val="FFFFFF"/>
            </a:solidFill>
            <a:ln>
              <a:noFill/>
            </a:ln>
          </p:spPr>
          <p:txBody>
            <a:bodyPr rtlCol="0" anchor="ctr"/>
            <a:lstStyle/>
            <a:p>
              <a:pPr algn="ctr"/>
            </a:p>
          </p:txBody>
        </p:sp>
        <p:sp>
          <p:nvSpPr>
            <p:cNvPr id="29" name="TextBox 28"/>
            <p:cNvSpPr txBox="1"/>
            <p:nvPr/>
          </p:nvSpPr>
          <p:spPr>
            <a:xfrm>
              <a:off x="3017520" y="26151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83 % (5 de 6)</a:t>
              </a:r>
            </a:p>
          </p:txBody>
        </p:sp>
        <p:sp>
          <p:nvSpPr>
            <p:cNvPr id="30" name="Rectangle 29"/>
            <p:cNvSpPr/>
            <p:nvPr/>
          </p:nvSpPr>
          <p:spPr>
            <a:xfrm>
              <a:off x="4709160" y="2615184"/>
              <a:ext cx="1783080" cy="457200"/>
            </a:xfrm>
            <a:prstGeom prst="rect">
              <a:avLst/>
            </a:prstGeom>
            <a:solidFill>
              <a:srgbClr val="FFFFFF"/>
            </a:solidFill>
            <a:ln>
              <a:noFill/>
            </a:ln>
          </p:spPr>
          <p:txBody>
            <a:bodyPr rtlCol="0" anchor="ctr"/>
            <a:lstStyle/>
            <a:p>
              <a:pPr algn="ctr"/>
            </a:p>
          </p:txBody>
        </p:sp>
        <p:sp>
          <p:nvSpPr>
            <p:cNvPr id="31" name="TextBox 30"/>
            <p:cNvSpPr txBox="1"/>
            <p:nvPr/>
          </p:nvSpPr>
          <p:spPr>
            <a:xfrm>
              <a:off x="4800600" y="26151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100 % (6 de 6)</a:t>
              </a:r>
            </a:p>
          </p:txBody>
        </p:sp>
        <p:sp>
          <p:nvSpPr>
            <p:cNvPr id="32" name="Rectangle 31"/>
            <p:cNvSpPr/>
            <p:nvPr/>
          </p:nvSpPr>
          <p:spPr>
            <a:xfrm>
              <a:off x="6492240" y="2615184"/>
              <a:ext cx="1965960" cy="457200"/>
            </a:xfrm>
            <a:prstGeom prst="rect">
              <a:avLst/>
            </a:prstGeom>
            <a:solidFill>
              <a:srgbClr val="F7F1DF"/>
            </a:solidFill>
            <a:ln>
              <a:noFill/>
            </a:ln>
          </p:spPr>
          <p:txBody>
            <a:bodyPr rtlCol="0" anchor="ctr"/>
            <a:lstStyle/>
            <a:p>
              <a:pPr algn="ctr"/>
            </a:p>
          </p:txBody>
        </p:sp>
        <p:sp>
          <p:nvSpPr>
            <p:cNvPr id="33" name="TextBox 32"/>
            <p:cNvSpPr txBox="1"/>
            <p:nvPr/>
          </p:nvSpPr>
          <p:spPr>
            <a:xfrm>
              <a:off x="6583680" y="2615184"/>
              <a:ext cx="1783080" cy="457200"/>
            </a:xfrm>
            <a:prstGeom prst="rect">
              <a:avLst/>
            </a:prstGeom>
            <a:noFill/>
          </p:spPr>
          <p:txBody>
            <a:bodyPr wrap="square" anchor="ctr" lIns="0" rIns="0" tIns="0" bIns="0">
              <a:spAutoFit/>
            </a:bodyPr>
            <a:lstStyle/>
            <a:p>
              <a:pPr algn="ctr">
                <a:spcAft>
                  <a:spcPts val="0"/>
                </a:spcAft>
              </a:pPr>
              <a:r>
                <a:rPr sz="1800" b="1" i="0">
                  <a:solidFill>
                    <a:srgbClr val="7D6520"/>
                  </a:solidFill>
                  <a:latin typeface="Oswald"/>
                </a:rPr>
                <a:t>100 % (6 de 6)</a:t>
              </a:r>
            </a:p>
          </p:txBody>
        </p:sp>
        <p:sp>
          <p:nvSpPr>
            <p:cNvPr id="34" name="Rectangle 33"/>
            <p:cNvSpPr/>
            <p:nvPr/>
          </p:nvSpPr>
          <p:spPr>
            <a:xfrm>
              <a:off x="685800" y="3061411"/>
              <a:ext cx="7772400" cy="10972"/>
            </a:xfrm>
            <a:prstGeom prst="rect">
              <a:avLst/>
            </a:prstGeom>
            <a:solidFill>
              <a:srgbClr val="D5DBEA"/>
            </a:solidFill>
            <a:ln>
              <a:noFill/>
            </a:ln>
          </p:spPr>
          <p:txBody>
            <a:bodyPr rtlCol="0" anchor="ctr"/>
            <a:lstStyle/>
            <a:p>
              <a:pPr algn="ctr"/>
            </a:p>
          </p:txBody>
        </p:sp>
      </p:grpSp>
      <p:grpSp>
        <p:nvGrpSpPr>
          <p:cNvPr id="35" name="Group 34"/>
          <p:cNvGrpSpPr/>
          <p:nvPr/>
        </p:nvGrpSpPr>
        <p:grpSpPr>
          <a:xfrm>
            <a:off x="685800" y="3072384"/>
            <a:ext cx="7772400" cy="457200"/>
            <a:chOff x="685800" y="3072384"/>
            <a:chExt cx="7772400" cy="457200"/>
          </a:xfrm>
        </p:grpSpPr>
        <p:sp>
          <p:nvSpPr>
            <p:cNvPr id="36" name="Rectangle 35"/>
            <p:cNvSpPr/>
            <p:nvPr/>
          </p:nvSpPr>
          <p:spPr>
            <a:xfrm>
              <a:off x="685800" y="3072384"/>
              <a:ext cx="2240280" cy="457200"/>
            </a:xfrm>
            <a:prstGeom prst="rect">
              <a:avLst/>
            </a:prstGeom>
            <a:solidFill>
              <a:srgbClr val="EDF0F7"/>
            </a:solidFill>
            <a:ln>
              <a:noFill/>
            </a:ln>
          </p:spPr>
          <p:txBody>
            <a:bodyPr rtlCol="0" anchor="ctr"/>
            <a:lstStyle/>
            <a:p>
              <a:pPr algn="ctr"/>
            </a:p>
          </p:txBody>
        </p:sp>
        <p:sp>
          <p:nvSpPr>
            <p:cNvPr id="37" name="TextBox 36"/>
            <p:cNvSpPr txBox="1"/>
            <p:nvPr/>
          </p:nvSpPr>
          <p:spPr>
            <a:xfrm>
              <a:off x="868680" y="3072384"/>
              <a:ext cx="2011680" cy="457200"/>
            </a:xfrm>
            <a:prstGeom prst="rect">
              <a:avLst/>
            </a:prstGeom>
            <a:noFill/>
          </p:spPr>
          <p:txBody>
            <a:bodyPr wrap="square" anchor="ctr" lIns="0" rIns="0" tIns="0" bIns="0">
              <a:spAutoFit/>
            </a:bodyPr>
            <a:lstStyle/>
            <a:p>
              <a:pPr algn="l">
                <a:spcAft>
                  <a:spcPts val="0"/>
                </a:spcAft>
              </a:pPr>
              <a:r>
                <a:rPr sz="1400" b="1" i="0">
                  <a:solidFill>
                    <a:srgbClr val="242D57"/>
                  </a:solidFill>
                  <a:latin typeface="Open Sans"/>
                </a:rPr>
                <a:t>Costo frente a A</a:t>
              </a:r>
            </a:p>
          </p:txBody>
        </p:sp>
        <p:sp>
          <p:nvSpPr>
            <p:cNvPr id="38" name="Rectangle 37"/>
            <p:cNvSpPr/>
            <p:nvPr/>
          </p:nvSpPr>
          <p:spPr>
            <a:xfrm>
              <a:off x="2926080" y="3072384"/>
              <a:ext cx="1783080" cy="457200"/>
            </a:xfrm>
            <a:prstGeom prst="rect">
              <a:avLst/>
            </a:prstGeom>
            <a:solidFill>
              <a:srgbClr val="EDF0F7"/>
            </a:solidFill>
            <a:ln>
              <a:noFill/>
            </a:ln>
          </p:spPr>
          <p:txBody>
            <a:bodyPr rtlCol="0" anchor="ctr"/>
            <a:lstStyle/>
            <a:p>
              <a:pPr algn="ctr"/>
            </a:p>
          </p:txBody>
        </p:sp>
        <p:sp>
          <p:nvSpPr>
            <p:cNvPr id="39" name="TextBox 38"/>
            <p:cNvSpPr txBox="1"/>
            <p:nvPr/>
          </p:nvSpPr>
          <p:spPr>
            <a:xfrm>
              <a:off x="3017520" y="30723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base</a:t>
              </a:r>
            </a:p>
          </p:txBody>
        </p:sp>
        <p:sp>
          <p:nvSpPr>
            <p:cNvPr id="40" name="Rectangle 39"/>
            <p:cNvSpPr/>
            <p:nvPr/>
          </p:nvSpPr>
          <p:spPr>
            <a:xfrm>
              <a:off x="4709160" y="3072384"/>
              <a:ext cx="1783080" cy="457200"/>
            </a:xfrm>
            <a:prstGeom prst="rect">
              <a:avLst/>
            </a:prstGeom>
            <a:solidFill>
              <a:srgbClr val="EDF0F7"/>
            </a:solidFill>
            <a:ln>
              <a:noFill/>
            </a:ln>
          </p:spPr>
          <p:txBody>
            <a:bodyPr rtlCol="0" anchor="ctr"/>
            <a:lstStyle/>
            <a:p>
              <a:pPr algn="ctr"/>
            </a:p>
          </p:txBody>
        </p:sp>
        <p:sp>
          <p:nvSpPr>
            <p:cNvPr id="41" name="TextBox 40"/>
            <p:cNvSpPr txBox="1"/>
            <p:nvPr/>
          </p:nvSpPr>
          <p:spPr>
            <a:xfrm>
              <a:off x="4800600" y="30723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+20,7 %</a:t>
              </a:r>
            </a:p>
          </p:txBody>
        </p:sp>
        <p:sp>
          <p:nvSpPr>
            <p:cNvPr id="42" name="Rectangle 41"/>
            <p:cNvSpPr/>
            <p:nvPr/>
          </p:nvSpPr>
          <p:spPr>
            <a:xfrm>
              <a:off x="6492240" y="3072384"/>
              <a:ext cx="1965960" cy="457200"/>
            </a:xfrm>
            <a:prstGeom prst="rect">
              <a:avLst/>
            </a:prstGeom>
            <a:solidFill>
              <a:srgbClr val="F1E8CB"/>
            </a:solidFill>
            <a:ln>
              <a:noFill/>
            </a:ln>
          </p:spPr>
          <p:txBody>
            <a:bodyPr rtlCol="0" anchor="ctr"/>
            <a:lstStyle/>
            <a:p>
              <a:pPr algn="ctr"/>
            </a:p>
          </p:txBody>
        </p:sp>
        <p:sp>
          <p:nvSpPr>
            <p:cNvPr id="43" name="TextBox 42"/>
            <p:cNvSpPr txBox="1"/>
            <p:nvPr/>
          </p:nvSpPr>
          <p:spPr>
            <a:xfrm>
              <a:off x="6583680" y="3072384"/>
              <a:ext cx="1783080" cy="457200"/>
            </a:xfrm>
            <a:prstGeom prst="rect">
              <a:avLst/>
            </a:prstGeom>
            <a:noFill/>
          </p:spPr>
          <p:txBody>
            <a:bodyPr wrap="square" anchor="ctr" lIns="0" rIns="0" tIns="0" bIns="0">
              <a:spAutoFit/>
            </a:bodyPr>
            <a:lstStyle/>
            <a:p>
              <a:pPr algn="ctr">
                <a:spcAft>
                  <a:spcPts val="0"/>
                </a:spcAft>
              </a:pPr>
              <a:r>
                <a:rPr sz="1800" b="1" i="0">
                  <a:solidFill>
                    <a:srgbClr val="7D6520"/>
                  </a:solidFill>
                  <a:latin typeface="Oswald"/>
                </a:rPr>
                <a:t>+15,6 %</a:t>
              </a:r>
            </a:p>
          </p:txBody>
        </p:sp>
        <p:sp>
          <p:nvSpPr>
            <p:cNvPr id="44" name="Rectangle 43"/>
            <p:cNvSpPr/>
            <p:nvPr/>
          </p:nvSpPr>
          <p:spPr>
            <a:xfrm>
              <a:off x="685800" y="3518611"/>
              <a:ext cx="7772400" cy="10972"/>
            </a:xfrm>
            <a:prstGeom prst="rect">
              <a:avLst/>
            </a:prstGeom>
            <a:solidFill>
              <a:srgbClr val="D5DBEA"/>
            </a:solidFill>
            <a:ln>
              <a:noFill/>
            </a:ln>
          </p:spPr>
          <p:txBody>
            <a:bodyPr rtlCol="0" anchor="ctr"/>
            <a:lstStyle/>
            <a:p>
              <a:pPr algn="ctr"/>
            </a:p>
          </p:txBody>
        </p:sp>
      </p:grpSp>
      <p:grpSp>
        <p:nvGrpSpPr>
          <p:cNvPr id="45" name="Group 44"/>
          <p:cNvGrpSpPr/>
          <p:nvPr/>
        </p:nvGrpSpPr>
        <p:grpSpPr>
          <a:xfrm>
            <a:off x="685800" y="3529584"/>
            <a:ext cx="7772400" cy="457200"/>
            <a:chOff x="685800" y="3529584"/>
            <a:chExt cx="7772400" cy="457200"/>
          </a:xfrm>
        </p:grpSpPr>
        <p:sp>
          <p:nvSpPr>
            <p:cNvPr id="46" name="Rectangle 45"/>
            <p:cNvSpPr/>
            <p:nvPr/>
          </p:nvSpPr>
          <p:spPr>
            <a:xfrm>
              <a:off x="685800" y="3529584"/>
              <a:ext cx="2240280" cy="457200"/>
            </a:xfrm>
            <a:prstGeom prst="rect">
              <a:avLst/>
            </a:prstGeom>
            <a:solidFill>
              <a:srgbClr val="FFFFFF"/>
            </a:solidFill>
            <a:ln>
              <a:noFill/>
            </a:ln>
          </p:spPr>
          <p:txBody>
            <a:bodyPr rtlCol="0" anchor="ctr"/>
            <a:lstStyle/>
            <a:p>
              <a:pPr algn="ctr"/>
            </a:p>
          </p:txBody>
        </p:sp>
        <p:sp>
          <p:nvSpPr>
            <p:cNvPr id="47" name="TextBox 46"/>
            <p:cNvSpPr txBox="1"/>
            <p:nvPr/>
          </p:nvSpPr>
          <p:spPr>
            <a:xfrm>
              <a:off x="868680" y="3529584"/>
              <a:ext cx="2011680" cy="457200"/>
            </a:xfrm>
            <a:prstGeom prst="rect">
              <a:avLst/>
            </a:prstGeom>
            <a:noFill/>
          </p:spPr>
          <p:txBody>
            <a:bodyPr wrap="square" anchor="ctr" lIns="0" rIns="0" tIns="0" bIns="0">
              <a:spAutoFit/>
            </a:bodyPr>
            <a:lstStyle/>
            <a:p>
              <a:pPr algn="l">
                <a:spcAft>
                  <a:spcPts val="0"/>
                </a:spcAft>
              </a:pPr>
              <a:r>
                <a:rPr sz="1400" b="1" i="0">
                  <a:solidFill>
                    <a:srgbClr val="242D57"/>
                  </a:solidFill>
                  <a:latin typeface="Open Sans"/>
                </a:rPr>
                <a:t>Puntaje del motor</a:t>
              </a:r>
            </a:p>
          </p:txBody>
        </p:sp>
        <p:sp>
          <p:nvSpPr>
            <p:cNvPr id="48" name="Rectangle 47"/>
            <p:cNvSpPr/>
            <p:nvPr/>
          </p:nvSpPr>
          <p:spPr>
            <a:xfrm>
              <a:off x="2926080" y="3529584"/>
              <a:ext cx="1783080" cy="457200"/>
            </a:xfrm>
            <a:prstGeom prst="rect">
              <a:avLst/>
            </a:prstGeom>
            <a:solidFill>
              <a:srgbClr val="FFFFFF"/>
            </a:solidFill>
            <a:ln>
              <a:noFill/>
            </a:ln>
          </p:spPr>
          <p:txBody>
            <a:bodyPr rtlCol="0" anchor="ctr"/>
            <a:lstStyle/>
            <a:p>
              <a:pPr algn="ctr"/>
            </a:p>
          </p:txBody>
        </p:sp>
        <p:sp>
          <p:nvSpPr>
            <p:cNvPr id="49" name="TextBox 48"/>
            <p:cNvSpPr txBox="1"/>
            <p:nvPr/>
          </p:nvSpPr>
          <p:spPr>
            <a:xfrm>
              <a:off x="3017520" y="35295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81,7</a:t>
              </a:r>
            </a:p>
          </p:txBody>
        </p:sp>
        <p:sp>
          <p:nvSpPr>
            <p:cNvPr id="50" name="Rectangle 49"/>
            <p:cNvSpPr/>
            <p:nvPr/>
          </p:nvSpPr>
          <p:spPr>
            <a:xfrm>
              <a:off x="4709160" y="3529584"/>
              <a:ext cx="1783080" cy="457200"/>
            </a:xfrm>
            <a:prstGeom prst="rect">
              <a:avLst/>
            </a:prstGeom>
            <a:solidFill>
              <a:srgbClr val="FFFFFF"/>
            </a:solidFill>
            <a:ln>
              <a:noFill/>
            </a:ln>
          </p:spPr>
          <p:txBody>
            <a:bodyPr rtlCol="0" anchor="ctr"/>
            <a:lstStyle/>
            <a:p>
              <a:pPr algn="ctr"/>
            </a:p>
          </p:txBody>
        </p:sp>
        <p:sp>
          <p:nvSpPr>
            <p:cNvPr id="51" name="TextBox 50"/>
            <p:cNvSpPr txBox="1"/>
            <p:nvPr/>
          </p:nvSpPr>
          <p:spPr>
            <a:xfrm>
              <a:off x="4800600" y="3529584"/>
              <a:ext cx="1600200" cy="457200"/>
            </a:xfrm>
            <a:prstGeom prst="rect">
              <a:avLst/>
            </a:prstGeom>
            <a:noFill/>
          </p:spPr>
          <p:txBody>
            <a:bodyPr wrap="square" anchor="ctr" lIns="0" rIns="0" tIns="0" bIns="0">
              <a:spAutoFit/>
            </a:bodyPr>
            <a:lstStyle/>
            <a:p>
              <a:pPr algn="ctr">
                <a:spcAft>
                  <a:spcPts val="0"/>
                </a:spcAft>
              </a:pPr>
              <a:r>
                <a:rPr sz="1800" b="1" i="0">
                  <a:solidFill>
                    <a:srgbClr val="242D57"/>
                  </a:solidFill>
                  <a:latin typeface="Oswald"/>
                </a:rPr>
                <a:t>89,1</a:t>
              </a:r>
            </a:p>
          </p:txBody>
        </p:sp>
        <p:sp>
          <p:nvSpPr>
            <p:cNvPr id="52" name="Rectangle 51"/>
            <p:cNvSpPr/>
            <p:nvPr/>
          </p:nvSpPr>
          <p:spPr>
            <a:xfrm>
              <a:off x="6492240" y="3529584"/>
              <a:ext cx="1965960" cy="457200"/>
            </a:xfrm>
            <a:prstGeom prst="rect">
              <a:avLst/>
            </a:prstGeom>
            <a:solidFill>
              <a:srgbClr val="F7F1DF"/>
            </a:solidFill>
            <a:ln>
              <a:noFill/>
            </a:ln>
          </p:spPr>
          <p:txBody>
            <a:bodyPr rtlCol="0" anchor="ctr"/>
            <a:lstStyle/>
            <a:p>
              <a:pPr algn="ctr"/>
            </a:p>
          </p:txBody>
        </p:sp>
        <p:sp>
          <p:nvSpPr>
            <p:cNvPr id="53" name="TextBox 52"/>
            <p:cNvSpPr txBox="1"/>
            <p:nvPr/>
          </p:nvSpPr>
          <p:spPr>
            <a:xfrm>
              <a:off x="6583680" y="3529584"/>
              <a:ext cx="1783080" cy="457200"/>
            </a:xfrm>
            <a:prstGeom prst="rect">
              <a:avLst/>
            </a:prstGeom>
            <a:noFill/>
          </p:spPr>
          <p:txBody>
            <a:bodyPr wrap="square" anchor="ctr" lIns="0" rIns="0" tIns="0" bIns="0">
              <a:spAutoFit/>
            </a:bodyPr>
            <a:lstStyle/>
            <a:p>
              <a:pPr algn="ctr">
                <a:spcAft>
                  <a:spcPts val="0"/>
                </a:spcAft>
              </a:pPr>
              <a:r>
                <a:rPr sz="1800" b="1" i="0">
                  <a:solidFill>
                    <a:srgbClr val="7D6520"/>
                  </a:solidFill>
                  <a:latin typeface="Oswald"/>
                </a:rPr>
                <a:t>90,8</a:t>
              </a:r>
            </a:p>
          </p:txBody>
        </p:sp>
        <p:sp>
          <p:nvSpPr>
            <p:cNvPr id="54" name="Rectangle 53"/>
            <p:cNvSpPr/>
            <p:nvPr/>
          </p:nvSpPr>
          <p:spPr>
            <a:xfrm>
              <a:off x="685800" y="3975811"/>
              <a:ext cx="7772400" cy="10972"/>
            </a:xfrm>
            <a:prstGeom prst="rect">
              <a:avLst/>
            </a:prstGeom>
            <a:solidFill>
              <a:srgbClr val="D5DBEA"/>
            </a:solidFill>
            <a:ln>
              <a:noFill/>
            </a:ln>
          </p:spPr>
          <p:txBody>
            <a:bodyPr rtlCol="0" anchor="ctr"/>
            <a:lstStyle/>
            <a:p>
              <a:pPr algn="ctr"/>
            </a:p>
          </p:txBody>
        </p:sp>
      </p:grpSp>
      <p:grpSp>
        <p:nvGrpSpPr>
          <p:cNvPr id="55" name="Group 54"/>
          <p:cNvGrpSpPr/>
          <p:nvPr/>
        </p:nvGrpSpPr>
        <p:grpSpPr>
          <a:xfrm>
            <a:off x="685800" y="3986784"/>
            <a:ext cx="7772400" cy="585216"/>
            <a:chOff x="685800" y="3986784"/>
            <a:chExt cx="7772400" cy="585216"/>
          </a:xfrm>
        </p:grpSpPr>
        <p:sp>
          <p:nvSpPr>
            <p:cNvPr id="56" name="Rectangle 55"/>
            <p:cNvSpPr/>
            <p:nvPr/>
          </p:nvSpPr>
          <p:spPr>
            <a:xfrm>
              <a:off x="685800" y="3986784"/>
              <a:ext cx="2240280" cy="585216"/>
            </a:xfrm>
            <a:prstGeom prst="rect">
              <a:avLst/>
            </a:prstGeom>
            <a:solidFill>
              <a:srgbClr val="F7F1DF"/>
            </a:solidFill>
            <a:ln>
              <a:noFill/>
            </a:ln>
          </p:spPr>
          <p:txBody>
            <a:bodyPr rtlCol="0" anchor="ctr"/>
            <a:lstStyle/>
            <a:p>
              <a:pPr algn="ctr"/>
            </a:p>
          </p:txBody>
        </p:sp>
        <p:sp>
          <p:nvSpPr>
            <p:cNvPr id="57" name="TextBox 56"/>
            <p:cNvSpPr txBox="1"/>
            <p:nvPr/>
          </p:nvSpPr>
          <p:spPr>
            <a:xfrm>
              <a:off x="868680" y="3986784"/>
              <a:ext cx="2011680" cy="585216"/>
            </a:xfrm>
            <a:prstGeom prst="rect">
              <a:avLst/>
            </a:prstGeom>
            <a:noFill/>
          </p:spPr>
          <p:txBody>
            <a:bodyPr wrap="square" anchor="ctr" lIns="0" rIns="0" tIns="0" bIns="0">
              <a:spAutoFit/>
            </a:bodyPr>
            <a:lstStyle/>
            <a:p>
              <a:pPr algn="l">
                <a:spcAft>
                  <a:spcPts val="0"/>
                </a:spcAft>
              </a:pPr>
              <a:r>
                <a:rPr sz="1400" b="1" i="0">
                  <a:solidFill>
                    <a:srgbClr val="242D57"/>
                  </a:solidFill>
                  <a:latin typeface="Open Sans"/>
                </a:rPr>
                <a:t>Costo total estimado</a:t>
              </a:r>
            </a:p>
          </p:txBody>
        </p:sp>
        <p:sp>
          <p:nvSpPr>
            <p:cNvPr id="58" name="Rectangle 57"/>
            <p:cNvSpPr/>
            <p:nvPr/>
          </p:nvSpPr>
          <p:spPr>
            <a:xfrm>
              <a:off x="2926080" y="3986784"/>
              <a:ext cx="1783080" cy="585216"/>
            </a:xfrm>
            <a:prstGeom prst="rect">
              <a:avLst/>
            </a:prstGeom>
            <a:solidFill>
              <a:srgbClr val="F7F1DF"/>
            </a:solidFill>
            <a:ln>
              <a:noFill/>
            </a:ln>
          </p:spPr>
          <p:txBody>
            <a:bodyPr rtlCol="0" anchor="ctr"/>
            <a:lstStyle/>
            <a:p>
              <a:pPr algn="ctr"/>
            </a:p>
          </p:txBody>
        </p:sp>
        <p:sp>
          <p:nvSpPr>
            <p:cNvPr id="59" name="TextBox 58"/>
            <p:cNvSpPr txBox="1"/>
            <p:nvPr/>
          </p:nvSpPr>
          <p:spPr>
            <a:xfrm>
              <a:off x="3017520" y="3986784"/>
              <a:ext cx="1600200" cy="585216"/>
            </a:xfrm>
            <a:prstGeom prst="rect">
              <a:avLst/>
            </a:prstGeom>
            <a:noFill/>
          </p:spPr>
          <p:txBody>
            <a:bodyPr wrap="square" anchor="ctr" lIns="0" rIns="0" tIns="0" bIns="0">
              <a:spAutoFit/>
            </a:bodyPr>
            <a:lstStyle/>
            <a:p>
              <a:pPr algn="ctr">
                <a:spcAft>
                  <a:spcPts val="0"/>
                </a:spcAft>
              </a:pPr>
              <a:r>
                <a:rPr sz="2400" b="1" i="0">
                  <a:solidFill>
                    <a:srgbClr val="242D57"/>
                  </a:solidFill>
                  <a:latin typeface="Oswald"/>
                </a:rPr>
                <a:t>USD 57,89</a:t>
              </a:r>
            </a:p>
          </p:txBody>
        </p:sp>
        <p:sp>
          <p:nvSpPr>
            <p:cNvPr id="60" name="Rectangle 59"/>
            <p:cNvSpPr/>
            <p:nvPr/>
          </p:nvSpPr>
          <p:spPr>
            <a:xfrm>
              <a:off x="4709160" y="3986784"/>
              <a:ext cx="1783080" cy="585216"/>
            </a:xfrm>
            <a:prstGeom prst="rect">
              <a:avLst/>
            </a:prstGeom>
            <a:solidFill>
              <a:srgbClr val="F7F1DF"/>
            </a:solidFill>
            <a:ln>
              <a:noFill/>
            </a:ln>
          </p:spPr>
          <p:txBody>
            <a:bodyPr rtlCol="0" anchor="ctr"/>
            <a:lstStyle/>
            <a:p>
              <a:pPr algn="ctr"/>
            </a:p>
          </p:txBody>
        </p:sp>
        <p:sp>
          <p:nvSpPr>
            <p:cNvPr id="61" name="TextBox 60"/>
            <p:cNvSpPr txBox="1"/>
            <p:nvPr/>
          </p:nvSpPr>
          <p:spPr>
            <a:xfrm>
              <a:off x="4800600" y="3986784"/>
              <a:ext cx="1600200" cy="585216"/>
            </a:xfrm>
            <a:prstGeom prst="rect">
              <a:avLst/>
            </a:prstGeom>
            <a:noFill/>
          </p:spPr>
          <p:txBody>
            <a:bodyPr wrap="square" anchor="ctr" lIns="0" rIns="0" tIns="0" bIns="0">
              <a:spAutoFit/>
            </a:bodyPr>
            <a:lstStyle/>
            <a:p>
              <a:pPr algn="ctr">
                <a:spcAft>
                  <a:spcPts val="0"/>
                </a:spcAft>
              </a:pPr>
              <a:r>
                <a:rPr sz="2400" b="1" i="0">
                  <a:solidFill>
                    <a:srgbClr val="242D57"/>
                  </a:solidFill>
                  <a:latin typeface="Oswald"/>
                </a:rPr>
                <a:t>USD 69,89</a:t>
              </a:r>
            </a:p>
          </p:txBody>
        </p:sp>
        <p:sp>
          <p:nvSpPr>
            <p:cNvPr id="62" name="Rectangle 61"/>
            <p:cNvSpPr/>
            <p:nvPr/>
          </p:nvSpPr>
          <p:spPr>
            <a:xfrm>
              <a:off x="6492240" y="3986784"/>
              <a:ext cx="1965960" cy="585216"/>
            </a:xfrm>
            <a:prstGeom prst="rect">
              <a:avLst/>
            </a:prstGeom>
            <a:solidFill>
              <a:srgbClr val="F7F1DF"/>
            </a:solidFill>
            <a:ln>
              <a:noFill/>
            </a:ln>
          </p:spPr>
          <p:txBody>
            <a:bodyPr rtlCol="0" anchor="ctr"/>
            <a:lstStyle/>
            <a:p>
              <a:pPr algn="ctr"/>
            </a:p>
          </p:txBody>
        </p:sp>
        <p:sp>
          <p:nvSpPr>
            <p:cNvPr id="63" name="TextBox 62"/>
            <p:cNvSpPr txBox="1"/>
            <p:nvPr/>
          </p:nvSpPr>
          <p:spPr>
            <a:xfrm>
              <a:off x="6583680" y="3986784"/>
              <a:ext cx="1783080" cy="585216"/>
            </a:xfrm>
            <a:prstGeom prst="rect">
              <a:avLst/>
            </a:prstGeom>
            <a:noFill/>
          </p:spPr>
          <p:txBody>
            <a:bodyPr wrap="square" anchor="ctr" lIns="0" rIns="0" tIns="0" bIns="0">
              <a:spAutoFit/>
            </a:bodyPr>
            <a:lstStyle/>
            <a:p>
              <a:pPr algn="ctr">
                <a:spcAft>
                  <a:spcPts val="0"/>
                </a:spcAft>
              </a:pPr>
              <a:r>
                <a:rPr sz="2400" b="1" i="0">
                  <a:solidFill>
                    <a:srgbClr val="7D6520"/>
                  </a:solidFill>
                  <a:latin typeface="Oswald"/>
                </a:rPr>
                <a:t>USD 66,90</a:t>
              </a:r>
            </a:p>
          </p:txBody>
        </p:sp>
        <p:sp>
          <p:nvSpPr>
            <p:cNvPr id="64" name="Rectangle 63"/>
            <p:cNvSpPr/>
            <p:nvPr/>
          </p:nvSpPr>
          <p:spPr>
            <a:xfrm>
              <a:off x="685800" y="4561027"/>
              <a:ext cx="7772400" cy="10972"/>
            </a:xfrm>
            <a:prstGeom prst="rect">
              <a:avLst/>
            </a:prstGeom>
            <a:solidFill>
              <a:srgbClr val="D5DBEA"/>
            </a:solidFill>
            <a:ln>
              <a:noFill/>
            </a:ln>
          </p:spPr>
          <p:txBody>
            <a:bodyPr rtlCol="0" anchor="ctr"/>
            <a:lstStyle/>
            <a:p>
              <a:pPr algn="ctr"/>
            </a:p>
          </p:txBody>
        </p:sp>
        <p:sp>
          <p:nvSpPr>
            <p:cNvPr id="65" name="Rectangle 64"/>
            <p:cNvSpPr/>
            <p:nvPr/>
          </p:nvSpPr>
          <p:spPr>
            <a:xfrm>
              <a:off x="685800" y="3986784"/>
              <a:ext cx="7772400" cy="27432"/>
            </a:xfrm>
            <a:prstGeom prst="rect">
              <a:avLst/>
            </a:prstGeom>
            <a:solidFill>
              <a:srgbClr val="C4A857"/>
            </a:solidFill>
            <a:ln>
              <a:noFill/>
            </a:ln>
          </p:spPr>
          <p:txBody>
            <a:bodyPr rtlCol="0" anchor="ctr"/>
            <a:lstStyle/>
            <a:p>
              <a:pPr algn="ctr"/>
            </a:p>
          </p:txBody>
        </p:sp>
      </p:grpSp>
      <p:sp>
        <p:nvSpPr>
          <p:cNvPr id="66" name="Rectangle 65"/>
          <p:cNvSpPr/>
          <p:nvPr/>
        </p:nvSpPr>
        <p:spPr>
          <a:xfrm>
            <a:off x="6492240" y="2011680"/>
            <a:ext cx="1965960" cy="2560320"/>
          </a:xfrm>
          <a:prstGeom prst="rect">
            <a:avLst/>
          </a:prstGeom>
          <a:noFill/>
          <a:ln w="38100">
            <a:solidFill>
              <a:srgbClr val="C4A857"/>
            </a:solidFill>
          </a:ln>
        </p:spPr>
        <p:txBody>
          <a:bodyPr rtlCol="0" anchor="ctr"/>
          <a:lstStyle/>
          <a:p>
            <a:pPr algn="ctr"/>
          </a:p>
        </p:txBody>
      </p:sp>
      <p:grpSp>
        <p:nvGrpSpPr>
          <p:cNvPr id="67" name="Group 66"/>
          <p:cNvGrpSpPr/>
          <p:nvPr/>
        </p:nvGrpSpPr>
        <p:grpSpPr>
          <a:xfrm>
            <a:off x="685800" y="4773168"/>
            <a:ext cx="7909560" cy="658368"/>
            <a:chOff x="685800" y="4773168"/>
            <a:chExt cx="7909560" cy="658368"/>
          </a:xfrm>
        </p:grpSpPr>
        <p:sp>
          <p:nvSpPr>
            <p:cNvPr id="68" name="Rectangle 67"/>
            <p:cNvSpPr/>
            <p:nvPr/>
          </p:nvSpPr>
          <p:spPr>
            <a:xfrm>
              <a:off x="685800" y="4773168"/>
              <a:ext cx="7909560" cy="658368"/>
            </a:xfrm>
            <a:prstGeom prst="rect">
              <a:avLst/>
            </a:prstGeom>
            <a:solidFill>
              <a:srgbClr val="EDF0F7"/>
            </a:solidFill>
            <a:ln>
              <a:noFill/>
            </a:ln>
          </p:spPr>
          <p:txBody>
            <a:bodyPr rtlCol="0" anchor="ctr"/>
            <a:lstStyle/>
            <a:p>
              <a:pPr algn="ctr"/>
            </a:p>
          </p:txBody>
        </p:sp>
        <p:sp>
          <p:nvSpPr>
            <p:cNvPr id="69" name="Rectangle 68"/>
            <p:cNvSpPr/>
            <p:nvPr/>
          </p:nvSpPr>
          <p:spPr>
            <a:xfrm>
              <a:off x="685800" y="4773168"/>
              <a:ext cx="54864" cy="658368"/>
            </a:xfrm>
            <a:prstGeom prst="rect">
              <a:avLst/>
            </a:prstGeom>
            <a:solidFill>
              <a:srgbClr val="C4A857"/>
            </a:solidFill>
            <a:ln>
              <a:noFill/>
            </a:ln>
          </p:spPr>
          <p:txBody>
            <a:bodyPr rtlCol="0" anchor="ctr"/>
            <a:lstStyle/>
            <a:p>
              <a:pPr algn="ctr"/>
            </a:p>
          </p:txBody>
        </p:sp>
        <p:sp>
          <p:nvSpPr>
            <p:cNvPr id="70" name="TextBox 69"/>
            <p:cNvSpPr txBox="1"/>
            <p:nvPr/>
          </p:nvSpPr>
          <p:spPr>
            <a:xfrm>
              <a:off x="886968" y="4773168"/>
              <a:ext cx="7589520" cy="658368"/>
            </a:xfrm>
            <a:prstGeom prst="rect">
              <a:avLst/>
            </a:prstGeom>
            <a:noFill/>
          </p:spPr>
          <p:txBody>
            <a:bodyPr wrap="square" anchor="ctr" lIns="0" rIns="0" tIns="0" bIns="0">
              <a:spAutoFit/>
            </a:bodyPr>
            <a:lstStyle/>
            <a:p>
              <a:pPr algn="l">
                <a:spcAft>
                  <a:spcPts val="0"/>
                </a:spcAft>
              </a:pPr>
              <a:r>
                <a:rPr sz="1250" b="1" i="0">
                  <a:solidFill>
                    <a:srgbClr val="242D57"/>
                  </a:solidFill>
                  <a:latin typeface="Open Sans"/>
                </a:rPr>
                <a:t>Recomendación del motor: C. Por un 15,6 % más que A, cumple el 100 % de los críticos; frente a B, que también cumple, cuesta un 4,3 % menos. </a:t>
              </a:r>
              <a:r>
                <a:rPr sz="1250" b="0" i="0">
                  <a:solidFill>
                    <a:srgbClr val="242D57"/>
                  </a:solidFill>
                  <a:latin typeface="Open Sans"/>
                </a:rPr>
                <a:t>La más barata no siempre es la mejor. El planificador decide.</a:t>
              </a:r>
            </a:p>
          </p:txBody>
        </p:sp>
      </p:grpSp>
      <p:sp>
        <p:nvSpPr>
          <p:cNvPr id="71" name="Rounded Rectangular Callout 70"/>
          <p:cNvSpPr/>
          <p:nvPr/>
        </p:nvSpPr>
        <p:spPr>
          <a:xfrm>
            <a:off x="8759952" y="2395728"/>
            <a:ext cx="3200400" cy="914400"/>
          </a:xfrm>
          <a:prstGeom prst="wedgeRoundRectCallout">
            <a:avLst>
              <a:gd name="adj1" fmla="val 11999"/>
              <a:gd name="adj2" fmla="val 97999"/>
              <a:gd name="adj3" fmla="val 16667"/>
            </a:avLst>
          </a:prstGeom>
          <a:solidFill>
            <a:srgbClr val="FFFFFF"/>
          </a:solidFill>
          <a:ln w="12700">
            <a:solidFill>
              <a:srgbClr val="D5DBEA"/>
            </a:solidFill>
          </a:ln>
          <a:effectLst>
            <a:outerShdw blurRad="177800" dist="50800" dir="5400000" algn="t" rotWithShape="0">
              <a:srgbClr val="162451">
                <a:alpha val="30000"/>
              </a:srgbClr>
            </a:outerShdw>
          </a:effectLst>
        </p:spPr>
        <p:txBody>
          <a:bodyPr rtlCol="0" anchor="ctr" wrap="square" lIns="146304" rIns="146304" tIns="54864" bIns="54864"/>
          <a:lstStyle/>
          <a:p>
            <a:pPr algn="ctr"/>
            <a:r>
              <a:rPr sz="1400" b="1" i="0">
                <a:solidFill>
                  <a:srgbClr val="242D57"/>
                </a:solidFill>
                <a:latin typeface="Open Sans"/>
              </a:rPr>
              <a:t>Una ruta no es solo kilómetros: también es </a:t>
            </a:r>
            <a:r>
              <a:rPr sz="1400" b="1" i="0">
                <a:solidFill>
                  <a:srgbClr val="7D6520"/>
                </a:solidFill>
                <a:latin typeface="Open Sans"/>
              </a:rPr>
              <a:t>quien descarga</a:t>
            </a:r>
            <a:r>
              <a:rPr sz="1400" b="1" i="0">
                <a:solidFill>
                  <a:srgbClr val="242D57"/>
                </a:solidFill>
                <a:latin typeface="Open Sans"/>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par>
                          <p:cTn id="11" fill="hold">
                            <p:stCondLst>
                              <p:cond delay="400"/>
                            </p:stCondLst>
                            <p:childTnLst>
                              <p:par>
                                <p:cTn id="14" presetID="10"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childTnLst>
                          </p:cTn>
                        </p:par>
                        <p:par>
                          <p:cTn id="15" fill="hold">
                            <p:stCondLst>
                              <p:cond delay="800"/>
                            </p:stCondLst>
                            <p:childTnLst>
                              <p:par>
                                <p:cTn id="20" presetID="53" presetClass="entr" presetSubtype="16" fill="hold" grpId="0" nodeType="after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p:cTn id="17" dur="500" fill="hold"/>
                                        <p:tgtEl>
                                          <p:spTgt spid="24"/>
                                        </p:tgtEl>
                                        <p:attrNameLst>
                                          <p:attrName>ppt_w</p:attrName>
                                        </p:attrNameLst>
                                      </p:cBhvr>
                                      <p:tavLst>
                                        <p:tav tm="0">
                                          <p:val>
                                            <p:strVal val="#ppt_w*0.7"/>
                                          </p:val>
                                        </p:tav>
                                        <p:tav tm="100000">
                                          <p:val>
                                            <p:strVal val="#ppt_w"/>
                                          </p:val>
                                        </p:tav>
                                      </p:tavLst>
                                    </p:anim>
                                    <p:anim calcmode="lin" valueType="num">
                                      <p:cBhvr>
                                        <p:cTn id="18" dur="500" fill="hold"/>
                                        <p:tgtEl>
                                          <p:spTgt spid="24"/>
                                        </p:tgtEl>
                                        <p:attrNameLst>
                                          <p:attrName>ppt_h</p:attrName>
                                        </p:attrNameLst>
                                      </p:cBhvr>
                                      <p:tavLst>
                                        <p:tav tm="0">
                                          <p:val>
                                            <p:strVal val="#ppt_h*0.7"/>
                                          </p:val>
                                        </p:tav>
                                        <p:tav tm="100000">
                                          <p:val>
                                            <p:strVal val="#ppt_h"/>
                                          </p:val>
                                        </p:tav>
                                      </p:tavLst>
                                    </p:anim>
                                    <p:animEffect transition="in" filter="fade">
                                      <p:cBhvr>
                                        <p:cTn id="19"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left)">
                                      <p:cBhvr>
                                        <p:cTn id="24" dur="300"/>
                                        <p:tgtEl>
                                          <p:spTgt spid="25"/>
                                        </p:tgtEl>
                                      </p:cBhvr>
                                    </p:animEffect>
                                  </p:childTnLst>
                                </p:cTn>
                              </p:par>
                            </p:childTnLst>
                          </p:cTn>
                        </p:par>
                        <p:par>
                          <p:cTn id="26" fill="hold">
                            <p:stCondLst>
                              <p:cond delay="300"/>
                            </p:stCondLst>
                            <p:childTnLst>
                              <p:par>
                                <p:cTn id="29" presetID="22" presetClass="entr" presetSubtype="8" fill="hold" grpId="0"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wipe(left)">
                                      <p:cBhvr>
                                        <p:cTn id="28" dur="300"/>
                                        <p:tgtEl>
                                          <p:spTgt spid="35"/>
                                        </p:tgtEl>
                                      </p:cBhvr>
                                    </p:animEffect>
                                  </p:childTnLst>
                                </p:cTn>
                              </p:par>
                            </p:childTnLst>
                          </p:cTn>
                        </p:par>
                        <p:par>
                          <p:cTn id="30" fill="hold">
                            <p:stCondLst>
                              <p:cond delay="600"/>
                            </p:stCondLst>
                            <p:childTnLst>
                              <p:par>
                                <p:cTn id="33" presetID="22" presetClass="entr" presetSubtype="8" fill="hold" grpId="0" nodeType="after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wipe(left)">
                                      <p:cBhvr>
                                        <p:cTn id="32" dur="300"/>
                                        <p:tgtEl>
                                          <p:spTgt spid="45"/>
                                        </p:tgtEl>
                                      </p:cBhvr>
                                    </p:animEffect>
                                  </p:childTnLst>
                                </p:cTn>
                              </p:par>
                            </p:childTnLst>
                          </p:cTn>
                        </p:par>
                      </p:childTnLst>
                    </p:cTn>
                  </p:par>
                  <p:par>
                    <p:cTn id="34" fill="hold">
                      <p:stCondLst>
                        <p:cond delay="indefinite"/>
                      </p:stCondLst>
                      <p:childTnLst>
                        <p:par>
                          <p:cTn id="35"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450"/>
                                        <p:tgtEl>
                                          <p:spTgt spid="55"/>
                                        </p:tgtEl>
                                      </p:cBhvr>
                                    </p:animEffect>
                                  </p:childTnLst>
                                </p:cTn>
                              </p:par>
                            </p:childTnLst>
                          </p:cTn>
                        </p:par>
                        <p:par>
                          <p:cTn id="39" fill="hold">
                            <p:stCondLst>
                              <p:cond delay="450"/>
                            </p:stCondLst>
                            <p:childTnLst>
                              <p:par>
                                <p:cTn id="42" presetID="10" presetClass="entr" presetSubtype="0" fill="hold" grpId="0"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fade">
                                      <p:cBhvr>
                                        <p:cTn id="41" dur="400"/>
                                        <p:tgtEl>
                                          <p:spTgt spid="66"/>
                                        </p:tgtEl>
                                      </p:cBhvr>
                                    </p:animEffect>
                                  </p:childTnLst>
                                </p:cTn>
                              </p:par>
                            </p:childTnLst>
                          </p:cTn>
                        </p:par>
                        <p:par>
                          <p:cTn id="43" fill="hold">
                            <p:stCondLst>
                              <p:cond delay="850"/>
                            </p:stCondLst>
                            <p:childTnLst>
                              <p:par>
                                <p:cTn id="46" presetID="10" presetClass="entr" presetSubtype="0" fill="hold" grpId="0" nodeType="after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fade">
                                      <p:cBhvr>
                                        <p:cTn id="45" dur="400"/>
                                        <p:tgtEl>
                                          <p:spTgt spid="67"/>
                                        </p:tgtEl>
                                      </p:cBhvr>
                                    </p:animEffect>
                                  </p:childTnLst>
                                </p:cTn>
                              </p:par>
                            </p:childTnLst>
                          </p:cTn>
                        </p:par>
                      </p:childTnLst>
                    </p:cTn>
                  </p:par>
                  <p:par>
                    <p:cTn id="47" fill="hold">
                      <p:stCondLst>
                        <p:cond delay="indefinite"/>
                      </p:stCondLst>
                      <p:childTnLst>
                        <p:par>
                          <p:cTn id="48" fill="hold">
                            <p:stCondLst>
                              <p:cond delay="0"/>
                            </p:stCondLst>
                            <p:childTnLst>
                              <p:par>
                                <p:cTn id="51" presetID="10" presetClass="entr" presetSubtype="0" fill="hold" grpId="0" nodeType="clickEffect">
                                  <p:stCondLst>
                                    <p:cond delay="0"/>
                                  </p:stCondLst>
                                  <p:childTnLst>
                                    <p:set>
                                      <p:cBhvr>
                                        <p:cTn id="49" dur="1" fill="hold">
                                          <p:stCondLst>
                                            <p:cond delay="0"/>
                                          </p:stCondLst>
                                        </p:cTn>
                                        <p:tgtEl>
                                          <p:spTgt spid="71"/>
                                        </p:tgtEl>
                                        <p:attrNameLst>
                                          <p:attrName>style.visibility</p:attrName>
                                        </p:attrNameLst>
                                      </p:cBhvr>
                                      <p:to>
                                        <p:strVal val="visible"/>
                                      </p:to>
                                    </p:set>
                                    <p:animEffect transition="in" filter="fade">
                                      <p:cBhvr>
                                        <p:cTn id="50" dur="4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7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5B6585"/>
                </a:solidFill>
                <a:latin typeface="Open Sans"/>
              </a:rPr>
              <a:t>HACKATHON EXPO CLEAN 2026 · RETO 1 · 05</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7D6520"/>
                  </a:solidFill>
                  <a:latin typeface="Open Sans"/>
                </a:rPr>
                <a:t>PROTOTIPO / DEMO · ENTREGAR Y PROBAR</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242D57"/>
                  </a:solidFill>
                  <a:latin typeface="Oswald"/>
                </a:rPr>
                <a:t>Elegida la opción: ruta aprobada y entrega con prueba</a:t>
              </a:r>
            </a:p>
          </p:txBody>
        </p:sp>
      </p:grpSp>
      <p:sp>
        <p:nvSpPr>
          <p:cNvPr id="7" name="Rectangle 6"/>
          <p:cNvSpPr/>
          <p:nvPr/>
        </p:nvSpPr>
        <p:spPr>
          <a:xfrm>
            <a:off x="685800" y="6217920"/>
            <a:ext cx="10820095" cy="10972"/>
          </a:xfrm>
          <a:prstGeom prst="rect">
            <a:avLst/>
          </a:prstGeom>
          <a:solidFill>
            <a:srgbClr val="D5DBEA"/>
          </a:solidFill>
          <a:ln>
            <a:noFill/>
          </a:ln>
        </p:spPr>
        <p:txBody>
          <a:bodyPr rtlCol="0" anchor="ctr"/>
          <a:lstStyle/>
          <a:p>
            <a:pPr algn="ctr"/>
          </a:p>
        </p:txBody>
      </p:sp>
      <p:pic>
        <p:nvPicPr>
          <p:cNvPr id="8" name="Picture 7" descr="istpet-log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5B6585"/>
                </a:solidFill>
                <a:latin typeface="Open Sans"/>
              </a:rPr>
              <a:t>Fuente: pantallas Planificar rutas, Rutas y Novedades de campo (capturas del 17-oct); escenario sintético de Quito, Bodega Sur · VEH-02. Sin tráfico en vivo; el impacto de reentrada es una estimación del sistema.</a:t>
            </a:r>
          </a:p>
        </p:txBody>
      </p:sp>
      <p:grpSp>
        <p:nvGrpSpPr>
          <p:cNvPr id="11" name="Group 10"/>
          <p:cNvGrpSpPr/>
          <p:nvPr/>
        </p:nvGrpSpPr>
        <p:grpSpPr>
          <a:xfrm>
            <a:off x="612648" y="1618488"/>
            <a:ext cx="5266944" cy="3268772"/>
            <a:chOff x="612648" y="1618488"/>
            <a:chExt cx="5266944" cy="3268772"/>
          </a:xfrm>
        </p:grpSpPr>
        <p:sp>
          <p:nvSpPr>
            <p:cNvPr id="12" name="Rectangle 11"/>
            <p:cNvSpPr/>
            <p:nvPr/>
          </p:nvSpPr>
          <p:spPr>
            <a:xfrm>
              <a:off x="612648" y="1618488"/>
              <a:ext cx="5266944" cy="3223052"/>
            </a:xfrm>
            <a:prstGeom prst="rect">
              <a:avLst/>
            </a:prstGeom>
            <a:solidFill>
              <a:srgbClr val="FFFFFF"/>
            </a:solidFill>
            <a:ln w="9525">
              <a:solidFill>
                <a:srgbClr val="D5DBEA"/>
              </a:solidFill>
            </a:ln>
            <a:effectLst>
              <a:outerShdw blurRad="152400" dist="50800" dir="5400000" algn="t" rotWithShape="0">
                <a:srgbClr val="162451">
                  <a:alpha val="18000"/>
                </a:srgbClr>
              </a:outerShdw>
            </a:effectLst>
          </p:spPr>
          <p:txBody>
            <a:bodyPr rtlCol="0" anchor="ctr"/>
            <a:lstStyle/>
            <a:p>
              <a:pPr algn="ctr"/>
            </a:p>
          </p:txBody>
        </p:sp>
        <p:pic>
          <p:nvPicPr>
            <p:cNvPr id="13" name="Picture 12" descr="ruta-paso2.gif"/>
            <p:cNvPicPr>
              <a:picLocks noChangeAspect="1"/>
            </p:cNvPicPr>
            <p:nvPr/>
          </p:nvPicPr>
          <p:blipFill>
            <a:blip r:embed="rId3"/>
            <a:stretch>
              <a:fillRect/>
            </a:stretch>
          </p:blipFill>
          <p:spPr>
            <a:xfrm>
              <a:off x="685800" y="1691640"/>
              <a:ext cx="5120640" cy="3076748"/>
            </a:xfrm>
            <a:prstGeom prst="rect">
              <a:avLst/>
            </a:prstGeom>
          </p:spPr>
        </p:pic>
        <p:sp>
          <p:nvSpPr>
            <p:cNvPr id="14" name="Rectangle 13"/>
            <p:cNvSpPr/>
            <p:nvPr/>
          </p:nvSpPr>
          <p:spPr>
            <a:xfrm>
              <a:off x="612648" y="4841540"/>
              <a:ext cx="5266944" cy="45720"/>
            </a:xfrm>
            <a:prstGeom prst="rect">
              <a:avLst/>
            </a:prstGeom>
            <a:solidFill>
              <a:srgbClr val="C4A857"/>
            </a:solidFill>
            <a:ln>
              <a:noFill/>
            </a:ln>
          </p:spPr>
          <p:txBody>
            <a:bodyPr rtlCol="0" anchor="ctr"/>
            <a:lstStyle/>
            <a:p>
              <a:pPr algn="ctr"/>
            </a:p>
          </p:txBody>
        </p:sp>
      </p:grpSp>
      <p:grpSp>
        <p:nvGrpSpPr>
          <p:cNvPr id="15" name="Group 14"/>
          <p:cNvGrpSpPr/>
          <p:nvPr/>
        </p:nvGrpSpPr>
        <p:grpSpPr>
          <a:xfrm>
            <a:off x="6344164" y="1618488"/>
            <a:ext cx="4989766" cy="1563624"/>
            <a:chOff x="6344164" y="1618488"/>
            <a:chExt cx="4989766" cy="1563624"/>
          </a:xfrm>
        </p:grpSpPr>
        <p:sp>
          <p:nvSpPr>
            <p:cNvPr id="16" name="Rectangle 15"/>
            <p:cNvSpPr/>
            <p:nvPr/>
          </p:nvSpPr>
          <p:spPr>
            <a:xfrm>
              <a:off x="6344164" y="1618488"/>
              <a:ext cx="4989766" cy="1517904"/>
            </a:xfrm>
            <a:prstGeom prst="rect">
              <a:avLst/>
            </a:prstGeom>
            <a:solidFill>
              <a:srgbClr val="FFFFFF"/>
            </a:solidFill>
            <a:ln w="9525">
              <a:solidFill>
                <a:srgbClr val="D5DBEA"/>
              </a:solidFill>
            </a:ln>
            <a:effectLst>
              <a:outerShdw blurRad="152400" dist="50800" dir="5400000" algn="t" rotWithShape="0">
                <a:srgbClr val="162451">
                  <a:alpha val="18000"/>
                </a:srgbClr>
              </a:outerShdw>
            </a:effectLst>
          </p:spPr>
          <p:txBody>
            <a:bodyPr rtlCol="0" anchor="ctr"/>
            <a:lstStyle/>
            <a:p>
              <a:pPr algn="ctr"/>
            </a:p>
          </p:txBody>
        </p:sp>
        <p:pic>
          <p:nvPicPr>
            <p:cNvPr id="17" name="Picture 16" descr="ruta-seguimiento.png"/>
            <p:cNvPicPr>
              <a:picLocks noChangeAspect="1"/>
            </p:cNvPicPr>
            <p:nvPr/>
          </p:nvPicPr>
          <p:blipFill>
            <a:blip r:embed="rId4"/>
            <a:stretch>
              <a:fillRect/>
            </a:stretch>
          </p:blipFill>
          <p:spPr>
            <a:xfrm>
              <a:off x="6417316" y="1691640"/>
              <a:ext cx="4843462" cy="1371600"/>
            </a:xfrm>
            <a:prstGeom prst="rect">
              <a:avLst/>
            </a:prstGeom>
          </p:spPr>
        </p:pic>
        <p:sp>
          <p:nvSpPr>
            <p:cNvPr id="18" name="Rectangle 17"/>
            <p:cNvSpPr/>
            <p:nvPr/>
          </p:nvSpPr>
          <p:spPr>
            <a:xfrm>
              <a:off x="6344164" y="3136392"/>
              <a:ext cx="4989766" cy="45720"/>
            </a:xfrm>
            <a:prstGeom prst="rect">
              <a:avLst/>
            </a:prstGeom>
            <a:solidFill>
              <a:srgbClr val="C4A857"/>
            </a:solidFill>
            <a:ln>
              <a:noFill/>
            </a:ln>
          </p:spPr>
          <p:txBody>
            <a:bodyPr rtlCol="0" anchor="ctr"/>
            <a:lstStyle/>
            <a:p>
              <a:pPr algn="ctr"/>
            </a:p>
          </p:txBody>
        </p:sp>
      </p:grpSp>
      <p:grpSp>
        <p:nvGrpSpPr>
          <p:cNvPr id="19" name="Group 18"/>
          <p:cNvGrpSpPr/>
          <p:nvPr/>
        </p:nvGrpSpPr>
        <p:grpSpPr>
          <a:xfrm>
            <a:off x="6776406" y="3172968"/>
            <a:ext cx="4125283" cy="2020824"/>
            <a:chOff x="6776406" y="3172968"/>
            <a:chExt cx="4125283" cy="2020824"/>
          </a:xfrm>
        </p:grpSpPr>
        <p:sp>
          <p:nvSpPr>
            <p:cNvPr id="20" name="Rectangle 19"/>
            <p:cNvSpPr/>
            <p:nvPr/>
          </p:nvSpPr>
          <p:spPr>
            <a:xfrm>
              <a:off x="6776406" y="3172968"/>
              <a:ext cx="4125283" cy="1975103"/>
            </a:xfrm>
            <a:prstGeom prst="rect">
              <a:avLst/>
            </a:prstGeom>
            <a:solidFill>
              <a:srgbClr val="FFFFFF"/>
            </a:solidFill>
            <a:ln w="9525">
              <a:solidFill>
                <a:srgbClr val="D5DBEA"/>
              </a:solidFill>
            </a:ln>
            <a:effectLst>
              <a:outerShdw blurRad="152400" dist="50800" dir="5400000" algn="t" rotWithShape="0">
                <a:srgbClr val="162451">
                  <a:alpha val="18000"/>
                </a:srgbClr>
              </a:outerShdw>
            </a:effectLst>
          </p:spPr>
          <p:txBody>
            <a:bodyPr rtlCol="0" anchor="ctr"/>
            <a:lstStyle/>
            <a:p>
              <a:pPr algn="ctr"/>
            </a:p>
          </p:txBody>
        </p:sp>
        <p:pic>
          <p:nvPicPr>
            <p:cNvPr id="21" name="Picture 20" descr="novedades.png"/>
            <p:cNvPicPr>
              <a:picLocks noChangeAspect="1"/>
            </p:cNvPicPr>
            <p:nvPr/>
          </p:nvPicPr>
          <p:blipFill>
            <a:blip r:embed="rId5"/>
            <a:stretch>
              <a:fillRect/>
            </a:stretch>
          </p:blipFill>
          <p:spPr>
            <a:xfrm>
              <a:off x="6849558" y="3246120"/>
              <a:ext cx="3978979" cy="1828800"/>
            </a:xfrm>
            <a:prstGeom prst="rect">
              <a:avLst/>
            </a:prstGeom>
          </p:spPr>
        </p:pic>
        <p:sp>
          <p:nvSpPr>
            <p:cNvPr id="22" name="Rectangle 21"/>
            <p:cNvSpPr/>
            <p:nvPr/>
          </p:nvSpPr>
          <p:spPr>
            <a:xfrm>
              <a:off x="6776406" y="5148072"/>
              <a:ext cx="4125283" cy="45720"/>
            </a:xfrm>
            <a:prstGeom prst="rect">
              <a:avLst/>
            </a:prstGeom>
            <a:solidFill>
              <a:srgbClr val="C4A857"/>
            </a:solidFill>
            <a:ln>
              <a:noFill/>
            </a:ln>
          </p:spPr>
          <p:txBody>
            <a:bodyPr rtlCol="0" anchor="ctr"/>
            <a:lstStyle/>
            <a:p>
              <a:pPr algn="ctr"/>
            </a:p>
          </p:txBody>
        </p:sp>
      </p:grpSp>
      <p:grpSp>
        <p:nvGrpSpPr>
          <p:cNvPr id="23" name="Group 22"/>
          <p:cNvGrpSpPr/>
          <p:nvPr/>
        </p:nvGrpSpPr>
        <p:grpSpPr>
          <a:xfrm>
            <a:off x="685800" y="5486400"/>
            <a:ext cx="10820095" cy="566928"/>
            <a:chOff x="685800" y="5486400"/>
            <a:chExt cx="10820095" cy="566928"/>
          </a:xfrm>
        </p:grpSpPr>
        <p:sp>
          <p:nvSpPr>
            <p:cNvPr id="24" name="Rectangle 23"/>
            <p:cNvSpPr/>
            <p:nvPr/>
          </p:nvSpPr>
          <p:spPr>
            <a:xfrm>
              <a:off x="685800" y="5486400"/>
              <a:ext cx="10820095" cy="566928"/>
            </a:xfrm>
            <a:prstGeom prst="rect">
              <a:avLst/>
            </a:prstGeom>
            <a:solidFill>
              <a:srgbClr val="242D57"/>
            </a:solidFill>
            <a:ln>
              <a:noFill/>
            </a:ln>
          </p:spPr>
          <p:txBody>
            <a:bodyPr rtlCol="0" anchor="ctr"/>
            <a:lstStyle/>
            <a:p>
              <a:pPr algn="ctr"/>
            </a:p>
          </p:txBody>
        </p:sp>
        <p:sp>
          <p:nvSpPr>
            <p:cNvPr id="25" name="Rectangle 24"/>
            <p:cNvSpPr/>
            <p:nvPr/>
          </p:nvSpPr>
          <p:spPr>
            <a:xfrm>
              <a:off x="685800" y="5486400"/>
              <a:ext cx="64008" cy="566928"/>
            </a:xfrm>
            <a:prstGeom prst="rect">
              <a:avLst/>
            </a:prstGeom>
            <a:solidFill>
              <a:srgbClr val="C4A857"/>
            </a:solidFill>
            <a:ln>
              <a:noFill/>
            </a:ln>
          </p:spPr>
          <p:txBody>
            <a:bodyPr rtlCol="0" anchor="ctr"/>
            <a:lstStyle/>
            <a:p>
              <a:pPr algn="ctr"/>
            </a:p>
          </p:txBody>
        </p:sp>
        <p:sp>
          <p:nvSpPr>
            <p:cNvPr id="26" name="TextBox 25"/>
            <p:cNvSpPr txBox="1"/>
            <p:nvPr/>
          </p:nvSpPr>
          <p:spPr>
            <a:xfrm>
              <a:off x="960120" y="5486400"/>
              <a:ext cx="10408615" cy="566928"/>
            </a:xfrm>
            <a:prstGeom prst="rect">
              <a:avLst/>
            </a:prstGeom>
            <a:noFill/>
          </p:spPr>
          <p:txBody>
            <a:bodyPr wrap="square" anchor="ctr" lIns="0" rIns="0" tIns="0" bIns="0">
              <a:spAutoFit/>
            </a:bodyPr>
            <a:lstStyle/>
            <a:p>
              <a:pPr algn="l">
                <a:spcAft>
                  <a:spcPts val="0"/>
                </a:spcAft>
              </a:pPr>
              <a:r>
                <a:rPr sz="1600" b="1" i="0">
                  <a:solidFill>
                    <a:srgbClr val="FFFFFF"/>
                  </a:solidFill>
                  <a:latin typeface="Open Sans"/>
                </a:rPr>
                <a:t>Cada caja viaja con QR y cada rechazo queda con su motivo.</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22" presetClass="entr" presetSubtype="8"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600"/>
                                        <p:tgtEl>
                                          <p:spTgt spid="11"/>
                                        </p:tgtEl>
                                      </p:cBhvr>
                                    </p:animEffect>
                                  </p:childTnLst>
                                </p:cTn>
                              </p:par>
                            </p:childTnLst>
                          </p:cTn>
                        </p:par>
                        <p:par>
                          <p:cTn id="12" fill="hold">
                            <p:stCondLst>
                              <p:cond delay="1000"/>
                            </p:stCondLst>
                            <p:childTnLst>
                              <p:par>
                                <p:cTn id="15" presetID="10"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50"/>
                                        <p:tgtEl>
                                          <p:spTgt spid="15"/>
                                        </p:tgtEl>
                                      </p:cBhvr>
                                    </p:animEffect>
                                  </p:childTnLst>
                                </p:cTn>
                              </p:par>
                            </p:childTnLst>
                          </p:cTn>
                        </p:par>
                      </p:childTnLst>
                    </p:cTn>
                  </p:par>
                  <p:par>
                    <p:cTn id="16" fill="hold">
                      <p:stCondLst>
                        <p:cond delay="indefinite"/>
                      </p:stCondLst>
                      <p:childTnLst>
                        <p:par>
                          <p:cTn id="17"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50"/>
                                        <p:tgtEl>
                                          <p:spTgt spid="19"/>
                                        </p:tgtEl>
                                      </p:cBhvr>
                                    </p:animEffect>
                                  </p:childTnLst>
                                </p:cTn>
                              </p:par>
                            </p:childTnLst>
                          </p:cTn>
                        </p:par>
                      </p:childTnLst>
                    </p:cTn>
                  </p:par>
                  <p:par>
                    <p:cTn id="21" fill="hold">
                      <p:stCondLst>
                        <p:cond delay="indefinite"/>
                      </p:stCondLst>
                      <p:childTnLst>
                        <p:par>
                          <p:cTn id="22"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5B6585"/>
                </a:solidFill>
                <a:latin typeface="Open Sans"/>
              </a:rPr>
              <a:t>HACKATHON EXPO CLEAN 2026 · RETO 1 · 06</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7D6520"/>
                  </a:solidFill>
                  <a:latin typeface="Open Sans"/>
                </a:rPr>
                <a:t>INNOVACIÓN</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242D57"/>
                  </a:solidFill>
                  <a:latin typeface="Oswald"/>
                </a:rPr>
                <a:t>A la entrega le ponemos costo completo</a:t>
              </a:r>
            </a:p>
          </p:txBody>
        </p:sp>
      </p:grpSp>
      <p:sp>
        <p:nvSpPr>
          <p:cNvPr id="7" name="Rectangle 6"/>
          <p:cNvSpPr/>
          <p:nvPr/>
        </p:nvSpPr>
        <p:spPr>
          <a:xfrm>
            <a:off x="685800" y="6217920"/>
            <a:ext cx="10820095" cy="10972"/>
          </a:xfrm>
          <a:prstGeom prst="rect">
            <a:avLst/>
          </a:prstGeom>
          <a:solidFill>
            <a:srgbClr val="D5DBEA"/>
          </a:solidFill>
          <a:ln>
            <a:noFill/>
          </a:ln>
        </p:spPr>
        <p:txBody>
          <a:bodyPr rtlCol="0" anchor="ctr"/>
          <a:lstStyle/>
          <a:p>
            <a:pPr algn="ctr"/>
          </a:p>
        </p:txBody>
      </p:sp>
      <p:pic>
        <p:nvPicPr>
          <p:cNvPr id="8" name="Picture 7" descr="istpet-log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5B6585"/>
                </a:solidFill>
                <a:latin typeface="Open Sans"/>
              </a:rPr>
              <a:t>Fuente: lo del sector es lo que escuchamos en la charla, no una medición. Una corrida registrada del agente incluyó su caída a la explicación de respaldo.</a:t>
            </a:r>
          </a:p>
        </p:txBody>
      </p:sp>
      <p:grpSp>
        <p:nvGrpSpPr>
          <p:cNvPr id="11" name="Group 10"/>
          <p:cNvGrpSpPr/>
          <p:nvPr/>
        </p:nvGrpSpPr>
        <p:grpSpPr>
          <a:xfrm>
            <a:off x="685800" y="1645920"/>
            <a:ext cx="5227167" cy="2514600"/>
            <a:chOff x="685800" y="1645920"/>
            <a:chExt cx="5227167" cy="2514600"/>
          </a:xfrm>
        </p:grpSpPr>
        <p:sp>
          <p:nvSpPr>
            <p:cNvPr id="12" name="Rectangle 11"/>
            <p:cNvSpPr/>
            <p:nvPr/>
          </p:nvSpPr>
          <p:spPr>
            <a:xfrm>
              <a:off x="685800" y="1645920"/>
              <a:ext cx="5227167" cy="2514600"/>
            </a:xfrm>
            <a:prstGeom prst="rect">
              <a:avLst/>
            </a:prstGeom>
            <a:solidFill>
              <a:srgbClr val="EDF0F7"/>
            </a:solidFill>
            <a:ln>
              <a:noFill/>
            </a:ln>
          </p:spPr>
          <p:txBody>
            <a:bodyPr rtlCol="0" anchor="ctr"/>
            <a:lstStyle/>
            <a:p>
              <a:pPr algn="ctr"/>
            </a:p>
          </p:txBody>
        </p:sp>
        <p:sp>
          <p:nvSpPr>
            <p:cNvPr id="13" name="Rectangle 12"/>
            <p:cNvSpPr/>
            <p:nvPr/>
          </p:nvSpPr>
          <p:spPr>
            <a:xfrm>
              <a:off x="685800" y="1645920"/>
              <a:ext cx="5227167" cy="54864"/>
            </a:xfrm>
            <a:prstGeom prst="rect">
              <a:avLst/>
            </a:prstGeom>
            <a:solidFill>
              <a:srgbClr val="C4A857"/>
            </a:solidFill>
            <a:ln>
              <a:noFill/>
            </a:ln>
          </p:spPr>
          <p:txBody>
            <a:bodyPr rtlCol="0" anchor="ctr"/>
            <a:lstStyle/>
            <a:p>
              <a:pPr algn="ctr"/>
            </a:p>
          </p:txBody>
        </p:sp>
        <p:sp>
          <p:nvSpPr>
            <p:cNvPr id="14" name="TextBox 13"/>
            <p:cNvSpPr txBox="1"/>
            <p:nvPr/>
          </p:nvSpPr>
          <p:spPr>
            <a:xfrm>
              <a:off x="960120" y="1938528"/>
              <a:ext cx="4678527" cy="399233"/>
            </a:xfrm>
            <a:prstGeom prst="rect">
              <a:avLst/>
            </a:prstGeom>
            <a:noFill/>
          </p:spPr>
          <p:txBody>
            <a:bodyPr wrap="square" anchor="t" lIns="0" rIns="0" tIns="0" bIns="0">
              <a:spAutoFit/>
            </a:bodyPr>
            <a:lstStyle/>
            <a:p>
              <a:pPr algn="l">
                <a:lnSpc>
                  <a:spcPct val="92000"/>
                </a:lnSpc>
                <a:spcAft>
                  <a:spcPts val="0"/>
                </a:spcAft>
              </a:pPr>
              <a:r>
                <a:rPr sz="2200" b="1" i="0">
                  <a:solidFill>
                    <a:srgbClr val="242D57"/>
                  </a:solidFill>
                  <a:latin typeface="Oswald"/>
                </a:rPr>
                <a:t>El problema, según el sector</a:t>
              </a:r>
            </a:p>
          </p:txBody>
        </p:sp>
        <p:sp>
          <p:nvSpPr>
            <p:cNvPr id="15" name="TextBox 14"/>
            <p:cNvSpPr txBox="1"/>
            <p:nvPr/>
          </p:nvSpPr>
          <p:spPr>
            <a:xfrm>
              <a:off x="960120" y="2410913"/>
              <a:ext cx="4678527" cy="1566726"/>
            </a:xfrm>
            <a:prstGeom prst="rect">
              <a:avLst/>
            </a:prstGeom>
            <a:noFill/>
          </p:spPr>
          <p:txBody>
            <a:bodyPr wrap="square" anchor="t" lIns="0" rIns="0" tIns="0" bIns="0">
              <a:spAutoFit/>
            </a:bodyPr>
            <a:lstStyle/>
            <a:p>
              <a:pPr algn="l">
                <a:lnSpc>
                  <a:spcPct val="105000"/>
                </a:lnSpc>
                <a:spcAft>
                  <a:spcPts val="0"/>
                </a:spcAft>
              </a:pPr>
              <a:r>
                <a:rPr sz="1800" b="0" i="0">
                  <a:solidFill>
                    <a:srgbClr val="5B6585"/>
                  </a:solidFill>
                  <a:latin typeface="Open Sans"/>
                </a:rPr>
                <a:t>Se repone por calendario o por urgencia.</a:t>
              </a:r>
            </a:p>
            <a:p>
              <a:pPr algn="l">
                <a:lnSpc>
                  <a:spcPct val="105000"/>
                </a:lnSpc>
                <a:spcAft>
                  <a:spcPts val="0"/>
                </a:spcAft>
              </a:pPr>
              <a:r>
                <a:rPr sz="1800" b="0" i="0">
                  <a:solidFill>
                    <a:srgbClr val="5B6585"/>
                  </a:solidFill>
                  <a:latin typeface="Open Sans"/>
                </a:rPr>
                <a:t>La entrega se decide mirando kilómetros.</a:t>
              </a:r>
            </a:p>
            <a:p>
              <a:pPr algn="l">
                <a:lnSpc>
                  <a:spcPct val="105000"/>
                </a:lnSpc>
                <a:spcAft>
                  <a:spcPts val="0"/>
                </a:spcAft>
              </a:pPr>
              <a:r>
                <a:rPr sz="1800" b="0" i="0">
                  <a:solidFill>
                    <a:srgbClr val="5B6585"/>
                  </a:solidFill>
                  <a:latin typeface="Open Sans"/>
                </a:rPr>
                <a:t>Nadie puede probar qué se entregó.</a:t>
              </a:r>
            </a:p>
          </p:txBody>
        </p:sp>
        <p:sp>
          <p:nvSpPr>
            <p:cNvPr id="16" name="Rectangle 15"/>
            <p:cNvSpPr/>
            <p:nvPr/>
          </p:nvSpPr>
          <p:spPr>
            <a:xfrm>
              <a:off x="685800" y="1645920"/>
              <a:ext cx="5227167" cy="91440"/>
            </a:xfrm>
            <a:prstGeom prst="rect">
              <a:avLst/>
            </a:prstGeom>
            <a:solidFill>
              <a:srgbClr val="B82E2E"/>
            </a:solidFill>
            <a:ln>
              <a:noFill/>
            </a:ln>
          </p:spPr>
          <p:txBody>
            <a:bodyPr rtlCol="0" anchor="ctr"/>
            <a:lstStyle/>
            <a:p>
              <a:pPr algn="ctr"/>
            </a:p>
          </p:txBody>
        </p:sp>
      </p:grpSp>
      <p:grpSp>
        <p:nvGrpSpPr>
          <p:cNvPr id="17" name="Group 16"/>
          <p:cNvGrpSpPr/>
          <p:nvPr/>
        </p:nvGrpSpPr>
        <p:grpSpPr>
          <a:xfrm>
            <a:off x="6278727" y="1645920"/>
            <a:ext cx="5227167" cy="2514600"/>
            <a:chOff x="6278727" y="1645920"/>
            <a:chExt cx="5227167" cy="2514600"/>
          </a:xfrm>
        </p:grpSpPr>
        <p:sp>
          <p:nvSpPr>
            <p:cNvPr id="18" name="Rectangle 17"/>
            <p:cNvSpPr/>
            <p:nvPr/>
          </p:nvSpPr>
          <p:spPr>
            <a:xfrm>
              <a:off x="6278727" y="1645920"/>
              <a:ext cx="5227167" cy="2514600"/>
            </a:xfrm>
            <a:prstGeom prst="rect">
              <a:avLst/>
            </a:prstGeom>
            <a:solidFill>
              <a:srgbClr val="242D57"/>
            </a:solidFill>
            <a:ln>
              <a:noFill/>
            </a:ln>
          </p:spPr>
          <p:txBody>
            <a:bodyPr rtlCol="0" anchor="ctr"/>
            <a:lstStyle/>
            <a:p>
              <a:pPr algn="ctr"/>
            </a:p>
          </p:txBody>
        </p:sp>
        <p:sp>
          <p:nvSpPr>
            <p:cNvPr id="19" name="Rectangle 18"/>
            <p:cNvSpPr/>
            <p:nvPr/>
          </p:nvSpPr>
          <p:spPr>
            <a:xfrm>
              <a:off x="6278727" y="1645920"/>
              <a:ext cx="5227167" cy="54864"/>
            </a:xfrm>
            <a:prstGeom prst="rect">
              <a:avLst/>
            </a:prstGeom>
            <a:solidFill>
              <a:srgbClr val="C4A857"/>
            </a:solidFill>
            <a:ln>
              <a:noFill/>
            </a:ln>
          </p:spPr>
          <p:txBody>
            <a:bodyPr rtlCol="0" anchor="ctr"/>
            <a:lstStyle/>
            <a:p>
              <a:pPr algn="ctr"/>
            </a:p>
          </p:txBody>
        </p:sp>
        <p:sp>
          <p:nvSpPr>
            <p:cNvPr id="20" name="TextBox 19"/>
            <p:cNvSpPr txBox="1"/>
            <p:nvPr/>
          </p:nvSpPr>
          <p:spPr>
            <a:xfrm>
              <a:off x="6553047" y="1938528"/>
              <a:ext cx="4678527" cy="399233"/>
            </a:xfrm>
            <a:prstGeom prst="rect">
              <a:avLst/>
            </a:prstGeom>
            <a:noFill/>
          </p:spPr>
          <p:txBody>
            <a:bodyPr wrap="square" anchor="t" lIns="0" rIns="0" tIns="0" bIns="0">
              <a:spAutoFit/>
            </a:bodyPr>
            <a:lstStyle/>
            <a:p>
              <a:pPr algn="l">
                <a:lnSpc>
                  <a:spcPct val="92000"/>
                </a:lnSpc>
                <a:spcAft>
                  <a:spcPts val="0"/>
                </a:spcAft>
              </a:pPr>
              <a:r>
                <a:rPr sz="2200" b="1" i="0">
                  <a:solidFill>
                    <a:srgbClr val="FFFFFF"/>
                  </a:solidFill>
                  <a:latin typeface="Oswald"/>
                </a:rPr>
                <a:t>Con IstpetDev</a:t>
              </a:r>
            </a:p>
          </p:txBody>
        </p:sp>
        <p:sp>
          <p:nvSpPr>
            <p:cNvPr id="21" name="TextBox 20"/>
            <p:cNvSpPr txBox="1"/>
            <p:nvPr/>
          </p:nvSpPr>
          <p:spPr>
            <a:xfrm>
              <a:off x="6553047" y="2410913"/>
              <a:ext cx="4678527" cy="1566726"/>
            </a:xfrm>
            <a:prstGeom prst="rect">
              <a:avLst/>
            </a:prstGeom>
            <a:noFill/>
          </p:spPr>
          <p:txBody>
            <a:bodyPr wrap="square" anchor="t" lIns="0" rIns="0" tIns="0" bIns="0">
              <a:spAutoFit/>
            </a:bodyPr>
            <a:lstStyle/>
            <a:p>
              <a:pPr algn="l">
                <a:lnSpc>
                  <a:spcPct val="105000"/>
                </a:lnSpc>
                <a:spcAft>
                  <a:spcPts val="0"/>
                </a:spcAft>
              </a:pPr>
              <a:r>
                <a:rPr sz="1800" b="0" i="0">
                  <a:solidFill>
                    <a:srgbClr val="B9C2DC"/>
                  </a:solidFill>
                  <a:latin typeface="Open Sans"/>
                </a:rPr>
                <a:t>Avisa antes de que el cliente llame.</a:t>
              </a:r>
            </a:p>
            <a:p>
              <a:pPr algn="l">
                <a:lnSpc>
                  <a:spcPct val="105000"/>
                </a:lnSpc>
                <a:spcAft>
                  <a:spcPts val="0"/>
                </a:spcAft>
              </a:pPr>
              <a:r>
                <a:rPr sz="1800" b="0" i="0">
                  <a:solidFill>
                    <a:srgbClr val="B9C2DC"/>
                  </a:solidFill>
                  <a:latin typeface="Open Sans"/>
                </a:rPr>
                <a:t>Decide con costo completo: personal, combustible, descarga y merma.</a:t>
              </a:r>
            </a:p>
            <a:p>
              <a:pPr algn="l">
                <a:lnSpc>
                  <a:spcPct val="105000"/>
                </a:lnSpc>
                <a:spcAft>
                  <a:spcPts val="0"/>
                </a:spcAft>
              </a:pPr>
              <a:r>
                <a:rPr sz="1800" b="0" i="0">
                  <a:solidFill>
                    <a:srgbClr val="B9C2DC"/>
                  </a:solidFill>
                  <a:latin typeface="Open Sans"/>
                </a:rPr>
                <a:t>Deja la entrega comprobable, caja por caja.</a:t>
              </a:r>
            </a:p>
          </p:txBody>
        </p:sp>
      </p:grpSp>
      <p:grpSp>
        <p:nvGrpSpPr>
          <p:cNvPr id="22" name="Group 21"/>
          <p:cNvGrpSpPr/>
          <p:nvPr/>
        </p:nvGrpSpPr>
        <p:grpSpPr>
          <a:xfrm>
            <a:off x="685800" y="4434840"/>
            <a:ext cx="10820095" cy="1417320"/>
            <a:chOff x="685800" y="4434840"/>
            <a:chExt cx="10820095" cy="1417320"/>
          </a:xfrm>
        </p:grpSpPr>
        <p:sp>
          <p:nvSpPr>
            <p:cNvPr id="23" name="Rectangle 22"/>
            <p:cNvSpPr/>
            <p:nvPr/>
          </p:nvSpPr>
          <p:spPr>
            <a:xfrm>
              <a:off x="685800" y="4434840"/>
              <a:ext cx="10820095" cy="1417320"/>
            </a:xfrm>
            <a:prstGeom prst="rect">
              <a:avLst/>
            </a:prstGeom>
            <a:solidFill>
              <a:srgbClr val="242D57"/>
            </a:solidFill>
            <a:ln>
              <a:noFill/>
            </a:ln>
          </p:spPr>
          <p:txBody>
            <a:bodyPr rtlCol="0" anchor="ctr"/>
            <a:lstStyle/>
            <a:p>
              <a:pPr algn="ctr"/>
            </a:p>
          </p:txBody>
        </p:sp>
        <p:sp>
          <p:nvSpPr>
            <p:cNvPr id="24" name="Rectangle 23"/>
            <p:cNvSpPr/>
            <p:nvPr/>
          </p:nvSpPr>
          <p:spPr>
            <a:xfrm>
              <a:off x="685800" y="4434840"/>
              <a:ext cx="64008" cy="1417320"/>
            </a:xfrm>
            <a:prstGeom prst="rect">
              <a:avLst/>
            </a:prstGeom>
            <a:solidFill>
              <a:srgbClr val="C4A857"/>
            </a:solidFill>
            <a:ln>
              <a:noFill/>
            </a:ln>
          </p:spPr>
          <p:txBody>
            <a:bodyPr rtlCol="0" anchor="ctr"/>
            <a:lstStyle/>
            <a:p>
              <a:pPr algn="ctr"/>
            </a:p>
          </p:txBody>
        </p:sp>
        <p:sp>
          <p:nvSpPr>
            <p:cNvPr id="25" name="TextBox 24"/>
            <p:cNvSpPr txBox="1"/>
            <p:nvPr/>
          </p:nvSpPr>
          <p:spPr>
            <a:xfrm>
              <a:off x="1051560" y="4617720"/>
              <a:ext cx="10088575" cy="548640"/>
            </a:xfrm>
            <a:prstGeom prst="rect">
              <a:avLst/>
            </a:prstGeom>
            <a:noFill/>
          </p:spPr>
          <p:txBody>
            <a:bodyPr wrap="square" anchor="t" lIns="0" rIns="0" tIns="0" bIns="0">
              <a:spAutoFit/>
            </a:bodyPr>
            <a:lstStyle/>
            <a:p>
              <a:pPr algn="l">
                <a:spcAft>
                  <a:spcPts val="0"/>
                </a:spcAft>
              </a:pPr>
              <a:r>
                <a:rPr sz="2800" b="1" i="0">
                  <a:solidFill>
                    <a:srgbClr val="FFFFFF"/>
                  </a:solidFill>
                  <a:latin typeface="Oswald"/>
                </a:rPr>
                <a:t>El motor calcula, </a:t>
              </a:r>
              <a:r>
                <a:rPr sz="2800" b="1" i="0">
                  <a:solidFill>
                    <a:srgbClr val="E6D7A3"/>
                  </a:solidFill>
                  <a:latin typeface="Oswald"/>
                </a:rPr>
                <a:t>la IA explica, </a:t>
              </a:r>
              <a:r>
                <a:rPr sz="2800" b="1" i="0">
                  <a:solidFill>
                    <a:srgbClr val="FFFFFF"/>
                  </a:solidFill>
                  <a:latin typeface="Oswald"/>
                </a:rPr>
                <a:t>la persona decide.</a:t>
              </a:r>
            </a:p>
          </p:txBody>
        </p:sp>
        <p:sp>
          <p:nvSpPr>
            <p:cNvPr id="26" name="TextBox 25"/>
            <p:cNvSpPr txBox="1"/>
            <p:nvPr/>
          </p:nvSpPr>
          <p:spPr>
            <a:xfrm>
              <a:off x="1051560" y="5212079"/>
              <a:ext cx="10088575" cy="548640"/>
            </a:xfrm>
            <a:prstGeom prst="rect">
              <a:avLst/>
            </a:prstGeom>
            <a:noFill/>
          </p:spPr>
          <p:txBody>
            <a:bodyPr wrap="square" anchor="t" lIns="0" rIns="0" tIns="0" bIns="0">
              <a:spAutoFit/>
            </a:bodyPr>
            <a:lstStyle/>
            <a:p>
              <a:pPr algn="l">
                <a:spcAft>
                  <a:spcPts val="0"/>
                </a:spcAft>
              </a:pPr>
              <a:r>
                <a:rPr sz="1600" b="0" i="0">
                  <a:solidFill>
                    <a:srgbClr val="B9C2DC"/>
                  </a:solidFill>
                  <a:latin typeface="Open Sans"/>
                </a:rPr>
                <a:t>Mismos datos, mismo resultado. La IA no inventa cifras y, si falla, hay una explicación de respaldo.</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10"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2" fill="hold">
                      <p:stCondLst>
                        <p:cond delay="indefinite"/>
                      </p:stCondLst>
                      <p:childTnLst>
                        <p:par>
                          <p:cTn id="13"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50"/>
                                        <p:tgtEl>
                                          <p:spTgt spid="17"/>
                                        </p:tgtEl>
                                      </p:cBhvr>
                                    </p:animEffect>
                                  </p:childTnLst>
                                </p:cTn>
                              </p:par>
                            </p:childTnLst>
                          </p:cTn>
                        </p:par>
                      </p:childTnLst>
                    </p:cTn>
                  </p:par>
                  <p:par>
                    <p:cTn id="17" fill="hold">
                      <p:stCondLst>
                        <p:cond delay="indefinite"/>
                      </p:stCondLst>
                      <p:childTnLst>
                        <p:par>
                          <p:cTn id="18" fill="hold">
                            <p:stCondLst>
                              <p:cond delay="0"/>
                            </p:stCondLst>
                            <p:childTnLst>
                              <p:par>
                                <p:cTn id="21" presetID="22" presetClass="entr" presetSubtype="8"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5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451"/>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B9C2DC"/>
                </a:solidFill>
                <a:latin typeface="Open Sans"/>
              </a:rPr>
              <a:t>HACKATHON EXPO CLEAN 2026 · RETO 1 · 07</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C4A857"/>
                  </a:solidFill>
                  <a:latin typeface="Open Sans"/>
                </a:rPr>
                <a:t>VALIDACIÓN</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FFFFFF"/>
                  </a:solidFill>
                  <a:latin typeface="Oswald"/>
                </a:rPr>
                <a:t>Lo que hay, sin humo</a:t>
              </a:r>
            </a:p>
          </p:txBody>
        </p:sp>
      </p:grpSp>
      <p:sp>
        <p:nvSpPr>
          <p:cNvPr id="7" name="Rectangle 6"/>
          <p:cNvSpPr/>
          <p:nvPr/>
        </p:nvSpPr>
        <p:spPr>
          <a:xfrm>
            <a:off x="685800" y="6217920"/>
            <a:ext cx="10820095" cy="10972"/>
          </a:xfrm>
          <a:prstGeom prst="rect">
            <a:avLst/>
          </a:prstGeom>
          <a:solidFill>
            <a:srgbClr val="2E3B6E"/>
          </a:solidFill>
          <a:ln>
            <a:noFill/>
          </a:ln>
        </p:spPr>
        <p:txBody>
          <a:bodyPr rtlCol="0" anchor="ctr"/>
          <a:lstStyle/>
          <a:p>
            <a:pPr algn="ctr"/>
          </a:p>
        </p:txBody>
      </p:sp>
      <p:pic>
        <p:nvPicPr>
          <p:cNvPr id="8" name="Picture 7" descr="istpet-logo-blanc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B9C2DC"/>
                </a:solidFill>
                <a:latin typeface="Open Sans"/>
              </a:rPr>
              <a:t>Fuente: escenario sintético de Quito: 40 puntos, no son clientes. El recorrido sin señal está construido y aún no se ensayó en un teléfono real.</a:t>
            </a:r>
          </a:p>
        </p:txBody>
      </p:sp>
      <p:grpSp>
        <p:nvGrpSpPr>
          <p:cNvPr id="11" name="Group 10"/>
          <p:cNvGrpSpPr/>
          <p:nvPr/>
        </p:nvGrpSpPr>
        <p:grpSpPr>
          <a:xfrm>
            <a:off x="685800" y="1691640"/>
            <a:ext cx="3423818" cy="3383280"/>
            <a:chOff x="685800" y="1691640"/>
            <a:chExt cx="3423818" cy="3383280"/>
          </a:xfrm>
        </p:grpSpPr>
        <p:sp>
          <p:nvSpPr>
            <p:cNvPr id="12" name="Rectangle 11"/>
            <p:cNvSpPr/>
            <p:nvPr/>
          </p:nvSpPr>
          <p:spPr>
            <a:xfrm>
              <a:off x="685800" y="1691640"/>
              <a:ext cx="3423818" cy="3383280"/>
            </a:xfrm>
            <a:prstGeom prst="rect">
              <a:avLst/>
            </a:prstGeom>
            <a:solidFill>
              <a:srgbClr val="2E3B6E"/>
            </a:solidFill>
            <a:ln>
              <a:noFill/>
            </a:ln>
          </p:spPr>
          <p:txBody>
            <a:bodyPr rtlCol="0" anchor="ctr"/>
            <a:lstStyle/>
            <a:p>
              <a:pPr algn="ctr"/>
            </a:p>
          </p:txBody>
        </p:sp>
        <p:sp>
          <p:nvSpPr>
            <p:cNvPr id="13" name="Rectangle 12"/>
            <p:cNvSpPr/>
            <p:nvPr/>
          </p:nvSpPr>
          <p:spPr>
            <a:xfrm>
              <a:off x="685800" y="1691640"/>
              <a:ext cx="3423818" cy="54864"/>
            </a:xfrm>
            <a:prstGeom prst="rect">
              <a:avLst/>
            </a:prstGeom>
            <a:solidFill>
              <a:srgbClr val="C4A857"/>
            </a:solidFill>
            <a:ln>
              <a:noFill/>
            </a:ln>
          </p:spPr>
          <p:txBody>
            <a:bodyPr rtlCol="0" anchor="ctr"/>
            <a:lstStyle/>
            <a:p>
              <a:pPr algn="ctr"/>
            </a:p>
          </p:txBody>
        </p:sp>
        <p:sp>
          <p:nvSpPr>
            <p:cNvPr id="14" name="TextBox 13"/>
            <p:cNvSpPr txBox="1"/>
            <p:nvPr/>
          </p:nvSpPr>
          <p:spPr>
            <a:xfrm>
              <a:off x="960120" y="1920240"/>
              <a:ext cx="2875178" cy="548640"/>
            </a:xfrm>
            <a:prstGeom prst="rect">
              <a:avLst/>
            </a:prstGeom>
            <a:noFill/>
          </p:spPr>
          <p:txBody>
            <a:bodyPr wrap="square" anchor="t" lIns="0" rIns="0" tIns="0" bIns="0">
              <a:spAutoFit/>
            </a:bodyPr>
            <a:lstStyle/>
            <a:p>
              <a:pPr algn="l">
                <a:spcAft>
                  <a:spcPts val="0"/>
                </a:spcAft>
              </a:pPr>
              <a:r>
                <a:rPr sz="2400" b="1" i="0" spc="120">
                  <a:solidFill>
                    <a:srgbClr val="C4A857"/>
                  </a:solidFill>
                  <a:latin typeface="Oswald"/>
                </a:rPr>
                <a:t>CONSTRUIDO</a:t>
              </a:r>
            </a:p>
          </p:txBody>
        </p:sp>
        <p:sp>
          <p:nvSpPr>
            <p:cNvPr id="15" name="TextBox 14"/>
            <p:cNvSpPr txBox="1"/>
            <p:nvPr/>
          </p:nvSpPr>
          <p:spPr>
            <a:xfrm>
              <a:off x="960120" y="2560320"/>
              <a:ext cx="2875178" cy="2423160"/>
            </a:xfrm>
            <a:prstGeom prst="rect">
              <a:avLst/>
            </a:prstGeom>
            <a:noFill/>
          </p:spPr>
          <p:txBody>
            <a:bodyPr wrap="square" anchor="t" lIns="0" rIns="0" tIns="0" bIns="0">
              <a:spAutoFit/>
            </a:bodyPr>
            <a:lstStyle/>
            <a:p>
              <a:pPr algn="l">
                <a:lnSpc>
                  <a:spcPct val="105000"/>
                </a:lnSpc>
                <a:spcAft>
                  <a:spcPts val="800"/>
                </a:spcAft>
              </a:pPr>
              <a:r>
                <a:rPr sz="1550" b="0" i="0">
                  <a:solidFill>
                    <a:srgbClr val="FFFFFF"/>
                  </a:solidFill>
                  <a:latin typeface="Open Sans"/>
                </a:rPr>
                <a:t>•  Inventario con alertas</a:t>
              </a:r>
            </a:p>
            <a:p>
              <a:pPr algn="l">
                <a:lnSpc>
                  <a:spcPct val="105000"/>
                </a:lnSpc>
                <a:spcAft>
                  <a:spcPts val="800"/>
                </a:spcAft>
              </a:pPr>
              <a:r>
                <a:rPr sz="1550" b="0" i="0">
                  <a:solidFill>
                    <a:srgbClr val="FFFFFF"/>
                  </a:solidFill>
                  <a:latin typeface="Open Sans"/>
                </a:rPr>
                <a:t>•  Motor de rutas y costo de servir</a:t>
              </a:r>
            </a:p>
            <a:p>
              <a:pPr algn="l">
                <a:lnSpc>
                  <a:spcPct val="105000"/>
                </a:lnSpc>
                <a:spcAft>
                  <a:spcPts val="800"/>
                </a:spcAft>
              </a:pPr>
              <a:r>
                <a:rPr sz="1550" b="0" i="0">
                  <a:solidFill>
                    <a:srgbClr val="FFFFFF"/>
                  </a:solidFill>
                  <a:latin typeface="Open Sans"/>
                </a:rPr>
                <a:t>•  Agente IA con n8n</a:t>
              </a:r>
            </a:p>
            <a:p>
              <a:pPr algn="l">
                <a:lnSpc>
                  <a:spcPct val="105000"/>
                </a:lnSpc>
                <a:spcAft>
                  <a:spcPts val="800"/>
                </a:spcAft>
              </a:pPr>
              <a:r>
                <a:rPr sz="1550" b="0" i="0">
                  <a:solidFill>
                    <a:srgbClr val="FFFFFF"/>
                  </a:solidFill>
                  <a:latin typeface="Open Sans"/>
                </a:rPr>
                <a:t>•  Custodia con QR y captura sin señal</a:t>
              </a:r>
            </a:p>
          </p:txBody>
        </p:sp>
      </p:grpSp>
      <p:grpSp>
        <p:nvGrpSpPr>
          <p:cNvPr id="16" name="Group 15"/>
          <p:cNvGrpSpPr/>
          <p:nvPr/>
        </p:nvGrpSpPr>
        <p:grpSpPr>
          <a:xfrm>
            <a:off x="4383938" y="1691640"/>
            <a:ext cx="3423818" cy="3383280"/>
            <a:chOff x="4383938" y="1691640"/>
            <a:chExt cx="3423818" cy="3383280"/>
          </a:xfrm>
        </p:grpSpPr>
        <p:sp>
          <p:nvSpPr>
            <p:cNvPr id="17" name="Rectangle 16"/>
            <p:cNvSpPr/>
            <p:nvPr/>
          </p:nvSpPr>
          <p:spPr>
            <a:xfrm>
              <a:off x="4383938" y="1691640"/>
              <a:ext cx="3423818" cy="3383280"/>
            </a:xfrm>
            <a:prstGeom prst="rect">
              <a:avLst/>
            </a:prstGeom>
            <a:solidFill>
              <a:srgbClr val="2E3B6E"/>
            </a:solidFill>
            <a:ln>
              <a:noFill/>
            </a:ln>
          </p:spPr>
          <p:txBody>
            <a:bodyPr rtlCol="0" anchor="ctr"/>
            <a:lstStyle/>
            <a:p>
              <a:pPr algn="ctr"/>
            </a:p>
          </p:txBody>
        </p:sp>
        <p:sp>
          <p:nvSpPr>
            <p:cNvPr id="18" name="Rectangle 17"/>
            <p:cNvSpPr/>
            <p:nvPr/>
          </p:nvSpPr>
          <p:spPr>
            <a:xfrm>
              <a:off x="4383938" y="1691640"/>
              <a:ext cx="3423818" cy="54864"/>
            </a:xfrm>
            <a:prstGeom prst="rect">
              <a:avLst/>
            </a:prstGeom>
            <a:solidFill>
              <a:srgbClr val="C4A857"/>
            </a:solidFill>
            <a:ln>
              <a:noFill/>
            </a:ln>
          </p:spPr>
          <p:txBody>
            <a:bodyPr rtlCol="0" anchor="ctr"/>
            <a:lstStyle/>
            <a:p>
              <a:pPr algn="ctr"/>
            </a:p>
          </p:txBody>
        </p:sp>
        <p:sp>
          <p:nvSpPr>
            <p:cNvPr id="19" name="TextBox 18"/>
            <p:cNvSpPr txBox="1"/>
            <p:nvPr/>
          </p:nvSpPr>
          <p:spPr>
            <a:xfrm>
              <a:off x="4658258" y="1920240"/>
              <a:ext cx="2875178" cy="548640"/>
            </a:xfrm>
            <a:prstGeom prst="rect">
              <a:avLst/>
            </a:prstGeom>
            <a:noFill/>
          </p:spPr>
          <p:txBody>
            <a:bodyPr wrap="square" anchor="t" lIns="0" rIns="0" tIns="0" bIns="0">
              <a:spAutoFit/>
            </a:bodyPr>
            <a:lstStyle/>
            <a:p>
              <a:pPr algn="l">
                <a:spcAft>
                  <a:spcPts val="0"/>
                </a:spcAft>
              </a:pPr>
              <a:r>
                <a:rPr sz="2400" b="1" i="0" spc="120">
                  <a:solidFill>
                    <a:srgbClr val="C4A857"/>
                  </a:solidFill>
                  <a:latin typeface="Oswald"/>
                </a:rPr>
                <a:t>ENSAYADO</a:t>
              </a:r>
            </a:p>
          </p:txBody>
        </p:sp>
        <p:sp>
          <p:nvSpPr>
            <p:cNvPr id="20" name="TextBox 19"/>
            <p:cNvSpPr txBox="1"/>
            <p:nvPr/>
          </p:nvSpPr>
          <p:spPr>
            <a:xfrm>
              <a:off x="4658258" y="2560320"/>
              <a:ext cx="2875178" cy="2423160"/>
            </a:xfrm>
            <a:prstGeom prst="rect">
              <a:avLst/>
            </a:prstGeom>
            <a:noFill/>
          </p:spPr>
          <p:txBody>
            <a:bodyPr wrap="square" anchor="t" lIns="0" rIns="0" tIns="0" bIns="0">
              <a:spAutoFit/>
            </a:bodyPr>
            <a:lstStyle/>
            <a:p>
              <a:pPr algn="l">
                <a:lnSpc>
                  <a:spcPct val="105000"/>
                </a:lnSpc>
                <a:spcAft>
                  <a:spcPts val="800"/>
                </a:spcAft>
              </a:pPr>
              <a:r>
                <a:rPr sz="1550" b="0" i="0">
                  <a:solidFill>
                    <a:srgbClr val="FFFFFF"/>
                  </a:solidFill>
                  <a:latin typeface="Open Sans"/>
                </a:rPr>
                <a:t>•  Motor y comparación A/B/C en un ensayo técnico con escenario sintético de Quito</a:t>
              </a:r>
            </a:p>
            <a:p>
              <a:pPr algn="l">
                <a:lnSpc>
                  <a:spcPct val="105000"/>
                </a:lnSpc>
                <a:spcAft>
                  <a:spcPts val="800"/>
                </a:spcAft>
              </a:pPr>
              <a:r>
                <a:rPr sz="1550" b="0" i="0">
                  <a:solidFill>
                    <a:srgbClr val="FFFFFF"/>
                  </a:solidFill>
                  <a:latin typeface="Open Sans"/>
                </a:rPr>
                <a:t>•  Corrida registrada del agente, incluida su caída al respaldo</a:t>
              </a:r>
            </a:p>
          </p:txBody>
        </p:sp>
      </p:grpSp>
      <p:grpSp>
        <p:nvGrpSpPr>
          <p:cNvPr id="21" name="Group 20"/>
          <p:cNvGrpSpPr/>
          <p:nvPr/>
        </p:nvGrpSpPr>
        <p:grpSpPr>
          <a:xfrm>
            <a:off x="8082076" y="1691640"/>
            <a:ext cx="3423818" cy="3383280"/>
            <a:chOff x="8082076" y="1691640"/>
            <a:chExt cx="3423818" cy="3383280"/>
          </a:xfrm>
        </p:grpSpPr>
        <p:sp>
          <p:nvSpPr>
            <p:cNvPr id="22" name="Rectangle 21"/>
            <p:cNvSpPr/>
            <p:nvPr/>
          </p:nvSpPr>
          <p:spPr>
            <a:xfrm>
              <a:off x="8082076" y="1691640"/>
              <a:ext cx="3423818" cy="3383280"/>
            </a:xfrm>
            <a:prstGeom prst="rect">
              <a:avLst/>
            </a:prstGeom>
            <a:solidFill>
              <a:srgbClr val="162451"/>
            </a:solidFill>
            <a:ln w="19050">
              <a:solidFill>
                <a:srgbClr val="C4A857"/>
              </a:solidFill>
            </a:ln>
          </p:spPr>
          <p:txBody>
            <a:bodyPr rtlCol="0" anchor="ctr"/>
            <a:lstStyle/>
            <a:p>
              <a:pPr algn="ctr"/>
            </a:p>
          </p:txBody>
        </p:sp>
        <p:sp>
          <p:nvSpPr>
            <p:cNvPr id="23" name="Rectangle 22"/>
            <p:cNvSpPr/>
            <p:nvPr/>
          </p:nvSpPr>
          <p:spPr>
            <a:xfrm>
              <a:off x="8082076" y="1691640"/>
              <a:ext cx="3423818" cy="54864"/>
            </a:xfrm>
            <a:prstGeom prst="rect">
              <a:avLst/>
            </a:prstGeom>
            <a:solidFill>
              <a:srgbClr val="C4A857"/>
            </a:solidFill>
            <a:ln>
              <a:noFill/>
            </a:ln>
          </p:spPr>
          <p:txBody>
            <a:bodyPr rtlCol="0" anchor="ctr"/>
            <a:lstStyle/>
            <a:p>
              <a:pPr algn="ctr"/>
            </a:p>
          </p:txBody>
        </p:sp>
        <p:sp>
          <p:nvSpPr>
            <p:cNvPr id="24" name="TextBox 23"/>
            <p:cNvSpPr txBox="1"/>
            <p:nvPr/>
          </p:nvSpPr>
          <p:spPr>
            <a:xfrm>
              <a:off x="8356396" y="1920240"/>
              <a:ext cx="2875178" cy="548640"/>
            </a:xfrm>
            <a:prstGeom prst="rect">
              <a:avLst/>
            </a:prstGeom>
            <a:noFill/>
          </p:spPr>
          <p:txBody>
            <a:bodyPr wrap="square" anchor="t" lIns="0" rIns="0" tIns="0" bIns="0">
              <a:spAutoFit/>
            </a:bodyPr>
            <a:lstStyle/>
            <a:p>
              <a:pPr algn="l">
                <a:spcAft>
                  <a:spcPts val="0"/>
                </a:spcAft>
              </a:pPr>
              <a:r>
                <a:rPr sz="2400" b="1" i="0" spc="120">
                  <a:solidFill>
                    <a:srgbClr val="E6D7A3"/>
                  </a:solidFill>
                  <a:latin typeface="Oswald"/>
                </a:rPr>
                <a:t>SIGUIENTE FASE</a:t>
              </a:r>
            </a:p>
          </p:txBody>
        </p:sp>
        <p:sp>
          <p:nvSpPr>
            <p:cNvPr id="25" name="TextBox 24"/>
            <p:cNvSpPr txBox="1"/>
            <p:nvPr/>
          </p:nvSpPr>
          <p:spPr>
            <a:xfrm>
              <a:off x="8356396" y="2560320"/>
              <a:ext cx="2875178" cy="2423160"/>
            </a:xfrm>
            <a:prstGeom prst="rect">
              <a:avLst/>
            </a:prstGeom>
            <a:noFill/>
          </p:spPr>
          <p:txBody>
            <a:bodyPr wrap="square" anchor="t" lIns="0" rIns="0" tIns="0" bIns="0">
              <a:spAutoFit/>
            </a:bodyPr>
            <a:lstStyle/>
            <a:p>
              <a:pPr algn="l">
                <a:lnSpc>
                  <a:spcPct val="105000"/>
                </a:lnSpc>
                <a:spcAft>
                  <a:spcPts val="800"/>
                </a:spcAft>
              </a:pPr>
              <a:r>
                <a:rPr sz="1550" b="1" i="0">
                  <a:solidFill>
                    <a:srgbClr val="E6D7A3"/>
                  </a:solidFill>
                  <a:latin typeface="Open Sans"/>
                </a:rPr>
                <a:t>•  Usarlo en una empresa real: cargar sus datos y medir contra su línea base</a:t>
              </a:r>
            </a:p>
            <a:p>
              <a:pPr algn="l">
                <a:lnSpc>
                  <a:spcPct val="105000"/>
                </a:lnSpc>
                <a:spcAft>
                  <a:spcPts val="800"/>
                </a:spcAft>
              </a:pPr>
              <a:r>
                <a:rPr sz="1550" b="1" i="0">
                  <a:solidFill>
                    <a:srgbClr val="E6D7A3"/>
                  </a:solidFill>
                  <a:latin typeface="Open Sans"/>
                </a:rPr>
                <a:t>•  Probar el recorrido sin señal en un teléfono real</a:t>
              </a:r>
            </a:p>
            <a:p>
              <a:pPr algn="l">
                <a:lnSpc>
                  <a:spcPct val="105000"/>
                </a:lnSpc>
                <a:spcAft>
                  <a:spcPts val="800"/>
                </a:spcAft>
              </a:pPr>
              <a:r>
                <a:rPr sz="1550" b="0" i="0">
                  <a:solidFill>
                    <a:srgbClr val="FFFFFF"/>
                  </a:solidFill>
                  <a:latin typeface="Open Sans"/>
                </a:rPr>
                <a:t>•  Llevar la comparación A/B/C a producción</a:t>
              </a:r>
            </a:p>
          </p:txBody>
        </p:sp>
      </p:grpSp>
      <p:sp>
        <p:nvSpPr>
          <p:cNvPr id="26" name="TextBox 25"/>
          <p:cNvSpPr txBox="1"/>
          <p:nvPr/>
        </p:nvSpPr>
        <p:spPr>
          <a:xfrm>
            <a:off x="685800" y="5303520"/>
            <a:ext cx="10820095" cy="548640"/>
          </a:xfrm>
          <a:prstGeom prst="rect">
            <a:avLst/>
          </a:prstGeom>
          <a:noFill/>
        </p:spPr>
        <p:txBody>
          <a:bodyPr wrap="square" anchor="t" lIns="0" rIns="0" tIns="0" bIns="0">
            <a:spAutoFit/>
          </a:bodyPr>
          <a:lstStyle/>
          <a:p>
            <a:pPr algn="ctr">
              <a:spcAft>
                <a:spcPts val="0"/>
              </a:spcAft>
            </a:pPr>
            <a:r>
              <a:rPr sz="1900" b="1" i="1">
                <a:solidFill>
                  <a:srgbClr val="E6D7A3"/>
                </a:solidFill>
                <a:latin typeface="Open Sans"/>
              </a:rPr>
              <a:t>Preferimos mostrarles lo que funciona de verdad que prometer lo que no hemos medido.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10"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2" fill="hold">
                      <p:stCondLst>
                        <p:cond delay="indefinite"/>
                      </p:stCondLst>
                      <p:childTnLst>
                        <p:par>
                          <p:cTn id="13"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childTnLst>
                          </p:cTn>
                        </p:par>
                      </p:childTnLst>
                    </p:cTn>
                  </p:par>
                  <p:par>
                    <p:cTn id="17" fill="hold">
                      <p:stCondLst>
                        <p:cond delay="indefinite"/>
                      </p:stCondLst>
                      <p:childTnLst>
                        <p:par>
                          <p:cTn id="18" fill="hold">
                            <p:stCondLst>
                              <p:cond delay="0"/>
                            </p:stCondLst>
                            <p:childTnLst>
                              <p:par>
                                <p:cTn id="21"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50"/>
                                        <p:tgtEl>
                                          <p:spTgt spid="21"/>
                                        </p:tgtEl>
                                      </p:cBhvr>
                                    </p:animEffect>
                                  </p:childTnLst>
                                </p:cTn>
                              </p:par>
                            </p:childTnLst>
                          </p:cTn>
                        </p:par>
                      </p:childTnLst>
                    </p:cTn>
                  </p:par>
                  <p:par>
                    <p:cTn id="22" fill="hold">
                      <p:stCondLst>
                        <p:cond delay="indefinite"/>
                      </p:stCondLst>
                      <p:childTnLst>
                        <p:par>
                          <p:cTn id="23" fill="hold">
                            <p:stCondLst>
                              <p:cond delay="0"/>
                            </p:stCondLst>
                            <p:childTnLst>
                              <p:par>
                                <p:cTn id="26" presetID="10"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5B6585"/>
                </a:solidFill>
                <a:latin typeface="Open Sans"/>
              </a:rPr>
              <a:t>HACKATHON EXPO CLEAN 2026 · RETO 1 · 08</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7D6520"/>
                  </a:solidFill>
                  <a:latin typeface="Open Sans"/>
                </a:rPr>
                <a:t>IMPACTO Y MODELO</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242D57"/>
                  </a:solidFill>
                  <a:latin typeface="Oswald"/>
                </a:rPr>
                <a:t>Lo medimos en un piloto, contra una línea base</a:t>
              </a:r>
            </a:p>
          </p:txBody>
        </p:sp>
      </p:grpSp>
      <p:sp>
        <p:nvSpPr>
          <p:cNvPr id="7" name="Rectangle 6"/>
          <p:cNvSpPr/>
          <p:nvPr/>
        </p:nvSpPr>
        <p:spPr>
          <a:xfrm>
            <a:off x="685800" y="6217920"/>
            <a:ext cx="10820095" cy="10972"/>
          </a:xfrm>
          <a:prstGeom prst="rect">
            <a:avLst/>
          </a:prstGeom>
          <a:solidFill>
            <a:srgbClr val="D5DBEA"/>
          </a:solidFill>
          <a:ln>
            <a:noFill/>
          </a:ln>
        </p:spPr>
        <p:txBody>
          <a:bodyPr rtlCol="0" anchor="ctr"/>
          <a:lstStyle/>
          <a:p>
            <a:pPr algn="ctr"/>
          </a:p>
        </p:txBody>
      </p:sp>
      <p:pic>
        <p:nvPicPr>
          <p:cNvPr id="8" name="Picture 7" descr="istpet-log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5B6585"/>
                </a:solidFill>
                <a:latin typeface="Open Sans"/>
              </a:rPr>
              <a:t>Fuente: sin ahorro prometido; costo y precio por validar en el piloto; modelo como hipótesis. La sección Reportes existe en el sistema, sin ensayo de la escena.</a:t>
            </a:r>
          </a:p>
        </p:txBody>
      </p:sp>
      <p:grpSp>
        <p:nvGrpSpPr>
          <p:cNvPr id="11" name="Group 10"/>
          <p:cNvGrpSpPr/>
          <p:nvPr/>
        </p:nvGrpSpPr>
        <p:grpSpPr>
          <a:xfrm>
            <a:off x="685800" y="1645920"/>
            <a:ext cx="6583680" cy="1170432"/>
            <a:chOff x="685800" y="1645920"/>
            <a:chExt cx="6583680" cy="1170432"/>
          </a:xfrm>
        </p:grpSpPr>
        <p:sp>
          <p:nvSpPr>
            <p:cNvPr id="12" name="Rectangle 11"/>
            <p:cNvSpPr/>
            <p:nvPr/>
          </p:nvSpPr>
          <p:spPr>
            <a:xfrm>
              <a:off x="685800" y="1645920"/>
              <a:ext cx="6583680" cy="1170432"/>
            </a:xfrm>
            <a:prstGeom prst="rect">
              <a:avLst/>
            </a:prstGeom>
            <a:solidFill>
              <a:srgbClr val="EDF0F7"/>
            </a:solidFill>
            <a:ln>
              <a:noFill/>
            </a:ln>
          </p:spPr>
          <p:txBody>
            <a:bodyPr rtlCol="0" anchor="ctr"/>
            <a:lstStyle/>
            <a:p>
              <a:pPr algn="ctr"/>
            </a:p>
          </p:txBody>
        </p:sp>
        <p:sp>
          <p:nvSpPr>
            <p:cNvPr id="13" name="Rectangle 12"/>
            <p:cNvSpPr/>
            <p:nvPr/>
          </p:nvSpPr>
          <p:spPr>
            <a:xfrm>
              <a:off x="685800" y="1645920"/>
              <a:ext cx="6583680" cy="54864"/>
            </a:xfrm>
            <a:prstGeom prst="rect">
              <a:avLst/>
            </a:prstGeom>
            <a:solidFill>
              <a:srgbClr val="C4A857"/>
            </a:solidFill>
            <a:ln>
              <a:noFill/>
            </a:ln>
          </p:spPr>
          <p:txBody>
            <a:bodyPr rtlCol="0" anchor="ctr"/>
            <a:lstStyle/>
            <a:p>
              <a:pPr algn="ctr"/>
            </a:p>
          </p:txBody>
        </p:sp>
        <p:sp>
          <p:nvSpPr>
            <p:cNvPr id="14" name="TextBox 13"/>
            <p:cNvSpPr txBox="1"/>
            <p:nvPr/>
          </p:nvSpPr>
          <p:spPr>
            <a:xfrm>
              <a:off x="6446520" y="1883664"/>
              <a:ext cx="548640" cy="457200"/>
            </a:xfrm>
            <a:prstGeom prst="rect">
              <a:avLst/>
            </a:prstGeom>
            <a:noFill/>
          </p:spPr>
          <p:txBody>
            <a:bodyPr wrap="square" anchor="t" lIns="0" rIns="0" tIns="0" bIns="0">
              <a:spAutoFit/>
            </a:bodyPr>
            <a:lstStyle/>
            <a:p>
              <a:pPr algn="r">
                <a:spcAft>
                  <a:spcPts val="0"/>
                </a:spcAft>
              </a:pPr>
              <a:r>
                <a:rPr sz="2000" b="1" i="0">
                  <a:solidFill>
                    <a:srgbClr val="7D6520"/>
                  </a:solidFill>
                  <a:latin typeface="Oswald"/>
                </a:rPr>
                <a:t>01</a:t>
              </a:r>
            </a:p>
          </p:txBody>
        </p:sp>
        <p:sp>
          <p:nvSpPr>
            <p:cNvPr id="15" name="TextBox 14"/>
            <p:cNvSpPr txBox="1"/>
            <p:nvPr/>
          </p:nvSpPr>
          <p:spPr>
            <a:xfrm>
              <a:off x="960120" y="1938528"/>
              <a:ext cx="5394960" cy="364601"/>
            </a:xfrm>
            <a:prstGeom prst="rect">
              <a:avLst/>
            </a:prstGeom>
            <a:noFill/>
          </p:spPr>
          <p:txBody>
            <a:bodyPr wrap="square" anchor="t" lIns="0" rIns="0" tIns="0" bIns="0">
              <a:spAutoFit/>
            </a:bodyPr>
            <a:lstStyle/>
            <a:p>
              <a:pPr algn="l">
                <a:lnSpc>
                  <a:spcPct val="92000"/>
                </a:lnSpc>
                <a:spcAft>
                  <a:spcPts val="0"/>
                </a:spcAft>
              </a:pPr>
              <a:r>
                <a:rPr sz="2000" b="1" i="0">
                  <a:solidFill>
                    <a:srgbClr val="242D57"/>
                  </a:solidFill>
                  <a:latin typeface="Oswald"/>
                </a:rPr>
                <a:t>Faltantes que se descubren tarde</a:t>
              </a:r>
            </a:p>
          </p:txBody>
        </p:sp>
        <p:sp>
          <p:nvSpPr>
            <p:cNvPr id="16" name="TextBox 15"/>
            <p:cNvSpPr txBox="1"/>
            <p:nvPr/>
          </p:nvSpPr>
          <p:spPr>
            <a:xfrm>
              <a:off x="960120" y="2376281"/>
              <a:ext cx="6035040" cy="257190"/>
            </a:xfrm>
            <a:prstGeom prst="rect">
              <a:avLst/>
            </a:prstGeom>
            <a:noFill/>
          </p:spPr>
          <p:txBody>
            <a:bodyPr wrap="square" anchor="t" lIns="0" rIns="0" tIns="0" bIns="0">
              <a:spAutoFit/>
            </a:bodyPr>
            <a:lstStyle/>
            <a:p>
              <a:pPr algn="l">
                <a:lnSpc>
                  <a:spcPct val="105000"/>
                </a:lnSpc>
                <a:spcAft>
                  <a:spcPts val="0"/>
                </a:spcAft>
              </a:pPr>
              <a:r>
                <a:rPr sz="1500" b="0" i="0">
                  <a:solidFill>
                    <a:srgbClr val="5B6585"/>
                  </a:solidFill>
                  <a:latin typeface="Open Sans"/>
                </a:rPr>
                <a:t>Menos quiebres que llegan por llamada del cliente</a:t>
              </a:r>
            </a:p>
          </p:txBody>
        </p:sp>
      </p:grpSp>
      <p:grpSp>
        <p:nvGrpSpPr>
          <p:cNvPr id="17" name="Group 16"/>
          <p:cNvGrpSpPr/>
          <p:nvPr/>
        </p:nvGrpSpPr>
        <p:grpSpPr>
          <a:xfrm>
            <a:off x="685800" y="2926080"/>
            <a:ext cx="6583680" cy="1170432"/>
            <a:chOff x="685800" y="2926080"/>
            <a:chExt cx="6583680" cy="1170432"/>
          </a:xfrm>
        </p:grpSpPr>
        <p:sp>
          <p:nvSpPr>
            <p:cNvPr id="18" name="Rectangle 17"/>
            <p:cNvSpPr/>
            <p:nvPr/>
          </p:nvSpPr>
          <p:spPr>
            <a:xfrm>
              <a:off x="685800" y="2926080"/>
              <a:ext cx="6583680" cy="1170432"/>
            </a:xfrm>
            <a:prstGeom prst="rect">
              <a:avLst/>
            </a:prstGeom>
            <a:solidFill>
              <a:srgbClr val="EDF0F7"/>
            </a:solidFill>
            <a:ln>
              <a:noFill/>
            </a:ln>
          </p:spPr>
          <p:txBody>
            <a:bodyPr rtlCol="0" anchor="ctr"/>
            <a:lstStyle/>
            <a:p>
              <a:pPr algn="ctr"/>
            </a:p>
          </p:txBody>
        </p:sp>
        <p:sp>
          <p:nvSpPr>
            <p:cNvPr id="19" name="Rectangle 18"/>
            <p:cNvSpPr/>
            <p:nvPr/>
          </p:nvSpPr>
          <p:spPr>
            <a:xfrm>
              <a:off x="685800" y="2926080"/>
              <a:ext cx="6583680" cy="54864"/>
            </a:xfrm>
            <a:prstGeom prst="rect">
              <a:avLst/>
            </a:prstGeom>
            <a:solidFill>
              <a:srgbClr val="C4A857"/>
            </a:solidFill>
            <a:ln>
              <a:noFill/>
            </a:ln>
          </p:spPr>
          <p:txBody>
            <a:bodyPr rtlCol="0" anchor="ctr"/>
            <a:lstStyle/>
            <a:p>
              <a:pPr algn="ctr"/>
            </a:p>
          </p:txBody>
        </p:sp>
        <p:sp>
          <p:nvSpPr>
            <p:cNvPr id="20" name="TextBox 19"/>
            <p:cNvSpPr txBox="1"/>
            <p:nvPr/>
          </p:nvSpPr>
          <p:spPr>
            <a:xfrm>
              <a:off x="6446520" y="3163824"/>
              <a:ext cx="548640" cy="457200"/>
            </a:xfrm>
            <a:prstGeom prst="rect">
              <a:avLst/>
            </a:prstGeom>
            <a:noFill/>
          </p:spPr>
          <p:txBody>
            <a:bodyPr wrap="square" anchor="t" lIns="0" rIns="0" tIns="0" bIns="0">
              <a:spAutoFit/>
            </a:bodyPr>
            <a:lstStyle/>
            <a:p>
              <a:pPr algn="r">
                <a:spcAft>
                  <a:spcPts val="0"/>
                </a:spcAft>
              </a:pPr>
              <a:r>
                <a:rPr sz="2000" b="1" i="0">
                  <a:solidFill>
                    <a:srgbClr val="7D6520"/>
                  </a:solidFill>
                  <a:latin typeface="Oswald"/>
                </a:rPr>
                <a:t>02</a:t>
              </a:r>
            </a:p>
          </p:txBody>
        </p:sp>
        <p:sp>
          <p:nvSpPr>
            <p:cNvPr id="21" name="TextBox 20"/>
            <p:cNvSpPr txBox="1"/>
            <p:nvPr/>
          </p:nvSpPr>
          <p:spPr>
            <a:xfrm>
              <a:off x="960120" y="3218688"/>
              <a:ext cx="5394960" cy="364601"/>
            </a:xfrm>
            <a:prstGeom prst="rect">
              <a:avLst/>
            </a:prstGeom>
            <a:noFill/>
          </p:spPr>
          <p:txBody>
            <a:bodyPr wrap="square" anchor="t" lIns="0" rIns="0" tIns="0" bIns="0">
              <a:spAutoFit/>
            </a:bodyPr>
            <a:lstStyle/>
            <a:p>
              <a:pPr algn="l">
                <a:lnSpc>
                  <a:spcPct val="92000"/>
                </a:lnSpc>
                <a:spcAft>
                  <a:spcPts val="0"/>
                </a:spcAft>
              </a:pPr>
              <a:r>
                <a:rPr sz="2000" b="1" i="0">
                  <a:solidFill>
                    <a:srgbClr val="242D57"/>
                  </a:solidFill>
                  <a:latin typeface="Oswald"/>
                </a:rPr>
                <a:t>Entregas críticas a tiempo</a:t>
              </a:r>
            </a:p>
          </p:txBody>
        </p:sp>
        <p:sp>
          <p:nvSpPr>
            <p:cNvPr id="22" name="TextBox 21"/>
            <p:cNvSpPr txBox="1"/>
            <p:nvPr/>
          </p:nvSpPr>
          <p:spPr>
            <a:xfrm>
              <a:off x="960120" y="3656441"/>
              <a:ext cx="6035040" cy="257190"/>
            </a:xfrm>
            <a:prstGeom prst="rect">
              <a:avLst/>
            </a:prstGeom>
            <a:noFill/>
          </p:spPr>
          <p:txBody>
            <a:bodyPr wrap="square" anchor="t" lIns="0" rIns="0" tIns="0" bIns="0">
              <a:spAutoFit/>
            </a:bodyPr>
            <a:lstStyle/>
            <a:p>
              <a:pPr algn="l">
                <a:lnSpc>
                  <a:spcPct val="105000"/>
                </a:lnSpc>
                <a:spcAft>
                  <a:spcPts val="0"/>
                </a:spcAft>
              </a:pPr>
              <a:r>
                <a:rPr sz="1500" b="0" i="0">
                  <a:solidFill>
                    <a:srgbClr val="5B6585"/>
                  </a:solidFill>
                  <a:latin typeface="Open Sans"/>
                </a:rPr>
                <a:t>Cuántas llegan dentro de la ventana acordada</a:t>
              </a:r>
            </a:p>
          </p:txBody>
        </p:sp>
      </p:grpSp>
      <p:grpSp>
        <p:nvGrpSpPr>
          <p:cNvPr id="23" name="Group 22"/>
          <p:cNvGrpSpPr/>
          <p:nvPr/>
        </p:nvGrpSpPr>
        <p:grpSpPr>
          <a:xfrm>
            <a:off x="685800" y="4206240"/>
            <a:ext cx="6583680" cy="1170432"/>
            <a:chOff x="685800" y="4206240"/>
            <a:chExt cx="6583680" cy="1170432"/>
          </a:xfrm>
        </p:grpSpPr>
        <p:sp>
          <p:nvSpPr>
            <p:cNvPr id="24" name="Rectangle 23"/>
            <p:cNvSpPr/>
            <p:nvPr/>
          </p:nvSpPr>
          <p:spPr>
            <a:xfrm>
              <a:off x="685800" y="4206240"/>
              <a:ext cx="6583680" cy="1170432"/>
            </a:xfrm>
            <a:prstGeom prst="rect">
              <a:avLst/>
            </a:prstGeom>
            <a:solidFill>
              <a:srgbClr val="EDF0F7"/>
            </a:solidFill>
            <a:ln>
              <a:noFill/>
            </a:ln>
          </p:spPr>
          <p:txBody>
            <a:bodyPr rtlCol="0" anchor="ctr"/>
            <a:lstStyle/>
            <a:p>
              <a:pPr algn="ctr"/>
            </a:p>
          </p:txBody>
        </p:sp>
        <p:sp>
          <p:nvSpPr>
            <p:cNvPr id="25" name="Rectangle 24"/>
            <p:cNvSpPr/>
            <p:nvPr/>
          </p:nvSpPr>
          <p:spPr>
            <a:xfrm>
              <a:off x="685800" y="4206240"/>
              <a:ext cx="6583680" cy="54864"/>
            </a:xfrm>
            <a:prstGeom prst="rect">
              <a:avLst/>
            </a:prstGeom>
            <a:solidFill>
              <a:srgbClr val="C4A857"/>
            </a:solidFill>
            <a:ln>
              <a:noFill/>
            </a:ln>
          </p:spPr>
          <p:txBody>
            <a:bodyPr rtlCol="0" anchor="ctr"/>
            <a:lstStyle/>
            <a:p>
              <a:pPr algn="ctr"/>
            </a:p>
          </p:txBody>
        </p:sp>
        <p:sp>
          <p:nvSpPr>
            <p:cNvPr id="26" name="TextBox 25"/>
            <p:cNvSpPr txBox="1"/>
            <p:nvPr/>
          </p:nvSpPr>
          <p:spPr>
            <a:xfrm>
              <a:off x="6446520" y="4443984"/>
              <a:ext cx="548640" cy="457200"/>
            </a:xfrm>
            <a:prstGeom prst="rect">
              <a:avLst/>
            </a:prstGeom>
            <a:noFill/>
          </p:spPr>
          <p:txBody>
            <a:bodyPr wrap="square" anchor="t" lIns="0" rIns="0" tIns="0" bIns="0">
              <a:spAutoFit/>
            </a:bodyPr>
            <a:lstStyle/>
            <a:p>
              <a:pPr algn="r">
                <a:spcAft>
                  <a:spcPts val="0"/>
                </a:spcAft>
              </a:pPr>
              <a:r>
                <a:rPr sz="2000" b="1" i="0">
                  <a:solidFill>
                    <a:srgbClr val="7D6520"/>
                  </a:solidFill>
                  <a:latin typeface="Oswald"/>
                </a:rPr>
                <a:t>03</a:t>
              </a:r>
            </a:p>
          </p:txBody>
        </p:sp>
        <p:sp>
          <p:nvSpPr>
            <p:cNvPr id="27" name="TextBox 26"/>
            <p:cNvSpPr txBox="1"/>
            <p:nvPr/>
          </p:nvSpPr>
          <p:spPr>
            <a:xfrm>
              <a:off x="960120" y="4498848"/>
              <a:ext cx="5394960" cy="364601"/>
            </a:xfrm>
            <a:prstGeom prst="rect">
              <a:avLst/>
            </a:prstGeom>
            <a:noFill/>
          </p:spPr>
          <p:txBody>
            <a:bodyPr wrap="square" anchor="t" lIns="0" rIns="0" tIns="0" bIns="0">
              <a:spAutoFit/>
            </a:bodyPr>
            <a:lstStyle/>
            <a:p>
              <a:pPr algn="l">
                <a:lnSpc>
                  <a:spcPct val="92000"/>
                </a:lnSpc>
                <a:spcAft>
                  <a:spcPts val="0"/>
                </a:spcAft>
              </a:pPr>
              <a:r>
                <a:rPr sz="2000" b="1" i="0">
                  <a:solidFill>
                    <a:srgbClr val="242D57"/>
                  </a:solidFill>
                  <a:latin typeface="Oswald"/>
                </a:rPr>
                <a:t>Costo real de cada entrega</a:t>
              </a:r>
            </a:p>
          </p:txBody>
        </p:sp>
        <p:sp>
          <p:nvSpPr>
            <p:cNvPr id="28" name="TextBox 27"/>
            <p:cNvSpPr txBox="1"/>
            <p:nvPr/>
          </p:nvSpPr>
          <p:spPr>
            <a:xfrm>
              <a:off x="960120" y="4936601"/>
              <a:ext cx="6035040" cy="257190"/>
            </a:xfrm>
            <a:prstGeom prst="rect">
              <a:avLst/>
            </a:prstGeom>
            <a:noFill/>
          </p:spPr>
          <p:txBody>
            <a:bodyPr wrap="square" anchor="t" lIns="0" rIns="0" tIns="0" bIns="0">
              <a:spAutoFit/>
            </a:bodyPr>
            <a:lstStyle/>
            <a:p>
              <a:pPr algn="l">
                <a:lnSpc>
                  <a:spcPct val="105000"/>
                </a:lnSpc>
                <a:spcAft>
                  <a:spcPts val="0"/>
                </a:spcAft>
              </a:pPr>
              <a:r>
                <a:rPr sz="1500" b="0" i="0">
                  <a:solidFill>
                    <a:srgbClr val="5B6585"/>
                  </a:solidFill>
                  <a:latin typeface="Open Sans"/>
                </a:rPr>
                <a:t>Con su desglose, antes y después</a:t>
              </a:r>
            </a:p>
          </p:txBody>
        </p:sp>
      </p:grpSp>
      <p:grpSp>
        <p:nvGrpSpPr>
          <p:cNvPr id="29" name="Group 28"/>
          <p:cNvGrpSpPr/>
          <p:nvPr/>
        </p:nvGrpSpPr>
        <p:grpSpPr>
          <a:xfrm>
            <a:off x="7635240" y="1645920"/>
            <a:ext cx="3870655" cy="3730752"/>
            <a:chOff x="7635240" y="1645920"/>
            <a:chExt cx="3870655" cy="3730752"/>
          </a:xfrm>
        </p:grpSpPr>
        <p:sp>
          <p:nvSpPr>
            <p:cNvPr id="30" name="Rectangle 29"/>
            <p:cNvSpPr/>
            <p:nvPr/>
          </p:nvSpPr>
          <p:spPr>
            <a:xfrm>
              <a:off x="7635240" y="1645920"/>
              <a:ext cx="3870655" cy="3730752"/>
            </a:xfrm>
            <a:prstGeom prst="rect">
              <a:avLst/>
            </a:prstGeom>
            <a:solidFill>
              <a:srgbClr val="242D57"/>
            </a:solidFill>
            <a:ln>
              <a:noFill/>
            </a:ln>
          </p:spPr>
          <p:txBody>
            <a:bodyPr rtlCol="0" anchor="ctr"/>
            <a:lstStyle/>
            <a:p>
              <a:pPr algn="ctr"/>
            </a:p>
          </p:txBody>
        </p:sp>
        <p:sp>
          <p:nvSpPr>
            <p:cNvPr id="31" name="Rectangle 30"/>
            <p:cNvSpPr/>
            <p:nvPr/>
          </p:nvSpPr>
          <p:spPr>
            <a:xfrm>
              <a:off x="7635240" y="1645920"/>
              <a:ext cx="3870655" cy="54864"/>
            </a:xfrm>
            <a:prstGeom prst="rect">
              <a:avLst/>
            </a:prstGeom>
            <a:solidFill>
              <a:srgbClr val="C4A857"/>
            </a:solidFill>
            <a:ln>
              <a:noFill/>
            </a:ln>
          </p:spPr>
          <p:txBody>
            <a:bodyPr rtlCol="0" anchor="ctr"/>
            <a:lstStyle/>
            <a:p>
              <a:pPr algn="ctr"/>
            </a:p>
          </p:txBody>
        </p:sp>
        <p:sp>
          <p:nvSpPr>
            <p:cNvPr id="32" name="TextBox 31"/>
            <p:cNvSpPr txBox="1"/>
            <p:nvPr/>
          </p:nvSpPr>
          <p:spPr>
            <a:xfrm>
              <a:off x="7909560" y="1938528"/>
              <a:ext cx="3322015" cy="468495"/>
            </a:xfrm>
            <a:prstGeom prst="rect">
              <a:avLst/>
            </a:prstGeom>
            <a:noFill/>
          </p:spPr>
          <p:txBody>
            <a:bodyPr wrap="square" anchor="t" lIns="0" rIns="0" tIns="0" bIns="0">
              <a:spAutoFit/>
            </a:bodyPr>
            <a:lstStyle/>
            <a:p>
              <a:pPr algn="l">
                <a:lnSpc>
                  <a:spcPct val="92000"/>
                </a:lnSpc>
                <a:spcAft>
                  <a:spcPts val="0"/>
                </a:spcAft>
              </a:pPr>
              <a:r>
                <a:rPr sz="2600" b="1" i="0">
                  <a:solidFill>
                    <a:srgbClr val="FFFFFF"/>
                  </a:solidFill>
                  <a:latin typeface="Oswald"/>
                </a:rPr>
                <a:t>Cómo llega</a:t>
              </a:r>
            </a:p>
          </p:txBody>
        </p:sp>
        <p:sp>
          <p:nvSpPr>
            <p:cNvPr id="33" name="TextBox 32"/>
            <p:cNvSpPr txBox="1"/>
            <p:nvPr/>
          </p:nvSpPr>
          <p:spPr>
            <a:xfrm>
              <a:off x="7909560" y="2480175"/>
              <a:ext cx="3322015" cy="2713616"/>
            </a:xfrm>
            <a:prstGeom prst="rect">
              <a:avLst/>
            </a:prstGeom>
            <a:noFill/>
          </p:spPr>
          <p:txBody>
            <a:bodyPr wrap="square" anchor="t" lIns="0" rIns="0" tIns="0" bIns="0">
              <a:spAutoFit/>
            </a:bodyPr>
            <a:lstStyle/>
            <a:p>
              <a:pPr algn="l">
                <a:lnSpc>
                  <a:spcPct val="105000"/>
                </a:lnSpc>
                <a:spcAft>
                  <a:spcPts val="0"/>
                </a:spcAft>
              </a:pPr>
              <a:r>
                <a:rPr sz="1600" b="0" i="0">
                  <a:solidFill>
                    <a:srgbClr val="B9C2DC"/>
                  </a:solidFill>
                  <a:latin typeface="Open Sans"/>
                </a:rPr>
                <a:t>Sin hardware nuevo: web y el teléfono del conductor.</a:t>
              </a:r>
            </a:p>
            <a:p>
              <a:pPr algn="l">
                <a:lnSpc>
                  <a:spcPct val="105000"/>
                </a:lnSpc>
                <a:spcAft>
                  <a:spcPts val="0"/>
                </a:spcAft>
              </a:pPr>
              <a:r>
                <a:rPr sz="1600" b="0" i="0">
                  <a:solidFill>
                    <a:srgbClr val="B9C2DC"/>
                  </a:solidFill>
                  <a:latin typeface="Open Sans"/>
                </a:rPr>
                <a:t>Implementación inicial más suscripción; el precio se valida en el piloto.</a:t>
              </a:r>
            </a:p>
            <a:p>
              <a:pPr algn="l">
                <a:lnSpc>
                  <a:spcPct val="105000"/>
                </a:lnSpc>
                <a:spcAft>
                  <a:spcPts val="0"/>
                </a:spcAft>
              </a:pPr>
              <a:r>
                <a:rPr sz="1600" b="0" i="0">
                  <a:solidFill>
                    <a:srgbClr val="B9C2DC"/>
                  </a:solidFill>
                  <a:latin typeface="Open Sans"/>
                </a:rPr>
                <a:t>Si falta un dato, dice «sin dato».</a:t>
              </a:r>
            </a:p>
          </p:txBody>
        </p:sp>
      </p:grpSp>
      <p:grpSp>
        <p:nvGrpSpPr>
          <p:cNvPr id="34" name="Group 33"/>
          <p:cNvGrpSpPr/>
          <p:nvPr/>
        </p:nvGrpSpPr>
        <p:grpSpPr>
          <a:xfrm>
            <a:off x="685800" y="5504688"/>
            <a:ext cx="10820095" cy="621792"/>
            <a:chOff x="685800" y="5504688"/>
            <a:chExt cx="10820095" cy="621792"/>
          </a:xfrm>
        </p:grpSpPr>
        <p:sp>
          <p:nvSpPr>
            <p:cNvPr id="35" name="Rectangle 34"/>
            <p:cNvSpPr/>
            <p:nvPr/>
          </p:nvSpPr>
          <p:spPr>
            <a:xfrm>
              <a:off x="685800" y="5504688"/>
              <a:ext cx="10820095" cy="621792"/>
            </a:xfrm>
            <a:prstGeom prst="rect">
              <a:avLst/>
            </a:prstGeom>
            <a:solidFill>
              <a:srgbClr val="242D57"/>
            </a:solidFill>
            <a:ln>
              <a:noFill/>
            </a:ln>
          </p:spPr>
          <p:txBody>
            <a:bodyPr rtlCol="0" anchor="ctr"/>
            <a:lstStyle/>
            <a:p>
              <a:pPr algn="ctr"/>
            </a:p>
          </p:txBody>
        </p:sp>
        <p:sp>
          <p:nvSpPr>
            <p:cNvPr id="36" name="Rectangle 35"/>
            <p:cNvSpPr/>
            <p:nvPr/>
          </p:nvSpPr>
          <p:spPr>
            <a:xfrm>
              <a:off x="685800" y="5504688"/>
              <a:ext cx="64008" cy="621792"/>
            </a:xfrm>
            <a:prstGeom prst="rect">
              <a:avLst/>
            </a:prstGeom>
            <a:solidFill>
              <a:srgbClr val="C4A857"/>
            </a:solidFill>
            <a:ln>
              <a:noFill/>
            </a:ln>
          </p:spPr>
          <p:txBody>
            <a:bodyPr rtlCol="0" anchor="ctr"/>
            <a:lstStyle/>
            <a:p>
              <a:pPr algn="ctr"/>
            </a:p>
          </p:txBody>
        </p:sp>
        <p:sp>
          <p:nvSpPr>
            <p:cNvPr id="37" name="TextBox 36"/>
            <p:cNvSpPr txBox="1"/>
            <p:nvPr/>
          </p:nvSpPr>
          <p:spPr>
            <a:xfrm>
              <a:off x="1005840" y="5504688"/>
              <a:ext cx="10180015" cy="621792"/>
            </a:xfrm>
            <a:prstGeom prst="rect">
              <a:avLst/>
            </a:prstGeom>
            <a:noFill/>
          </p:spPr>
          <p:txBody>
            <a:bodyPr wrap="square" anchor="ctr" lIns="0" rIns="0" tIns="0" bIns="0">
              <a:spAutoFit/>
            </a:bodyPr>
            <a:lstStyle/>
            <a:p>
              <a:pPr algn="l">
                <a:spcAft>
                  <a:spcPts val="0"/>
                </a:spcAft>
              </a:pPr>
              <a:r>
                <a:rPr sz="2000" b="1" i="0">
                  <a:solidFill>
                    <a:srgbClr val="FFFFFF"/>
                  </a:solidFill>
                  <a:latin typeface="Open Sans"/>
                </a:rPr>
                <a:t>Los indicadores alimentan </a:t>
              </a:r>
              <a:r>
                <a:rPr sz="2000" b="1" i="0">
                  <a:solidFill>
                    <a:srgbClr val="E6D7A3"/>
                  </a:solidFill>
                  <a:latin typeface="Open Sans"/>
                </a:rPr>
                <a:t>informes ejecutivos</a:t>
              </a:r>
              <a:r>
                <a:rPr sz="2000" b="1" i="0">
                  <a:solidFill>
                    <a:srgbClr val="FFFFFF"/>
                  </a:solidFill>
                  <a:latin typeface="Open Sans"/>
                </a:rPr>
                <a:t>: ya tenemos la sección Reportes.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1" presetID="10"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par>
                          <p:cTn id="12" fill="hold">
                            <p:stCondLst>
                              <p:cond delay="800"/>
                            </p:stCondLst>
                            <p:childTnLst>
                              <p:par>
                                <p:cTn id="15" presetID="10"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par>
                          <p:cTn id="16" fill="hold">
                            <p:stCondLst>
                              <p:cond delay="1200"/>
                            </p:stCondLst>
                            <p:childTnLst>
                              <p:par>
                                <p:cTn id="19" presetID="10" presetClass="entr" presetSubtype="0"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4" presetID="22" presetClass="entr" presetSubtype="8"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9" presetID="22" presetClass="entr" presetSubtype="8"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left)">
                                      <p:cBhvr>
                                        <p:cTn id="2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62451"/>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B9C2DC"/>
                </a:solidFill>
                <a:latin typeface="Open Sans"/>
              </a:rPr>
              <a:t>HACKATHON EXPO CLEAN 2026 · RETO 1 · 09</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C4A857"/>
                  </a:solidFill>
                  <a:latin typeface="Open Sans"/>
                </a:rPr>
                <a:t>PRÓXIMO PASO</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FFFFFF"/>
                  </a:solidFill>
                  <a:latin typeface="Oswald"/>
                </a:rPr>
                <a:t>Un piloto con una empresa de limpieza</a:t>
              </a:r>
            </a:p>
          </p:txBody>
        </p:sp>
      </p:grpSp>
      <p:sp>
        <p:nvSpPr>
          <p:cNvPr id="7" name="Rectangle 6"/>
          <p:cNvSpPr/>
          <p:nvPr/>
        </p:nvSpPr>
        <p:spPr>
          <a:xfrm>
            <a:off x="685800" y="6217920"/>
            <a:ext cx="7909560" cy="10972"/>
          </a:xfrm>
          <a:prstGeom prst="rect">
            <a:avLst/>
          </a:prstGeom>
          <a:solidFill>
            <a:srgbClr val="2E3B6E"/>
          </a:solidFill>
          <a:ln>
            <a:noFill/>
          </a:ln>
        </p:spPr>
        <p:txBody>
          <a:bodyPr rtlCol="0" anchor="ctr"/>
          <a:lstStyle/>
          <a:p>
            <a:pPr algn="ctr"/>
          </a:p>
        </p:txBody>
      </p:sp>
      <p:pic>
        <p:nvPicPr>
          <p:cNvPr id="8" name="Picture 7" descr="istpet-logo-blanc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6735463" cy="475488"/>
          </a:xfrm>
          <a:prstGeom prst="rect">
            <a:avLst/>
          </a:prstGeom>
          <a:noFill/>
        </p:spPr>
        <p:txBody>
          <a:bodyPr wrap="square" anchor="t" lIns="0" rIns="0" tIns="0" bIns="0">
            <a:spAutoFit/>
          </a:bodyPr>
          <a:lstStyle/>
          <a:p>
            <a:pPr algn="l">
              <a:spcAft>
                <a:spcPts val="0"/>
              </a:spcAft>
            </a:pPr>
            <a:r>
              <a:rPr sz="1000" b="0" i="0">
                <a:solidFill>
                  <a:srgbClr val="B9C2DC"/>
                </a:solidFill>
                <a:latin typeface="Open Sans"/>
              </a:rPr>
              <a:t>Fuente: propuesta sin contraparte confirmada ni cliente comprometido; sujeta a validación.</a:t>
            </a:r>
          </a:p>
        </p:txBody>
      </p:sp>
      <p:pic>
        <p:nvPicPr>
          <p:cNvPr id="11" name="Picture 10" descr="chillo-cuerpo-entero.png"/>
          <p:cNvPicPr>
            <a:picLocks noChangeAspect="1"/>
          </p:cNvPicPr>
          <p:nvPr/>
        </p:nvPicPr>
        <p:blipFill>
          <a:blip r:embed="rId3"/>
          <a:stretch>
            <a:fillRect/>
          </a:stretch>
        </p:blipFill>
        <p:spPr>
          <a:xfrm>
            <a:off x="9528048" y="2212848"/>
            <a:ext cx="1958112" cy="3931920"/>
          </a:xfrm>
          <a:prstGeom prst="rect">
            <a:avLst/>
          </a:prstGeom>
        </p:spPr>
      </p:pic>
      <p:sp>
        <p:nvSpPr>
          <p:cNvPr id="12" name="TextBox 11"/>
          <p:cNvSpPr txBox="1"/>
          <p:nvPr/>
        </p:nvSpPr>
        <p:spPr>
          <a:xfrm>
            <a:off x="685800" y="1691640"/>
            <a:ext cx="7909560" cy="1737360"/>
          </a:xfrm>
          <a:prstGeom prst="rect">
            <a:avLst/>
          </a:prstGeom>
          <a:noFill/>
        </p:spPr>
        <p:txBody>
          <a:bodyPr wrap="square" anchor="t" lIns="0" rIns="0" tIns="0" bIns="0">
            <a:spAutoFit/>
          </a:bodyPr>
          <a:lstStyle/>
          <a:p>
            <a:pPr algn="l">
              <a:lnSpc>
                <a:spcPct val="100000"/>
              </a:lnSpc>
              <a:spcAft>
                <a:spcPts val="0"/>
              </a:spcAft>
            </a:pPr>
            <a:r>
              <a:rPr sz="3200" b="1" i="0">
                <a:solidFill>
                  <a:srgbClr val="B9C2DC"/>
                </a:solidFill>
                <a:latin typeface="Oswald"/>
              </a:rPr>
              <a:t>Una buena cotización suma el costo completo. </a:t>
            </a:r>
            <a:r>
              <a:rPr sz="3200" b="1" i="0">
                <a:solidFill>
                  <a:srgbClr val="C4A857"/>
                </a:solidFill>
                <a:latin typeface="Oswald"/>
              </a:rPr>
              <a:t>Nosotros se lo ponemos a la entrega.</a:t>
            </a:r>
          </a:p>
        </p:txBody>
      </p:sp>
      <p:grpSp>
        <p:nvGrpSpPr>
          <p:cNvPr id="13" name="Group 12"/>
          <p:cNvGrpSpPr/>
          <p:nvPr/>
        </p:nvGrpSpPr>
        <p:grpSpPr>
          <a:xfrm>
            <a:off x="685800" y="3383280"/>
            <a:ext cx="2484120" cy="1691640"/>
            <a:chOff x="685800" y="3383280"/>
            <a:chExt cx="2484120" cy="1691640"/>
          </a:xfrm>
        </p:grpSpPr>
        <p:sp>
          <p:nvSpPr>
            <p:cNvPr id="14" name="Rectangle 13"/>
            <p:cNvSpPr/>
            <p:nvPr/>
          </p:nvSpPr>
          <p:spPr>
            <a:xfrm>
              <a:off x="685800" y="3383280"/>
              <a:ext cx="2484120" cy="1691640"/>
            </a:xfrm>
            <a:prstGeom prst="rect">
              <a:avLst/>
            </a:prstGeom>
            <a:solidFill>
              <a:srgbClr val="2E3B6E"/>
            </a:solidFill>
            <a:ln>
              <a:noFill/>
            </a:ln>
          </p:spPr>
          <p:txBody>
            <a:bodyPr rtlCol="0" anchor="ctr"/>
            <a:lstStyle/>
            <a:p>
              <a:pPr algn="ctr"/>
            </a:p>
          </p:txBody>
        </p:sp>
        <p:sp>
          <p:nvSpPr>
            <p:cNvPr id="15" name="Rectangle 14"/>
            <p:cNvSpPr/>
            <p:nvPr/>
          </p:nvSpPr>
          <p:spPr>
            <a:xfrm>
              <a:off x="685800" y="3383280"/>
              <a:ext cx="2484120" cy="54864"/>
            </a:xfrm>
            <a:prstGeom prst="rect">
              <a:avLst/>
            </a:prstGeom>
            <a:solidFill>
              <a:srgbClr val="C4A857"/>
            </a:solidFill>
            <a:ln>
              <a:noFill/>
            </a:ln>
          </p:spPr>
          <p:txBody>
            <a:bodyPr rtlCol="0" anchor="ctr"/>
            <a:lstStyle/>
            <a:p>
              <a:pPr algn="ctr"/>
            </a:p>
          </p:txBody>
        </p:sp>
        <p:sp>
          <p:nvSpPr>
            <p:cNvPr id="16" name="TextBox 15"/>
            <p:cNvSpPr txBox="1"/>
            <p:nvPr/>
          </p:nvSpPr>
          <p:spPr>
            <a:xfrm>
              <a:off x="2346960" y="3621024"/>
              <a:ext cx="548640" cy="457200"/>
            </a:xfrm>
            <a:prstGeom prst="rect">
              <a:avLst/>
            </a:prstGeom>
            <a:noFill/>
          </p:spPr>
          <p:txBody>
            <a:bodyPr wrap="square" anchor="t" lIns="0" rIns="0" tIns="0" bIns="0">
              <a:spAutoFit/>
            </a:bodyPr>
            <a:lstStyle/>
            <a:p>
              <a:pPr algn="r">
                <a:spcAft>
                  <a:spcPts val="0"/>
                </a:spcAft>
              </a:pPr>
              <a:r>
                <a:rPr sz="2000" b="1" i="0">
                  <a:solidFill>
                    <a:srgbClr val="C4A857"/>
                  </a:solidFill>
                  <a:latin typeface="Oswald"/>
                </a:rPr>
                <a:t>01</a:t>
              </a:r>
            </a:p>
          </p:txBody>
        </p:sp>
        <p:sp>
          <p:nvSpPr>
            <p:cNvPr id="17" name="TextBox 16"/>
            <p:cNvSpPr txBox="1"/>
            <p:nvPr/>
          </p:nvSpPr>
          <p:spPr>
            <a:xfrm>
              <a:off x="960120" y="3675888"/>
              <a:ext cx="1295400" cy="364601"/>
            </a:xfrm>
            <a:prstGeom prst="rect">
              <a:avLst/>
            </a:prstGeom>
            <a:noFill/>
          </p:spPr>
          <p:txBody>
            <a:bodyPr wrap="square" anchor="t" lIns="0" rIns="0" tIns="0" bIns="0">
              <a:spAutoFit/>
            </a:bodyPr>
            <a:lstStyle/>
            <a:p>
              <a:pPr algn="l">
                <a:lnSpc>
                  <a:spcPct val="92000"/>
                </a:lnSpc>
                <a:spcAft>
                  <a:spcPts val="0"/>
                </a:spcAft>
              </a:pPr>
              <a:r>
                <a:rPr sz="2000" b="1" i="0">
                  <a:solidFill>
                    <a:srgbClr val="FFFFFF"/>
                  </a:solidFill>
                  <a:latin typeface="Oswald"/>
                </a:rPr>
                <a:t>Línea base</a:t>
              </a:r>
            </a:p>
          </p:txBody>
        </p:sp>
        <p:sp>
          <p:nvSpPr>
            <p:cNvPr id="18" name="TextBox 17"/>
            <p:cNvSpPr txBox="1"/>
            <p:nvPr/>
          </p:nvSpPr>
          <p:spPr>
            <a:xfrm>
              <a:off x="960120" y="4113641"/>
              <a:ext cx="1935480" cy="778398"/>
            </a:xfrm>
            <a:prstGeom prst="rect">
              <a:avLst/>
            </a:prstGeom>
            <a:noFill/>
          </p:spPr>
          <p:txBody>
            <a:bodyPr wrap="square" anchor="t" lIns="0" rIns="0" tIns="0" bIns="0">
              <a:spAutoFit/>
            </a:bodyPr>
            <a:lstStyle/>
            <a:p>
              <a:pPr algn="l">
                <a:lnSpc>
                  <a:spcPct val="105000"/>
                </a:lnSpc>
                <a:spcAft>
                  <a:spcPts val="0"/>
                </a:spcAft>
              </a:pPr>
              <a:r>
                <a:rPr sz="1400" b="0" i="0">
                  <a:solidFill>
                    <a:srgbClr val="B9C2DC"/>
                  </a:solidFill>
                  <a:latin typeface="Open Sans"/>
                </a:rPr>
                <a:t>Medir el punto de partida</a:t>
              </a:r>
            </a:p>
          </p:txBody>
        </p:sp>
      </p:grpSp>
      <p:grpSp>
        <p:nvGrpSpPr>
          <p:cNvPr id="19" name="Group 18"/>
          <p:cNvGrpSpPr/>
          <p:nvPr/>
        </p:nvGrpSpPr>
        <p:grpSpPr>
          <a:xfrm>
            <a:off x="3398520" y="3383280"/>
            <a:ext cx="2484120" cy="1691640"/>
            <a:chOff x="3398520" y="3383280"/>
            <a:chExt cx="2484120" cy="1691640"/>
          </a:xfrm>
        </p:grpSpPr>
        <p:sp>
          <p:nvSpPr>
            <p:cNvPr id="20" name="Rectangle 19"/>
            <p:cNvSpPr/>
            <p:nvPr/>
          </p:nvSpPr>
          <p:spPr>
            <a:xfrm>
              <a:off x="3398520" y="3383280"/>
              <a:ext cx="2484120" cy="1691640"/>
            </a:xfrm>
            <a:prstGeom prst="rect">
              <a:avLst/>
            </a:prstGeom>
            <a:solidFill>
              <a:srgbClr val="2E3B6E"/>
            </a:solidFill>
            <a:ln>
              <a:noFill/>
            </a:ln>
          </p:spPr>
          <p:txBody>
            <a:bodyPr rtlCol="0" anchor="ctr"/>
            <a:lstStyle/>
            <a:p>
              <a:pPr algn="ctr"/>
            </a:p>
          </p:txBody>
        </p:sp>
        <p:sp>
          <p:nvSpPr>
            <p:cNvPr id="21" name="Rectangle 20"/>
            <p:cNvSpPr/>
            <p:nvPr/>
          </p:nvSpPr>
          <p:spPr>
            <a:xfrm>
              <a:off x="3398520" y="3383280"/>
              <a:ext cx="2484120" cy="54864"/>
            </a:xfrm>
            <a:prstGeom prst="rect">
              <a:avLst/>
            </a:prstGeom>
            <a:solidFill>
              <a:srgbClr val="C4A857"/>
            </a:solidFill>
            <a:ln>
              <a:noFill/>
            </a:ln>
          </p:spPr>
          <p:txBody>
            <a:bodyPr rtlCol="0" anchor="ctr"/>
            <a:lstStyle/>
            <a:p>
              <a:pPr algn="ctr"/>
            </a:p>
          </p:txBody>
        </p:sp>
        <p:sp>
          <p:nvSpPr>
            <p:cNvPr id="22" name="TextBox 21"/>
            <p:cNvSpPr txBox="1"/>
            <p:nvPr/>
          </p:nvSpPr>
          <p:spPr>
            <a:xfrm>
              <a:off x="5059680" y="3621024"/>
              <a:ext cx="548640" cy="457200"/>
            </a:xfrm>
            <a:prstGeom prst="rect">
              <a:avLst/>
            </a:prstGeom>
            <a:noFill/>
          </p:spPr>
          <p:txBody>
            <a:bodyPr wrap="square" anchor="t" lIns="0" rIns="0" tIns="0" bIns="0">
              <a:spAutoFit/>
            </a:bodyPr>
            <a:lstStyle/>
            <a:p>
              <a:pPr algn="r">
                <a:spcAft>
                  <a:spcPts val="0"/>
                </a:spcAft>
              </a:pPr>
              <a:r>
                <a:rPr sz="2000" b="1" i="0">
                  <a:solidFill>
                    <a:srgbClr val="C4A857"/>
                  </a:solidFill>
                  <a:latin typeface="Oswald"/>
                </a:rPr>
                <a:t>02</a:t>
              </a:r>
            </a:p>
          </p:txBody>
        </p:sp>
        <p:sp>
          <p:nvSpPr>
            <p:cNvPr id="23" name="TextBox 22"/>
            <p:cNvSpPr txBox="1"/>
            <p:nvPr/>
          </p:nvSpPr>
          <p:spPr>
            <a:xfrm>
              <a:off x="3672840" y="3675888"/>
              <a:ext cx="1295400" cy="364601"/>
            </a:xfrm>
            <a:prstGeom prst="rect">
              <a:avLst/>
            </a:prstGeom>
            <a:noFill/>
          </p:spPr>
          <p:txBody>
            <a:bodyPr wrap="square" anchor="t" lIns="0" rIns="0" tIns="0" bIns="0">
              <a:spAutoFit/>
            </a:bodyPr>
            <a:lstStyle/>
            <a:p>
              <a:pPr algn="l">
                <a:lnSpc>
                  <a:spcPct val="92000"/>
                </a:lnSpc>
                <a:spcAft>
                  <a:spcPts val="0"/>
                </a:spcAft>
              </a:pPr>
              <a:r>
                <a:rPr sz="2000" b="1" i="0">
                  <a:solidFill>
                    <a:srgbClr val="FFFFFF"/>
                  </a:solidFill>
                  <a:latin typeface="Oswald"/>
                </a:rPr>
                <a:t>Indicadores</a:t>
              </a:r>
            </a:p>
          </p:txBody>
        </p:sp>
        <p:sp>
          <p:nvSpPr>
            <p:cNvPr id="24" name="TextBox 23"/>
            <p:cNvSpPr txBox="1"/>
            <p:nvPr/>
          </p:nvSpPr>
          <p:spPr>
            <a:xfrm>
              <a:off x="3672840" y="4113641"/>
              <a:ext cx="1935480" cy="778398"/>
            </a:xfrm>
            <a:prstGeom prst="rect">
              <a:avLst/>
            </a:prstGeom>
            <a:noFill/>
          </p:spPr>
          <p:txBody>
            <a:bodyPr wrap="square" anchor="t" lIns="0" rIns="0" tIns="0" bIns="0">
              <a:spAutoFit/>
            </a:bodyPr>
            <a:lstStyle/>
            <a:p>
              <a:pPr algn="l">
                <a:lnSpc>
                  <a:spcPct val="105000"/>
                </a:lnSpc>
                <a:spcAft>
                  <a:spcPts val="0"/>
                </a:spcAft>
              </a:pPr>
              <a:r>
                <a:rPr sz="1400" b="0" i="0">
                  <a:solidFill>
                    <a:srgbClr val="B9C2DC"/>
                  </a:solidFill>
                  <a:latin typeface="Open Sans"/>
                </a:rPr>
                <a:t>Acordados con la empresa</a:t>
              </a:r>
            </a:p>
          </p:txBody>
        </p:sp>
      </p:grpSp>
      <p:grpSp>
        <p:nvGrpSpPr>
          <p:cNvPr id="25" name="Group 24"/>
          <p:cNvGrpSpPr/>
          <p:nvPr/>
        </p:nvGrpSpPr>
        <p:grpSpPr>
          <a:xfrm>
            <a:off x="6111240" y="3383280"/>
            <a:ext cx="2484120" cy="1691640"/>
            <a:chOff x="6111240" y="3383280"/>
            <a:chExt cx="2484120" cy="1691640"/>
          </a:xfrm>
        </p:grpSpPr>
        <p:sp>
          <p:nvSpPr>
            <p:cNvPr id="26" name="Rectangle 25"/>
            <p:cNvSpPr/>
            <p:nvPr/>
          </p:nvSpPr>
          <p:spPr>
            <a:xfrm>
              <a:off x="6111240" y="3383280"/>
              <a:ext cx="2484120" cy="1691640"/>
            </a:xfrm>
            <a:prstGeom prst="rect">
              <a:avLst/>
            </a:prstGeom>
            <a:solidFill>
              <a:srgbClr val="2E3B6E"/>
            </a:solidFill>
            <a:ln>
              <a:noFill/>
            </a:ln>
          </p:spPr>
          <p:txBody>
            <a:bodyPr rtlCol="0" anchor="ctr"/>
            <a:lstStyle/>
            <a:p>
              <a:pPr algn="ctr"/>
            </a:p>
          </p:txBody>
        </p:sp>
        <p:sp>
          <p:nvSpPr>
            <p:cNvPr id="27" name="Rectangle 26"/>
            <p:cNvSpPr/>
            <p:nvPr/>
          </p:nvSpPr>
          <p:spPr>
            <a:xfrm>
              <a:off x="6111240" y="3383280"/>
              <a:ext cx="2484120" cy="54864"/>
            </a:xfrm>
            <a:prstGeom prst="rect">
              <a:avLst/>
            </a:prstGeom>
            <a:solidFill>
              <a:srgbClr val="C4A857"/>
            </a:solidFill>
            <a:ln>
              <a:noFill/>
            </a:ln>
          </p:spPr>
          <p:txBody>
            <a:bodyPr rtlCol="0" anchor="ctr"/>
            <a:lstStyle/>
            <a:p>
              <a:pPr algn="ctr"/>
            </a:p>
          </p:txBody>
        </p:sp>
        <p:sp>
          <p:nvSpPr>
            <p:cNvPr id="28" name="TextBox 27"/>
            <p:cNvSpPr txBox="1"/>
            <p:nvPr/>
          </p:nvSpPr>
          <p:spPr>
            <a:xfrm>
              <a:off x="7772400" y="3621024"/>
              <a:ext cx="548640" cy="457200"/>
            </a:xfrm>
            <a:prstGeom prst="rect">
              <a:avLst/>
            </a:prstGeom>
            <a:noFill/>
          </p:spPr>
          <p:txBody>
            <a:bodyPr wrap="square" anchor="t" lIns="0" rIns="0" tIns="0" bIns="0">
              <a:spAutoFit/>
            </a:bodyPr>
            <a:lstStyle/>
            <a:p>
              <a:pPr algn="r">
                <a:spcAft>
                  <a:spcPts val="0"/>
                </a:spcAft>
              </a:pPr>
              <a:r>
                <a:rPr sz="2000" b="1" i="0">
                  <a:solidFill>
                    <a:srgbClr val="C4A857"/>
                  </a:solidFill>
                  <a:latin typeface="Oswald"/>
                </a:rPr>
                <a:t>03</a:t>
              </a:r>
            </a:p>
          </p:txBody>
        </p:sp>
        <p:sp>
          <p:nvSpPr>
            <p:cNvPr id="29" name="TextBox 28"/>
            <p:cNvSpPr txBox="1"/>
            <p:nvPr/>
          </p:nvSpPr>
          <p:spPr>
            <a:xfrm>
              <a:off x="6385560" y="3675888"/>
              <a:ext cx="1295400" cy="364601"/>
            </a:xfrm>
            <a:prstGeom prst="rect">
              <a:avLst/>
            </a:prstGeom>
            <a:noFill/>
          </p:spPr>
          <p:txBody>
            <a:bodyPr wrap="square" anchor="t" lIns="0" rIns="0" tIns="0" bIns="0">
              <a:spAutoFit/>
            </a:bodyPr>
            <a:lstStyle/>
            <a:p>
              <a:pPr algn="l">
                <a:lnSpc>
                  <a:spcPct val="92000"/>
                </a:lnSpc>
                <a:spcAft>
                  <a:spcPts val="0"/>
                </a:spcAft>
              </a:pPr>
              <a:r>
                <a:rPr sz="2000" b="1" i="0">
                  <a:solidFill>
                    <a:srgbClr val="FFFFFF"/>
                  </a:solidFill>
                  <a:latin typeface="Oswald"/>
                </a:rPr>
                <a:t>Su empresa</a:t>
              </a:r>
            </a:p>
          </p:txBody>
        </p:sp>
        <p:sp>
          <p:nvSpPr>
            <p:cNvPr id="30" name="TextBox 29"/>
            <p:cNvSpPr txBox="1"/>
            <p:nvPr/>
          </p:nvSpPr>
          <p:spPr>
            <a:xfrm>
              <a:off x="6385560" y="4113641"/>
              <a:ext cx="1935480" cy="778398"/>
            </a:xfrm>
            <a:prstGeom prst="rect">
              <a:avLst/>
            </a:prstGeom>
            <a:noFill/>
          </p:spPr>
          <p:txBody>
            <a:bodyPr wrap="square" anchor="t" lIns="0" rIns="0" tIns="0" bIns="0">
              <a:spAutoFit/>
            </a:bodyPr>
            <a:lstStyle/>
            <a:p>
              <a:pPr algn="l">
                <a:lnSpc>
                  <a:spcPct val="105000"/>
                </a:lnSpc>
                <a:spcAft>
                  <a:spcPts val="0"/>
                </a:spcAft>
              </a:pPr>
              <a:r>
                <a:rPr sz="1400" b="0" i="0">
                  <a:solidFill>
                    <a:srgbClr val="B9C2DC"/>
                  </a:solidFill>
                  <a:latin typeface="Open Sans"/>
                </a:rPr>
                <a:t>Cargar sus datos y operar</a:t>
              </a:r>
            </a:p>
          </p:txBody>
        </p:sp>
      </p:grpSp>
      <p:grpSp>
        <p:nvGrpSpPr>
          <p:cNvPr id="31" name="Group 30"/>
          <p:cNvGrpSpPr/>
          <p:nvPr/>
        </p:nvGrpSpPr>
        <p:grpSpPr>
          <a:xfrm>
            <a:off x="685800" y="5120640"/>
            <a:ext cx="7909560" cy="868680"/>
            <a:chOff x="685800" y="5120640"/>
            <a:chExt cx="7909560" cy="868680"/>
          </a:xfrm>
        </p:grpSpPr>
        <p:sp>
          <p:nvSpPr>
            <p:cNvPr id="32" name="Rectangle 31"/>
            <p:cNvSpPr/>
            <p:nvPr/>
          </p:nvSpPr>
          <p:spPr>
            <a:xfrm>
              <a:off x="685800" y="5120640"/>
              <a:ext cx="7909560" cy="868680"/>
            </a:xfrm>
            <a:prstGeom prst="rect">
              <a:avLst/>
            </a:prstGeom>
            <a:solidFill>
              <a:srgbClr val="C4A857"/>
            </a:solidFill>
            <a:ln>
              <a:noFill/>
            </a:ln>
          </p:spPr>
          <p:txBody>
            <a:bodyPr rtlCol="0" anchor="ctr"/>
            <a:lstStyle/>
            <a:p>
              <a:pPr algn="ctr"/>
            </a:p>
          </p:txBody>
        </p:sp>
        <p:sp>
          <p:nvSpPr>
            <p:cNvPr id="33" name="TextBox 32"/>
            <p:cNvSpPr txBox="1"/>
            <p:nvPr/>
          </p:nvSpPr>
          <p:spPr>
            <a:xfrm>
              <a:off x="1005840" y="5120640"/>
              <a:ext cx="7269480" cy="868680"/>
            </a:xfrm>
            <a:prstGeom prst="rect">
              <a:avLst/>
            </a:prstGeom>
            <a:noFill/>
          </p:spPr>
          <p:txBody>
            <a:bodyPr wrap="square" anchor="ctr" lIns="0" rIns="0" tIns="0" bIns="0">
              <a:spAutoFit/>
            </a:bodyPr>
            <a:lstStyle/>
            <a:p>
              <a:pPr algn="l">
                <a:spcAft>
                  <a:spcPts val="0"/>
                </a:spcAft>
              </a:pPr>
              <a:r>
                <a:rPr sz="2000" b="1" i="0">
                  <a:solidFill>
                    <a:srgbClr val="162451"/>
                  </a:solidFill>
                  <a:latin typeface="Open Sans"/>
                </a:rPr>
                <a:t>Buscamos una empresa de limpieza para ese piloto.</a:t>
              </a:r>
            </a:p>
          </p:txBody>
        </p:sp>
      </p:grpSp>
      <p:sp>
        <p:nvSpPr>
          <p:cNvPr id="34" name="Rounded Rectangular Callout 33"/>
          <p:cNvSpPr/>
          <p:nvPr/>
        </p:nvSpPr>
        <p:spPr>
          <a:xfrm>
            <a:off x="8759952" y="1188720"/>
            <a:ext cx="3200400" cy="914400"/>
          </a:xfrm>
          <a:prstGeom prst="wedgeRoundRectCallout">
            <a:avLst>
              <a:gd name="adj1" fmla="val 6285"/>
              <a:gd name="adj2" fmla="val 68000"/>
              <a:gd name="adj3" fmla="val 16667"/>
            </a:avLst>
          </a:prstGeom>
          <a:solidFill>
            <a:srgbClr val="FFFFFF"/>
          </a:solidFill>
          <a:ln w="12700">
            <a:solidFill>
              <a:srgbClr val="D5DBEA"/>
            </a:solidFill>
          </a:ln>
          <a:effectLst>
            <a:outerShdw blurRad="177800" dist="50800" dir="5400000" algn="t" rotWithShape="0">
              <a:srgbClr val="162451">
                <a:alpha val="30000"/>
              </a:srgbClr>
            </a:outerShdw>
          </a:effectLst>
        </p:spPr>
        <p:txBody>
          <a:bodyPr rtlCol="0" anchor="ctr" wrap="square" lIns="146304" rIns="146304" tIns="54864" bIns="54864"/>
          <a:lstStyle/>
          <a:p>
            <a:pPr algn="ctr"/>
            <a:r>
              <a:rPr sz="1400" b="1" i="0">
                <a:solidFill>
                  <a:srgbClr val="242D57"/>
                </a:solidFill>
                <a:latin typeface="Open Sans"/>
              </a:rPr>
              <a:t>¿Lo validamos juntos? </a:t>
            </a:r>
            <a:r>
              <a:rPr sz="1400" b="1" i="0">
                <a:solidFill>
                  <a:srgbClr val="7D6520"/>
                </a:solidFill>
                <a:latin typeface="Open Sans"/>
              </a:rPr>
              <a:t>¡Kikirikí!</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00"/>
                                        <p:tgtEl>
                                          <p:spTgt spid="3"/>
                                        </p:tgtEl>
                                      </p:cBhvr>
                                    </p:animEffect>
                                  </p:childTnLst>
                                </p:cTn>
                              </p:par>
                            </p:childTnLst>
                          </p:cTn>
                        </p:par>
                        <p:par>
                          <p:cTn id="8" fill="hold">
                            <p:stCondLst>
                              <p:cond delay="400"/>
                            </p:stCondLst>
                            <p:childTnLst>
                              <p:par>
                                <p:cTn id="13" presetID="53" presetClass="entr" presetSubtype="16"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anim calcmode="lin" valueType="num">
                                      <p:cBhvr>
                                        <p:cTn id="10" dur="550" fill="hold"/>
                                        <p:tgtEl>
                                          <p:spTgt spid="11"/>
                                        </p:tgtEl>
                                        <p:attrNameLst>
                                          <p:attrName>ppt_w</p:attrName>
                                        </p:attrNameLst>
                                      </p:cBhvr>
                                      <p:tavLst>
                                        <p:tav tm="0">
                                          <p:val>
                                            <p:strVal val="#ppt_w*0.7"/>
                                          </p:val>
                                        </p:tav>
                                        <p:tav tm="100000">
                                          <p:val>
                                            <p:strVal val="#ppt_w"/>
                                          </p:val>
                                        </p:tav>
                                      </p:tavLst>
                                    </p:anim>
                                    <p:anim calcmode="lin" valueType="num">
                                      <p:cBhvr>
                                        <p:cTn id="11" dur="550" fill="hold"/>
                                        <p:tgtEl>
                                          <p:spTgt spid="11"/>
                                        </p:tgtEl>
                                        <p:attrNameLst>
                                          <p:attrName>ppt_h</p:attrName>
                                        </p:attrNameLst>
                                      </p:cBhvr>
                                      <p:tavLst>
                                        <p:tav tm="0">
                                          <p:val>
                                            <p:strVal val="#ppt_h*0.7"/>
                                          </p:val>
                                        </p:tav>
                                        <p:tav tm="100000">
                                          <p:val>
                                            <p:strVal val="#ppt_h"/>
                                          </p:val>
                                        </p:tav>
                                      </p:tavLst>
                                    </p:anim>
                                    <p:animEffect transition="in" filter="fade">
                                      <p:cBhvr>
                                        <p:cTn id="12" dur="550"/>
                                        <p:tgtEl>
                                          <p:spTgt spid="11"/>
                                        </p:tgtEl>
                                      </p:cBhvr>
                                    </p:animEffect>
                                  </p:childTnLst>
                                </p:cTn>
                              </p:par>
                            </p:childTnLst>
                          </p:cTn>
                        </p:par>
                        <p:par>
                          <p:cTn id="14" fill="hold">
                            <p:stCondLst>
                              <p:cond delay="950"/>
                            </p:stCondLst>
                            <p:childTnLst>
                              <p:par>
                                <p:cTn id="17" presetID="22" presetClass="entr" presetSubtype="8"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600"/>
                                        <p:tgtEl>
                                          <p:spTgt spid="12"/>
                                        </p:tgtEl>
                                      </p:cBhvr>
                                    </p:animEffect>
                                  </p:childTnLst>
                                </p:cTn>
                              </p:par>
                            </p:childTnLst>
                          </p:cTn>
                        </p:par>
                        <p:par>
                          <p:cTn id="18" fill="hold">
                            <p:stCondLst>
                              <p:cond delay="1550"/>
                            </p:stCondLst>
                            <p:childTnLst>
                              <p:par>
                                <p:cTn id="21" presetID="10" presetClass="entr" presetSubtype="0"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50"/>
                                        <p:tgtEl>
                                          <p:spTgt spid="13"/>
                                        </p:tgtEl>
                                      </p:cBhvr>
                                    </p:animEffect>
                                  </p:childTnLst>
                                </p:cTn>
                              </p:par>
                            </p:childTnLst>
                          </p:cTn>
                        </p:par>
                        <p:par>
                          <p:cTn id="22" fill="hold">
                            <p:stCondLst>
                              <p:cond delay="1900"/>
                            </p:stCondLst>
                            <p:childTnLst>
                              <p:par>
                                <p:cTn id="25" presetID="10" presetClass="entr" presetSubtype="0"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350"/>
                                        <p:tgtEl>
                                          <p:spTgt spid="19"/>
                                        </p:tgtEl>
                                      </p:cBhvr>
                                    </p:animEffect>
                                  </p:childTnLst>
                                </p:cTn>
                              </p:par>
                            </p:childTnLst>
                          </p:cTn>
                        </p:par>
                        <p:par>
                          <p:cTn id="26" fill="hold">
                            <p:stCondLst>
                              <p:cond delay="2250"/>
                            </p:stCondLst>
                            <p:childTnLst>
                              <p:par>
                                <p:cTn id="29" presetID="10" presetClass="entr" presetSubtype="0" fill="hold" grpId="0" nodeType="after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350"/>
                                        <p:tgtEl>
                                          <p:spTgt spid="25"/>
                                        </p:tgtEl>
                                      </p:cBhvr>
                                    </p:animEffect>
                                  </p:childTnLst>
                                </p:cTn>
                              </p:par>
                            </p:childTnLst>
                          </p:cTn>
                        </p:par>
                      </p:childTnLst>
                    </p:cTn>
                  </p:par>
                  <p:par>
                    <p:cTn id="30" fill="hold">
                      <p:stCondLst>
                        <p:cond delay="indefinite"/>
                      </p:stCondLst>
                      <p:childTnLst>
                        <p:par>
                          <p:cTn id="31" fill="hold">
                            <p:stCondLst>
                              <p:cond delay="0"/>
                            </p:stCondLst>
                            <p:childTnLst>
                              <p:par>
                                <p:cTn id="34" presetID="22" presetClass="entr" presetSubtype="8"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wipe(left)">
                                      <p:cBhvr>
                                        <p:cTn id="33" dur="550"/>
                                        <p:tgtEl>
                                          <p:spTgt spid="31"/>
                                        </p:tgtEl>
                                      </p:cBhvr>
                                    </p:animEffect>
                                  </p:childTnLst>
                                </p:cTn>
                              </p:par>
                            </p:childTnLst>
                          </p:cTn>
                        </p:par>
                      </p:childTnLst>
                    </p:cTn>
                  </p:par>
                  <p:par>
                    <p:cTn id="35" fill="hold">
                      <p:stCondLst>
                        <p:cond delay="indefinite"/>
                      </p:stCondLst>
                      <p:childTnLst>
                        <p:par>
                          <p:cTn id="36" fill="hold">
                            <p:stCondLst>
                              <p:cond delay="0"/>
                            </p:stCondLst>
                            <p:childTnLst>
                              <p:par>
                                <p:cTn id="39" presetID="10" presetClass="entr" presetSubtype="0" fill="hold" grpId="0" nodeType="click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451"/>
        </a:solidFill>
        <a:effectLst/>
      </p:bgPr>
    </p:bg>
    <p:spTree>
      <p:nvGrpSpPr>
        <p:cNvPr id="1" name=""/>
        <p:cNvGrpSpPr/>
        <p:nvPr/>
      </p:nvGrpSpPr>
      <p:grpSpPr/>
      <p:sp>
        <p:nvSpPr>
          <p:cNvPr id="2" name="TextBox 1"/>
          <p:cNvSpPr txBox="1"/>
          <p:nvPr/>
        </p:nvSpPr>
        <p:spPr>
          <a:xfrm>
            <a:off x="6385255" y="411480"/>
            <a:ext cx="5120640" cy="274320"/>
          </a:xfrm>
          <a:prstGeom prst="rect">
            <a:avLst/>
          </a:prstGeom>
          <a:noFill/>
        </p:spPr>
        <p:txBody>
          <a:bodyPr wrap="square" anchor="t" lIns="0" rIns="0" tIns="0" bIns="0">
            <a:spAutoFit/>
          </a:bodyPr>
          <a:lstStyle/>
          <a:p>
            <a:pPr algn="r">
              <a:spcAft>
                <a:spcPts val="0"/>
              </a:spcAft>
            </a:pPr>
            <a:r>
              <a:rPr sz="1100" b="0" i="0" spc="100">
                <a:solidFill>
                  <a:srgbClr val="B9C2DC"/>
                </a:solidFill>
                <a:latin typeface="Open Sans"/>
              </a:rPr>
              <a:t>HACKATHON EXPO CLEAN 2026 · RETO 1 · 10</a:t>
            </a:r>
          </a:p>
        </p:txBody>
      </p:sp>
      <p:grpSp>
        <p:nvGrpSpPr>
          <p:cNvPr id="3" name="Group 2"/>
          <p:cNvGrpSpPr/>
          <p:nvPr/>
        </p:nvGrpSpPr>
        <p:grpSpPr>
          <a:xfrm>
            <a:off x="685800" y="402336"/>
            <a:ext cx="10820095" cy="1060704"/>
            <a:chOff x="685800" y="402336"/>
            <a:chExt cx="10820095" cy="1060704"/>
          </a:xfrm>
        </p:grpSpPr>
        <p:sp>
          <p:nvSpPr>
            <p:cNvPr id="4" name="Rectangle 3"/>
            <p:cNvSpPr/>
            <p:nvPr/>
          </p:nvSpPr>
          <p:spPr>
            <a:xfrm>
              <a:off x="685800" y="402336"/>
              <a:ext cx="45720" cy="274320"/>
            </a:xfrm>
            <a:prstGeom prst="rect">
              <a:avLst/>
            </a:prstGeom>
            <a:solidFill>
              <a:srgbClr val="C4A857"/>
            </a:solidFill>
            <a:ln>
              <a:noFill/>
            </a:ln>
          </p:spPr>
          <p:txBody>
            <a:bodyPr rtlCol="0" anchor="ctr"/>
            <a:lstStyle/>
            <a:p>
              <a:pPr algn="ctr"/>
            </a:p>
          </p:txBody>
        </p:sp>
        <p:sp>
          <p:nvSpPr>
            <p:cNvPr id="5" name="TextBox 4"/>
            <p:cNvSpPr txBox="1"/>
            <p:nvPr/>
          </p:nvSpPr>
          <p:spPr>
            <a:xfrm>
              <a:off x="841248" y="411480"/>
              <a:ext cx="5852160" cy="274320"/>
            </a:xfrm>
            <a:prstGeom prst="rect">
              <a:avLst/>
            </a:prstGeom>
            <a:noFill/>
          </p:spPr>
          <p:txBody>
            <a:bodyPr wrap="square" anchor="t" lIns="0" rIns="0" tIns="0" bIns="0">
              <a:spAutoFit/>
            </a:bodyPr>
            <a:lstStyle/>
            <a:p>
              <a:pPr algn="l">
                <a:spcAft>
                  <a:spcPts val="0"/>
                </a:spcAft>
              </a:pPr>
              <a:r>
                <a:rPr sz="1300" b="1" i="0" spc="200">
                  <a:solidFill>
                    <a:srgbClr val="C4A857"/>
                  </a:solidFill>
                  <a:latin typeface="Open Sans"/>
                </a:rPr>
                <a:t>ACCESO PARA EL JURADO</a:t>
              </a:r>
            </a:p>
          </p:txBody>
        </p:sp>
        <p:sp>
          <p:nvSpPr>
            <p:cNvPr id="6" name="TextBox 5"/>
            <p:cNvSpPr txBox="1"/>
            <p:nvPr/>
          </p:nvSpPr>
          <p:spPr>
            <a:xfrm>
              <a:off x="685800" y="731520"/>
              <a:ext cx="10820095" cy="731520"/>
            </a:xfrm>
            <a:prstGeom prst="rect">
              <a:avLst/>
            </a:prstGeom>
            <a:noFill/>
          </p:spPr>
          <p:txBody>
            <a:bodyPr wrap="square" anchor="t" lIns="0" rIns="0" tIns="0" bIns="0">
              <a:spAutoFit/>
            </a:bodyPr>
            <a:lstStyle/>
            <a:p>
              <a:pPr algn="l">
                <a:spcAft>
                  <a:spcPts val="0"/>
                </a:spcAft>
              </a:pPr>
              <a:r>
                <a:rPr sz="3600" b="1" i="0">
                  <a:solidFill>
                    <a:srgbClr val="FFFFFF"/>
                  </a:solidFill>
                  <a:latin typeface="Oswald"/>
                </a:rPr>
                <a:t>Pruébenlo ustedes</a:t>
              </a:r>
            </a:p>
          </p:txBody>
        </p:sp>
      </p:grpSp>
      <p:sp>
        <p:nvSpPr>
          <p:cNvPr id="7" name="Rectangle 6"/>
          <p:cNvSpPr/>
          <p:nvPr/>
        </p:nvSpPr>
        <p:spPr>
          <a:xfrm>
            <a:off x="685800" y="6217920"/>
            <a:ext cx="10820095" cy="10972"/>
          </a:xfrm>
          <a:prstGeom prst="rect">
            <a:avLst/>
          </a:prstGeom>
          <a:solidFill>
            <a:srgbClr val="2E3B6E"/>
          </a:solidFill>
          <a:ln>
            <a:noFill/>
          </a:ln>
        </p:spPr>
        <p:txBody>
          <a:bodyPr rtlCol="0" anchor="ctr"/>
          <a:lstStyle/>
          <a:p>
            <a:pPr algn="ctr"/>
          </a:p>
        </p:txBody>
      </p:sp>
      <p:pic>
        <p:nvPicPr>
          <p:cNvPr id="8" name="Picture 7" descr="istpet-logo-blanco.png"/>
          <p:cNvPicPr>
            <a:picLocks noChangeAspect="1"/>
          </p:cNvPicPr>
          <p:nvPr/>
        </p:nvPicPr>
        <p:blipFill>
          <a:blip r:embed="rId2"/>
          <a:stretch>
            <a:fillRect/>
          </a:stretch>
        </p:blipFill>
        <p:spPr>
          <a:xfrm>
            <a:off x="685800" y="6373368"/>
            <a:ext cx="872345" cy="310896"/>
          </a:xfrm>
          <a:prstGeom prst="rect">
            <a:avLst/>
          </a:prstGeom>
        </p:spPr>
      </p:pic>
      <p:sp>
        <p:nvSpPr>
          <p:cNvPr id="9" name="Rectangle 8"/>
          <p:cNvSpPr/>
          <p:nvPr/>
        </p:nvSpPr>
        <p:spPr>
          <a:xfrm>
            <a:off x="1704448" y="6355080"/>
            <a:ext cx="22860" cy="347472"/>
          </a:xfrm>
          <a:prstGeom prst="rect">
            <a:avLst/>
          </a:prstGeom>
          <a:solidFill>
            <a:srgbClr val="C4A857"/>
          </a:solidFill>
          <a:ln>
            <a:noFill/>
          </a:ln>
        </p:spPr>
        <p:txBody>
          <a:bodyPr rtlCol="0" anchor="ctr"/>
          <a:lstStyle/>
          <a:p>
            <a:pPr algn="ctr"/>
          </a:p>
        </p:txBody>
      </p:sp>
      <p:sp>
        <p:nvSpPr>
          <p:cNvPr id="10" name="TextBox 9"/>
          <p:cNvSpPr txBox="1"/>
          <p:nvPr/>
        </p:nvSpPr>
        <p:spPr>
          <a:xfrm>
            <a:off x="1859897" y="6327648"/>
            <a:ext cx="9645998" cy="475488"/>
          </a:xfrm>
          <a:prstGeom prst="rect">
            <a:avLst/>
          </a:prstGeom>
          <a:noFill/>
        </p:spPr>
        <p:txBody>
          <a:bodyPr wrap="square" anchor="t" lIns="0" rIns="0" tIns="0" bIns="0">
            <a:spAutoFit/>
          </a:bodyPr>
          <a:lstStyle/>
          <a:p>
            <a:pPr algn="l">
              <a:spcAft>
                <a:spcPts val="0"/>
              </a:spcAft>
            </a:pPr>
            <a:r>
              <a:rPr sz="1000" b="0" i="0">
                <a:solidFill>
                  <a:srgbClr val="B9C2DC"/>
                </a:solidFill>
                <a:latin typeface="Open Sans"/>
              </a:rPr>
              <a:t>Cuenta del jurado · Auditor · Solo lectura · Datos sintéticos</a:t>
            </a:r>
          </a:p>
        </p:txBody>
      </p:sp>
      <p:pic>
        <p:nvPicPr>
          <p:cNvPr id="11" name="Picture 10" descr="qr.png">
            <a:hlinkClick r:id="rId4"/>
          </p:cNvPr>
          <p:cNvPicPr>
            <a:picLocks noChangeAspect="1"/>
          </p:cNvPicPr>
          <p:nvPr/>
        </p:nvPicPr>
        <p:blipFill>
          <a:blip r:embed="rId3"/>
          <a:stretch>
            <a:fillRect/>
          </a:stretch>
        </p:blipFill>
        <p:spPr>
          <a:xfrm>
            <a:off x="685800" y="1737360"/>
            <a:ext cx="3794760" cy="3794760"/>
          </a:xfrm>
          <a:prstGeom prst="rect">
            <a:avLst/>
          </a:prstGeom>
        </p:spPr>
      </p:pic>
      <p:sp>
        <p:nvSpPr>
          <p:cNvPr id="12" name="TextBox 11"/>
          <p:cNvSpPr txBox="1"/>
          <p:nvPr/>
        </p:nvSpPr>
        <p:spPr>
          <a:xfrm>
            <a:off x="685800" y="5605272"/>
            <a:ext cx="4023360" cy="365760"/>
          </a:xfrm>
          <a:prstGeom prst="rect">
            <a:avLst/>
          </a:prstGeom>
          <a:noFill/>
        </p:spPr>
        <p:txBody>
          <a:bodyPr wrap="square" anchor="t" lIns="0" rIns="0" tIns="0" bIns="0">
            <a:spAutoFit/>
          </a:bodyPr>
          <a:lstStyle/>
          <a:p>
            <a:pPr algn="ctr">
              <a:spcAft>
                <a:spcPts val="0"/>
              </a:spcAft>
            </a:pPr>
            <a:r>
              <a:rPr sz="2100" b="1" i="0">
                <a:solidFill>
                  <a:srgbClr val="E6D7A3"/>
                </a:solidFill>
                <a:latin typeface="Open Sans"/>
              </a:rPr>
              <a:t>istpetdev.doicela.dev</a:t>
            </a:r>
          </a:p>
        </p:txBody>
      </p:sp>
      <p:sp>
        <p:nvSpPr>
          <p:cNvPr id="13" name="Rectangle 12"/>
          <p:cNvSpPr/>
          <p:nvPr/>
        </p:nvSpPr>
        <p:spPr>
          <a:xfrm>
            <a:off x="4937760" y="1737360"/>
            <a:ext cx="6537960" cy="1508760"/>
          </a:xfrm>
          <a:prstGeom prst="rect">
            <a:avLst/>
          </a:prstGeom>
          <a:solidFill>
            <a:srgbClr val="2E3B6E"/>
          </a:solidFill>
          <a:ln>
            <a:noFill/>
          </a:ln>
        </p:spPr>
        <p:txBody>
          <a:bodyPr rtlCol="0" anchor="ctr"/>
          <a:lstStyle/>
          <a:p>
            <a:pPr algn="ctr"/>
          </a:p>
        </p:txBody>
      </p:sp>
      <p:sp>
        <p:nvSpPr>
          <p:cNvPr id="14" name="TextBox 13"/>
          <p:cNvSpPr txBox="1"/>
          <p:nvPr/>
        </p:nvSpPr>
        <p:spPr>
          <a:xfrm>
            <a:off x="5138928" y="1837943"/>
            <a:ext cx="6135624" cy="210312"/>
          </a:xfrm>
          <a:prstGeom prst="rect">
            <a:avLst/>
          </a:prstGeom>
          <a:noFill/>
        </p:spPr>
        <p:txBody>
          <a:bodyPr wrap="square" anchor="t" lIns="0" rIns="0" tIns="0" bIns="0">
            <a:spAutoFit/>
          </a:bodyPr>
          <a:lstStyle/>
          <a:p>
            <a:pPr algn="l">
              <a:spcAft>
                <a:spcPts val="0"/>
              </a:spcAft>
            </a:pPr>
            <a:r>
              <a:rPr sz="1100" b="1" i="0">
                <a:solidFill>
                  <a:srgbClr val="C4A857"/>
                </a:solidFill>
                <a:latin typeface="Open Sans"/>
              </a:rPr>
              <a:t>USUARIO DEL JURADO</a:t>
            </a:r>
          </a:p>
        </p:txBody>
      </p:sp>
      <p:sp>
        <p:nvSpPr>
          <p:cNvPr id="15" name="TextBox 14"/>
          <p:cNvSpPr txBox="1"/>
          <p:nvPr/>
        </p:nvSpPr>
        <p:spPr>
          <a:xfrm>
            <a:off x="5138928" y="2093976"/>
            <a:ext cx="6135624" cy="374904"/>
          </a:xfrm>
          <a:prstGeom prst="rect">
            <a:avLst/>
          </a:prstGeom>
          <a:noFill/>
        </p:spPr>
        <p:txBody>
          <a:bodyPr wrap="square" anchor="t" lIns="0" rIns="0" tIns="0" bIns="0">
            <a:spAutoFit/>
          </a:bodyPr>
          <a:lstStyle/>
          <a:p>
            <a:pPr algn="l">
              <a:spcAft>
                <a:spcPts val="0"/>
              </a:spcAft>
            </a:pPr>
            <a:r>
              <a:rPr sz="2300" b="1" i="0">
                <a:solidFill>
                  <a:srgbClr val="FFFFFF"/>
                </a:solidFill>
                <a:latin typeface="Open Sans"/>
              </a:rPr>
              <a:t>jurado@istpetdev.doicela.dev</a:t>
            </a:r>
          </a:p>
        </p:txBody>
      </p:sp>
      <p:sp>
        <p:nvSpPr>
          <p:cNvPr id="16" name="TextBox 15"/>
          <p:cNvSpPr txBox="1"/>
          <p:nvPr/>
        </p:nvSpPr>
        <p:spPr>
          <a:xfrm>
            <a:off x="5138928" y="2560320"/>
            <a:ext cx="1143000" cy="219456"/>
          </a:xfrm>
          <a:prstGeom prst="rect">
            <a:avLst/>
          </a:prstGeom>
          <a:noFill/>
        </p:spPr>
        <p:txBody>
          <a:bodyPr wrap="square" anchor="t" lIns="0" rIns="0" tIns="0" bIns="0">
            <a:spAutoFit/>
          </a:bodyPr>
          <a:lstStyle/>
          <a:p>
            <a:pPr algn="l">
              <a:spcAft>
                <a:spcPts val="0"/>
              </a:spcAft>
            </a:pPr>
            <a:r>
              <a:rPr sz="1100" b="1" i="0">
                <a:solidFill>
                  <a:srgbClr val="C4A857"/>
                </a:solidFill>
                <a:latin typeface="Open Sans"/>
              </a:rPr>
              <a:t>Contraseña</a:t>
            </a:r>
          </a:p>
        </p:txBody>
      </p:sp>
      <p:sp>
        <p:nvSpPr>
          <p:cNvPr id="17" name="TextBox 16"/>
          <p:cNvSpPr txBox="1"/>
          <p:nvPr/>
        </p:nvSpPr>
        <p:spPr>
          <a:xfrm>
            <a:off x="6355080" y="2514600"/>
            <a:ext cx="4919472" cy="384048"/>
          </a:xfrm>
          <a:prstGeom prst="rect">
            <a:avLst/>
          </a:prstGeom>
          <a:noFill/>
        </p:spPr>
        <p:txBody>
          <a:bodyPr wrap="square" anchor="t" lIns="0" rIns="0" tIns="0" bIns="0">
            <a:spAutoFit/>
          </a:bodyPr>
          <a:lstStyle/>
          <a:p>
            <a:pPr algn="l">
              <a:spcAft>
                <a:spcPts val="0"/>
              </a:spcAft>
            </a:pPr>
            <a:r>
              <a:rPr sz="2200" b="1" i="0">
                <a:solidFill>
                  <a:srgbClr val="FFFFFF"/>
                </a:solidFill>
                <a:latin typeface="Open Sans"/>
              </a:rPr>
              <a:t>Entregada al jurado</a:t>
            </a:r>
          </a:p>
        </p:txBody>
      </p:sp>
      <p:sp>
        <p:nvSpPr>
          <p:cNvPr id="18" name="TextBox 17"/>
          <p:cNvSpPr txBox="1"/>
          <p:nvPr/>
        </p:nvSpPr>
        <p:spPr>
          <a:xfrm>
            <a:off x="5138928" y="2926080"/>
            <a:ext cx="6135624" cy="228600"/>
          </a:xfrm>
          <a:prstGeom prst="rect">
            <a:avLst/>
          </a:prstGeom>
          <a:noFill/>
        </p:spPr>
        <p:txBody>
          <a:bodyPr wrap="square" anchor="t" lIns="0" rIns="0" tIns="0" bIns="0">
            <a:spAutoFit/>
          </a:bodyPr>
          <a:lstStyle/>
          <a:p>
            <a:pPr algn="l">
              <a:spcAft>
                <a:spcPts val="0"/>
              </a:spcAft>
            </a:pPr>
            <a:r>
              <a:rPr sz="1200" b="0" i="0">
                <a:solidFill>
                  <a:srgbClr val="B9C2DC"/>
                </a:solidFill>
                <a:latin typeface="Open Sans"/>
              </a:rPr>
              <a:t>Torre de Control → usar esta cuenta</a:t>
            </a:r>
          </a:p>
        </p:txBody>
      </p:sp>
      <p:sp>
        <p:nvSpPr>
          <p:cNvPr id="19" name="TextBox 18"/>
          <p:cNvSpPr txBox="1"/>
          <p:nvPr/>
        </p:nvSpPr>
        <p:spPr>
          <a:xfrm>
            <a:off x="4937760" y="3410712"/>
            <a:ext cx="6537960" cy="320040"/>
          </a:xfrm>
          <a:prstGeom prst="rect">
            <a:avLst/>
          </a:prstGeom>
          <a:noFill/>
        </p:spPr>
        <p:txBody>
          <a:bodyPr wrap="square" anchor="t" lIns="0" rIns="0" tIns="0" bIns="0">
            <a:spAutoFit/>
          </a:bodyPr>
          <a:lstStyle/>
          <a:p>
            <a:pPr algn="l">
              <a:spcAft>
                <a:spcPts val="0"/>
              </a:spcAft>
            </a:pPr>
            <a:r>
              <a:rPr sz="1600" b="1" i="0">
                <a:solidFill>
                  <a:srgbClr val="E6D7A3"/>
                </a:solidFill>
                <a:latin typeface="Open Sans"/>
              </a:rPr>
              <a:t>SEGURIDAD, EN PALABRAS SENCILLAS</a:t>
            </a:r>
          </a:p>
        </p:txBody>
      </p:sp>
      <p:sp>
        <p:nvSpPr>
          <p:cNvPr id="20" name="TextBox 19"/>
          <p:cNvSpPr txBox="1"/>
          <p:nvPr/>
        </p:nvSpPr>
        <p:spPr>
          <a:xfrm>
            <a:off x="4937760" y="3785615"/>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01  Amazon Cognito es el servicio de acceso de AWS.</a:t>
            </a:r>
          </a:p>
        </p:txBody>
      </p:sp>
      <p:sp>
        <p:nvSpPr>
          <p:cNvPr id="21" name="TextBox 20"/>
          <p:cNvSpPr txBox="1"/>
          <p:nvPr/>
        </p:nvSpPr>
        <p:spPr>
          <a:xfrm>
            <a:off x="4937760" y="4000500"/>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02  AWS es la nube de Amazon: funciona por Internet.</a:t>
            </a:r>
          </a:p>
        </p:txBody>
      </p:sp>
      <p:sp>
        <p:nvSpPr>
          <p:cNvPr id="22" name="TextBox 21"/>
          <p:cNvSpPr txBox="1"/>
          <p:nvPr/>
        </p:nvSpPr>
        <p:spPr>
          <a:xfrm>
            <a:off x="4937760" y="4215383"/>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03  Cognito comprueba el usuario y la contraseña.</a:t>
            </a:r>
          </a:p>
        </p:txBody>
      </p:sp>
      <p:sp>
        <p:nvSpPr>
          <p:cNvPr id="23" name="TextBox 22"/>
          <p:cNvSpPr txBox="1"/>
          <p:nvPr/>
        </p:nvSpPr>
        <p:spPr>
          <a:xfrm>
            <a:off x="4937760" y="4430268"/>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04  La contraseña la gestiona Cognito.</a:t>
            </a:r>
          </a:p>
        </p:txBody>
      </p:sp>
      <p:sp>
        <p:nvSpPr>
          <p:cNvPr id="24" name="TextBox 23"/>
          <p:cNvSpPr txBox="1"/>
          <p:nvPr/>
        </p:nvSpPr>
        <p:spPr>
          <a:xfrm>
            <a:off x="4937760" y="4645152"/>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05  La aplicación recibe una sesión temporal.</a:t>
            </a:r>
          </a:p>
        </p:txBody>
      </p:sp>
      <p:sp>
        <p:nvSpPr>
          <p:cNvPr id="25" name="TextBox 24"/>
          <p:cNvSpPr txBox="1"/>
          <p:nvPr/>
        </p:nvSpPr>
        <p:spPr>
          <a:xfrm>
            <a:off x="4937760" y="4860036"/>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06  Cada cuenta tiene permisos según su función.</a:t>
            </a:r>
          </a:p>
        </p:txBody>
      </p:sp>
      <p:sp>
        <p:nvSpPr>
          <p:cNvPr id="26" name="TextBox 25"/>
          <p:cNvSpPr txBox="1"/>
          <p:nvPr/>
        </p:nvSpPr>
        <p:spPr>
          <a:xfrm>
            <a:off x="4937760" y="5074920"/>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07  El jurado entra con el rol Auditor.</a:t>
            </a:r>
          </a:p>
        </p:txBody>
      </p:sp>
      <p:sp>
        <p:nvSpPr>
          <p:cNvPr id="27" name="TextBox 26"/>
          <p:cNvSpPr txBox="1"/>
          <p:nvPr/>
        </p:nvSpPr>
        <p:spPr>
          <a:xfrm>
            <a:off x="4937760" y="5289804"/>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08  Puede consultar; no modificar la operación.</a:t>
            </a:r>
          </a:p>
        </p:txBody>
      </p:sp>
      <p:sp>
        <p:nvSpPr>
          <p:cNvPr id="28" name="TextBox 27"/>
          <p:cNvSpPr txBox="1"/>
          <p:nvPr/>
        </p:nvSpPr>
        <p:spPr>
          <a:xfrm>
            <a:off x="4937760" y="5504688"/>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09  La conexión usa HTTPS para cifrar los datos.</a:t>
            </a:r>
          </a:p>
        </p:txBody>
      </p:sp>
      <p:sp>
        <p:nvSpPr>
          <p:cNvPr id="29" name="TextBox 28"/>
          <p:cNvSpPr txBox="1"/>
          <p:nvPr/>
        </p:nvSpPr>
        <p:spPr>
          <a:xfrm>
            <a:off x="4937760" y="5719571"/>
            <a:ext cx="6537960" cy="219456"/>
          </a:xfrm>
          <a:prstGeom prst="rect">
            <a:avLst/>
          </a:prstGeom>
          <a:noFill/>
        </p:spPr>
        <p:txBody>
          <a:bodyPr wrap="square" anchor="t" lIns="0" rIns="0" tIns="0" bIns="0">
            <a:spAutoFit/>
          </a:bodyPr>
          <a:lstStyle/>
          <a:p>
            <a:pPr algn="l">
              <a:spcAft>
                <a:spcPts val="0"/>
              </a:spcAft>
            </a:pPr>
            <a:r>
              <a:rPr sz="1260" b="0" i="0">
                <a:solidFill>
                  <a:srgbClr val="FFFFFF"/>
                </a:solidFill>
                <a:latin typeface="Open Sans"/>
              </a:rPr>
              <a:t>10  La cuenta puede desactivarse al terminar.</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IstpetDev · Pitch Expo Clean · v8</dc:title>
  <dc:subject>Caso logístico y acceso Auditor del jurado; guion v8</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