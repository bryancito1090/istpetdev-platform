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A7C4"/>
          </a:solidFill>
          <a:ln w="12700">
            <a:solidFill>
              <a:srgbClr val="00A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512064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00A7C4"/>
                </a:solidFill>
                <a:latin typeface="Liberation Sans"/>
              </a:defRPr>
            </a:pPr>
            <a:r>
              <a:t>ANEXO 5.7 ·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0972800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2900" b="1">
                <a:solidFill>
                  <a:srgbClr val="2D3748"/>
                </a:solidFill>
                <a:latin typeface="Liberation Sans"/>
              </a:defRPr>
            </a:pPr>
            <a:r>
              <a:t>¿Flota propia o apoyo contratado?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254496"/>
            <a:ext cx="11045952" cy="13716"/>
          </a:xfrm>
          <a:prstGeom prst="rect">
            <a:avLst/>
          </a:prstGeom>
          <a:solidFill>
            <a:srgbClr val="D8E2E7"/>
          </a:solidFill>
          <a:ln w="12700"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309360"/>
            <a:ext cx="109728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56373"/>
                </a:solidFill>
                <a:latin typeface="Liberation Sans"/>
              </a:defRPr>
            </a:pPr>
            <a:r>
              <a:t>Fuente: guion T4, hipótesis de problema A-02; decisión de producto P-02.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554480"/>
            <a:ext cx="10607040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500"/>
              </a:spcAft>
              <a:defRPr sz="2500" b="1">
                <a:solidFill>
                  <a:srgbClr val="2D3748"/>
                </a:solidFill>
                <a:latin typeface="Liberation Sans"/>
              </a:defRPr>
            </a:pPr>
            <a:r>
              <a:t>Cada día hay que decidir cómo servir las entregas disponibles.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2468880"/>
            <a:ext cx="5074920" cy="2057400"/>
          </a:xfrm>
          <a:prstGeom prst="roundRect">
            <a:avLst/>
          </a:prstGeom>
          <a:solidFill>
            <a:srgbClr val="FDF0E9"/>
          </a:solidFill>
          <a:ln w="12700"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6384" y="2468880"/>
            <a:ext cx="73152" cy="2057400"/>
          </a:xfrm>
          <a:prstGeom prst="rect">
            <a:avLst/>
          </a:prstGeom>
          <a:solidFill>
            <a:srgbClr val="EA601F"/>
          </a:solidFill>
          <a:ln w="12700">
            <a:solidFill>
              <a:srgbClr val="EA60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633472"/>
            <a:ext cx="469087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2200" b="1">
                <a:solidFill>
                  <a:srgbClr val="2D3748"/>
                </a:solidFill>
                <a:latin typeface="Liberation Sans"/>
              </a:defRPr>
            </a:pPr>
            <a:r>
              <a:t>Mirar solo kilómetros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108960"/>
            <a:ext cx="4690872" cy="1289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2100" b="0">
                <a:solidFill>
                  <a:srgbClr val="556373"/>
                </a:solidFill>
                <a:latin typeface="Liberation Sans"/>
              </a:defRPr>
            </a:pPr>
            <a:r>
              <a:t>puede ocultar combustible, trabajo de descarga y producto expuesto a merma.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468880"/>
            <a:ext cx="5074920" cy="2057400"/>
          </a:xfrm>
          <a:prstGeom prst="roundRect">
            <a:avLst/>
          </a:prstGeom>
          <a:solidFill>
            <a:srgbClr val="E8F7FA"/>
          </a:solidFill>
          <a:ln w="12700"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2468880"/>
            <a:ext cx="73152" cy="2057400"/>
          </a:xfrm>
          <a:prstGeom prst="rect">
            <a:avLst/>
          </a:prstGeom>
          <a:solidFill>
            <a:srgbClr val="00A7C4"/>
          </a:solidFill>
          <a:ln w="12700">
            <a:solidFill>
              <a:srgbClr val="00A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2633472"/>
            <a:ext cx="469087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2200" b="1">
                <a:solidFill>
                  <a:srgbClr val="2D3748"/>
                </a:solidFill>
                <a:latin typeface="Liberation Sans"/>
              </a:defRPr>
            </a:pPr>
            <a:r>
              <a:t>Comparar el servicio completo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3108960"/>
            <a:ext cx="4690872" cy="1289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2100" b="0">
                <a:solidFill>
                  <a:srgbClr val="556373"/>
                </a:solidFill>
                <a:latin typeface="Liberation Sans"/>
              </a:defRPr>
            </a:pPr>
            <a:r>
              <a:t>ayuda a que el planificador entienda los costos y las entregas pendientes.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5010912"/>
            <a:ext cx="1010412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2D3748"/>
                </a:solidFill>
                <a:latin typeface="Liberation Sans"/>
              </a:defRPr>
            </a:pPr>
            <a:r>
              <a:t>Nuestra hipótesis: una decisión explicable entre flota propia y contratada.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A7C4"/>
          </a:solidFill>
          <a:ln w="12700">
            <a:solidFill>
              <a:srgbClr val="00A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512064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00A7C4"/>
                </a:solidFill>
                <a:latin typeface="Liberation Sans"/>
              </a:defRPr>
            </a:pPr>
            <a:r>
              <a:t>ANEXO 5.7 · SOLUCIÓN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0972800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2900" b="1">
                <a:solidFill>
                  <a:srgbClr val="2D3748"/>
                </a:solidFill>
                <a:latin typeface="Liberation Sans"/>
              </a:defRPr>
            </a:pPr>
            <a:r>
              <a:t>El motor calcula. La persona decide.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254496"/>
            <a:ext cx="11045952" cy="13716"/>
          </a:xfrm>
          <a:prstGeom prst="rect">
            <a:avLst/>
          </a:prstGeom>
          <a:solidFill>
            <a:srgbClr val="D8E2E7"/>
          </a:solidFill>
          <a:ln w="12700"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309360"/>
            <a:ext cx="109728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56373"/>
                </a:solidFill>
                <a:latin typeface="Liberation Sans"/>
              </a:defRPr>
            </a:pPr>
            <a:r>
              <a:t>Fuente: matriz A-10, A-11 y P-01/P-02; guion T4.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965960"/>
            <a:ext cx="2578608" cy="2057400"/>
          </a:xfrm>
          <a:prstGeom prst="roundRect">
            <a:avLst/>
          </a:prstGeom>
          <a:solidFill>
            <a:srgbClr val="E8F7FA"/>
          </a:solidFill>
          <a:ln w="12700"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965960"/>
            <a:ext cx="73152" cy="2057400"/>
          </a:xfrm>
          <a:prstGeom prst="rect">
            <a:avLst/>
          </a:prstGeom>
          <a:solidFill>
            <a:srgbClr val="00A7C4"/>
          </a:solidFill>
          <a:ln w="12700">
            <a:solidFill>
              <a:srgbClr val="00A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30552"/>
            <a:ext cx="21945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2D3748"/>
                </a:solidFill>
                <a:latin typeface="Liberation Sans"/>
              </a:defRPr>
            </a:pPr>
            <a:r>
              <a:t>Comparar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06039"/>
            <a:ext cx="2194560" cy="1289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800" b="0">
                <a:solidFill>
                  <a:srgbClr val="556373"/>
                </a:solidFill>
                <a:latin typeface="Liberation Sans"/>
              </a:defRPr>
            </a:pPr>
            <a:r>
              <a:t>Rutas con flota propia y contratada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39" y="2651760"/>
            <a:ext cx="22860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500"/>
              </a:spcAft>
              <a:defRPr sz="2700" b="1">
                <a:solidFill>
                  <a:srgbClr val="556373"/>
                </a:solidFill>
                <a:latin typeface="Liberation Sans"/>
              </a:defRPr>
            </a:pPr>
            <a: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39" y="1965960"/>
            <a:ext cx="2578608" cy="2057400"/>
          </a:xfrm>
          <a:prstGeom prst="roundRect">
            <a:avLst/>
          </a:prstGeom>
          <a:solidFill>
            <a:srgbClr val="F4F8E3"/>
          </a:solidFill>
          <a:ln w="12700"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20439" y="1965960"/>
            <a:ext cx="73152" cy="2057400"/>
          </a:xfrm>
          <a:prstGeom prst="rect">
            <a:avLst/>
          </a:prstGeom>
          <a:solidFill>
            <a:srgbClr val="9EC200"/>
          </a:solidFill>
          <a:ln w="12700">
            <a:solidFill>
              <a:srgbClr val="9EC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21607" y="2130552"/>
            <a:ext cx="21945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2D3748"/>
                </a:solidFill>
                <a:latin typeface="Liberation Sans"/>
              </a:defRPr>
            </a:pPr>
            <a:r>
              <a:t>Desglosar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21607" y="2606039"/>
            <a:ext cx="2194560" cy="1289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800" b="0">
                <a:solidFill>
                  <a:srgbClr val="556373"/>
                </a:solidFill>
                <a:latin typeface="Liberation Sans"/>
              </a:defRPr>
            </a:pPr>
            <a:r>
              <a:t>Costo total estimado de servir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9048" y="2651760"/>
            <a:ext cx="22860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500"/>
              </a:spcAft>
              <a:defRPr sz="2700" b="1">
                <a:solidFill>
                  <a:srgbClr val="556373"/>
                </a:solidFill>
                <a:latin typeface="Liberation Sans"/>
              </a:defRPr>
            </a:pPr>
            <a: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1965960"/>
            <a:ext cx="2578608" cy="2057400"/>
          </a:xfrm>
          <a:prstGeom prst="roundRect">
            <a:avLst/>
          </a:prstGeom>
          <a:solidFill>
            <a:srgbClr val="FDF0E9"/>
          </a:solidFill>
          <a:ln w="12700"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27648" y="1965960"/>
            <a:ext cx="73152" cy="2057400"/>
          </a:xfrm>
          <a:prstGeom prst="rect">
            <a:avLst/>
          </a:prstGeom>
          <a:solidFill>
            <a:srgbClr val="EA601F"/>
          </a:solidFill>
          <a:ln w="12700">
            <a:solidFill>
              <a:srgbClr val="EA60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28816" y="2130552"/>
            <a:ext cx="21945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2D3748"/>
                </a:solidFill>
                <a:latin typeface="Liberation Sans"/>
              </a:defRPr>
            </a:pPr>
            <a:r>
              <a:t>Explicar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8816" y="2606039"/>
            <a:ext cx="2194560" cy="1289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800" b="0">
                <a:solidFill>
                  <a:srgbClr val="556373"/>
                </a:solidFill>
                <a:latin typeface="Liberation Sans"/>
              </a:defRPr>
            </a:pPr>
            <a:r>
              <a:t>La IA comunica los datos calculados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06256" y="2651760"/>
            <a:ext cx="22860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500"/>
              </a:spcAft>
              <a:defRPr sz="2700" b="1">
                <a:solidFill>
                  <a:srgbClr val="556373"/>
                </a:solidFill>
                <a:latin typeface="Liberation Sans"/>
              </a:defRPr>
            </a:pPr>
            <a: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34855" y="1965960"/>
            <a:ext cx="2578608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34855" y="1965960"/>
            <a:ext cx="73152" cy="2057400"/>
          </a:xfrm>
          <a:prstGeom prst="rect">
            <a:avLst/>
          </a:prstGeom>
          <a:solidFill>
            <a:srgbClr val="00A7C4"/>
          </a:solidFill>
          <a:ln w="12700">
            <a:solidFill>
              <a:srgbClr val="00A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36024" y="2130552"/>
            <a:ext cx="21945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2D3748"/>
                </a:solidFill>
                <a:latin typeface="Liberation Sans"/>
              </a:defRPr>
            </a:pPr>
            <a:r>
              <a:t>Decidir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36024" y="2606039"/>
            <a:ext cx="2194560" cy="1289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800" b="0">
                <a:solidFill>
                  <a:srgbClr val="556373"/>
                </a:solidFill>
                <a:latin typeface="Liberation Sans"/>
              </a:defRPr>
            </a:pPr>
            <a:r>
              <a:t>El planificador elige la opción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160520"/>
            <a:ext cx="1046988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EA601F"/>
                </a:solidFill>
                <a:latin typeface="Liberation Sans"/>
              </a:defRPr>
            </a:pPr>
            <a:r>
              <a:t>PROPUESTA · la comparación completa A/B/C sigue en integración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298448" y="4645152"/>
            <a:ext cx="9601200" cy="804672"/>
          </a:xfrm>
          <a:prstGeom prst="roundRect">
            <a:avLst/>
          </a:prstGeom>
          <a:solidFill>
            <a:srgbClr val="E8F7FA"/>
          </a:solidFill>
          <a:ln w="12700">
            <a:solidFill>
              <a:srgbClr val="00A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08760" y="4846320"/>
            <a:ext cx="918972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500"/>
              </a:spcAft>
              <a:defRPr sz="2500" b="1">
                <a:solidFill>
                  <a:srgbClr val="2D3748"/>
                </a:solidFill>
                <a:latin typeface="Liberation Sans"/>
              </a:defRPr>
            </a:pPr>
            <a:r>
              <a:t>La IA explica; el planificador decide.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A7C4"/>
          </a:solidFill>
          <a:ln w="12700">
            <a:solidFill>
              <a:srgbClr val="00A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512064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00A7C4"/>
                </a:solidFill>
                <a:latin typeface="Liberation Sans"/>
              </a:defRPr>
            </a:pPr>
            <a:r>
              <a:t>ANEXO 5.7 · PROTOTIPO /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0972800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2900" b="1">
                <a:solidFill>
                  <a:srgbClr val="2D3748"/>
                </a:solidFill>
                <a:latin typeface="Liberation Sans"/>
              </a:defRPr>
            </a:pPr>
            <a:r>
              <a:t>Una captura real de la pantalla de rutas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254496"/>
            <a:ext cx="11045952" cy="13716"/>
          </a:xfrm>
          <a:prstGeom prst="rect">
            <a:avLst/>
          </a:prstGeom>
          <a:solidFill>
            <a:srgbClr val="D8E2E7"/>
          </a:solidFill>
          <a:ln w="12700"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309360"/>
            <a:ext cx="109728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56373"/>
                </a:solidFill>
                <a:latin typeface="Liberation Sans"/>
              </a:defRPr>
            </a:pPr>
            <a:r>
              <a:t>Fuente: captura-rutas.png, Entregable 2. La captura muestra otro escenario sintético; no es Quito ni A/B/C.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" y="1572768"/>
            <a:ext cx="6510528" cy="2761488"/>
          </a:xfrm>
          <a:prstGeom prst="rect">
            <a:avLst/>
          </a:prstGeom>
          <a:solidFill>
            <a:srgbClr val="FFFFFF"/>
          </a:solidFill>
          <a:ln w="15240"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aptura-rutas.png"/>
          <p:cNvPicPr>
            <a:picLocks noChangeAspect="1"/>
          </p:cNvPicPr>
          <p:nvPr/>
        </p:nvPicPr>
        <p:blipFill>
          <a:blip r:embed="rId2"/>
          <a:srcRect l="41500" r="20700" t="39700" b="30800"/>
          <a:stretch>
            <a:fillRect/>
          </a:stretch>
        </p:blipFill>
        <p:spPr>
          <a:xfrm>
            <a:off x="713232" y="1591056"/>
            <a:ext cx="6473952" cy="272491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635240" y="1664208"/>
            <a:ext cx="3749039" cy="2670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35240" y="1664208"/>
            <a:ext cx="73152" cy="2670048"/>
          </a:xfrm>
          <a:prstGeom prst="rect">
            <a:avLst/>
          </a:prstGeom>
          <a:solidFill>
            <a:srgbClr val="00A7C4"/>
          </a:solidFill>
          <a:ln w="12700">
            <a:solidFill>
              <a:srgbClr val="00A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36408" y="1828800"/>
            <a:ext cx="3364991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2100" b="1">
                <a:solidFill>
                  <a:srgbClr val="2D3748"/>
                </a:solidFill>
                <a:latin typeface="Liberation Sans"/>
              </a:defRPr>
            </a:pPr>
            <a:r>
              <a:t>Interfaz existente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36408" y="2304288"/>
            <a:ext cx="3364991" cy="19019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900" b="0">
                <a:solidFill>
                  <a:srgbClr val="556373"/>
                </a:solidFill>
                <a:latin typeface="Liberation Sans"/>
              </a:defRPr>
            </a:pPr>
            <a:r>
              <a:t>La captura documenta una vista de rutas. No demuestra la comparación de flota ni una corrida del escenario de Quito.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4645152"/>
            <a:ext cx="10680192" cy="822960"/>
          </a:xfrm>
          <a:prstGeom prst="roundRect">
            <a:avLst/>
          </a:prstGeom>
          <a:solidFill>
            <a:srgbClr val="FDF0E9"/>
          </a:solidFill>
          <a:ln w="12700">
            <a:solidFill>
              <a:srgbClr val="EA60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818888"/>
            <a:ext cx="10277856" cy="42062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500"/>
              </a:spcAft>
              <a:defRPr sz="1900" b="1">
                <a:solidFill>
                  <a:srgbClr val="2D3748"/>
                </a:solidFill>
                <a:latin typeface="Liberation Sans"/>
              </a:defRPr>
            </a:pPr>
            <a:r>
              <a:t>Captura real · los datos visibles pertenecen a otro escenario sintético.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A7C4"/>
          </a:solidFill>
          <a:ln w="12700">
            <a:solidFill>
              <a:srgbClr val="00A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512064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00A7C4"/>
                </a:solidFill>
                <a:latin typeface="Liberation Sans"/>
              </a:defRPr>
            </a:pPr>
            <a:r>
              <a:t>ANEXO 5.7 · PROTOTIPO /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0972800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2900" b="1">
                <a:solidFill>
                  <a:srgbClr val="2D3748"/>
                </a:solidFill>
                <a:latin typeface="Liberation Sans"/>
              </a:defRPr>
            </a:pPr>
            <a:r>
              <a:t>Diseño del panel de comparación A / B / C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254496"/>
            <a:ext cx="11045952" cy="13716"/>
          </a:xfrm>
          <a:prstGeom prst="rect">
            <a:avLst/>
          </a:prstGeom>
          <a:solidFill>
            <a:srgbClr val="D8E2E7"/>
          </a:solidFill>
          <a:ln w="12700"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309360"/>
            <a:ext cx="109728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56373"/>
                </a:solidFill>
                <a:latin typeface="Liberation Sans"/>
              </a:defRPr>
            </a:pPr>
            <a:r>
              <a:t>Fuente: propuesta del evento y matriz P-02/P-03/P-05. Celdas sin dato: no atribuir cifras al motor.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1444752"/>
            <a:ext cx="10808208" cy="502920"/>
          </a:xfrm>
          <a:prstGeom prst="roundRect">
            <a:avLst/>
          </a:prstGeom>
          <a:solidFill>
            <a:srgbClr val="FDF0E9"/>
          </a:solidFill>
          <a:ln w="12700">
            <a:solidFill>
              <a:srgbClr val="EA60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554480"/>
            <a:ext cx="1042416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2D3748"/>
                </a:solidFill>
                <a:latin typeface="Liberation Sans"/>
              </a:defRPr>
            </a:pPr>
            <a:r>
              <a:t>DISEÑO · comparación contratada y recomendación calculada siguen en integración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2121408"/>
            <a:ext cx="2249424" cy="603504"/>
          </a:xfrm>
          <a:prstGeom prst="rect">
            <a:avLst/>
          </a:prstGeom>
          <a:solidFill>
            <a:srgbClr val="00A7C4"/>
          </a:solidFill>
          <a:ln w="12700">
            <a:solidFill>
              <a:srgbClr val="00A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5" y="2231136"/>
            <a:ext cx="2121408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FFFFF"/>
                </a:solidFill>
                <a:latin typeface="Liberation Sans"/>
              </a:defRPr>
            </a:pPr>
            <a:r>
              <a:t>Componente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99232" y="2121408"/>
            <a:ext cx="2304288" cy="603504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3239" y="2231136"/>
            <a:ext cx="2176272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FFFFF"/>
                </a:solidFill>
                <a:latin typeface="Liberation Sans"/>
              </a:defRPr>
            </a:pPr>
            <a:r>
              <a:t>A · Flota propia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0" y="2121408"/>
            <a:ext cx="2304288" cy="603504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67528" y="2231136"/>
            <a:ext cx="2176272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FFFFF"/>
                </a:solidFill>
                <a:latin typeface="Liberation Sans"/>
              </a:defRPr>
            </a:pPr>
            <a:r>
              <a:t>B · Propia, críticos primero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7808" y="2121408"/>
            <a:ext cx="2304288" cy="603504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71816" y="2231136"/>
            <a:ext cx="2176272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FFFFF"/>
                </a:solidFill>
                <a:latin typeface="Liberation Sans"/>
              </a:defRPr>
            </a:pPr>
            <a:r>
              <a:t>C · Contratada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" y="2724912"/>
            <a:ext cx="2249424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5" y="2816352"/>
            <a:ext cx="2121408" cy="2468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2D3748"/>
                </a:solidFill>
                <a:latin typeface="Liberation Sans"/>
              </a:defRPr>
            </a:pPr>
            <a:r>
              <a:t>Combustible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99232" y="2724912"/>
            <a:ext cx="2304288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63239" y="2816352"/>
            <a:ext cx="2176272" cy="2468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500"/>
              </a:spcAft>
              <a:defRPr sz="1500" b="0">
                <a:solidFill>
                  <a:srgbClr val="556373"/>
                </a:solidFill>
                <a:latin typeface="Liberation Sans"/>
              </a:defRPr>
            </a:pPr>
            <a:r>
              <a:t>sin dato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0" y="2724912"/>
            <a:ext cx="2304288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67528" y="2816352"/>
            <a:ext cx="2176272" cy="2468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500"/>
              </a:spcAft>
              <a:defRPr sz="1500" b="0">
                <a:solidFill>
                  <a:srgbClr val="556373"/>
                </a:solidFill>
                <a:latin typeface="Liberation Sans"/>
              </a:defRPr>
            </a:pPr>
            <a:r>
              <a:t>sin dato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07808" y="2724912"/>
            <a:ext cx="2304288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71816" y="2816352"/>
            <a:ext cx="2176272" cy="2468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500"/>
              </a:spcAft>
              <a:defRPr sz="1500" b="0">
                <a:solidFill>
                  <a:srgbClr val="556373"/>
                </a:solidFill>
                <a:latin typeface="Liberation Sans"/>
              </a:defRPr>
            </a:pPr>
            <a:r>
              <a:t>sin dato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9808" y="3163824"/>
            <a:ext cx="2249424" cy="438912"/>
          </a:xfrm>
          <a:prstGeom prst="rect">
            <a:avLst/>
          </a:prstGeom>
          <a:solidFill>
            <a:srgbClr val="E8F7FA"/>
          </a:solidFill>
          <a:ln w="7620"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5" y="3255264"/>
            <a:ext cx="2121408" cy="2468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2D3748"/>
                </a:solidFill>
                <a:latin typeface="Liberation Sans"/>
              </a:defRPr>
            </a:pPr>
            <a:r>
              <a:t>Desgaste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99232" y="3163824"/>
            <a:ext cx="2304288" cy="438912"/>
          </a:xfrm>
          <a:prstGeom prst="rect">
            <a:avLst/>
          </a:prstGeom>
          <a:solidFill>
            <a:srgbClr val="E8F7FA"/>
          </a:solidFill>
          <a:ln w="7620"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63239" y="3255264"/>
            <a:ext cx="2176272" cy="2468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500"/>
              </a:spcAft>
              <a:defRPr sz="1500" b="0">
                <a:solidFill>
                  <a:srgbClr val="556373"/>
                </a:solidFill>
                <a:latin typeface="Liberation Sans"/>
              </a:defRPr>
            </a:pPr>
            <a:r>
              <a:t>sin dato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03520" y="3163824"/>
            <a:ext cx="2304288" cy="438912"/>
          </a:xfrm>
          <a:prstGeom prst="rect">
            <a:avLst/>
          </a:prstGeom>
          <a:solidFill>
            <a:srgbClr val="E8F7FA"/>
          </a:solidFill>
          <a:ln w="7620"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67528" y="3255264"/>
            <a:ext cx="2176272" cy="2468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500"/>
              </a:spcAft>
              <a:defRPr sz="1500" b="0">
                <a:solidFill>
                  <a:srgbClr val="556373"/>
                </a:solidFill>
                <a:latin typeface="Liberation Sans"/>
              </a:defRPr>
            </a:pPr>
            <a:r>
              <a:t>sin dato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07808" y="3163824"/>
            <a:ext cx="2304288" cy="438912"/>
          </a:xfrm>
          <a:prstGeom prst="rect">
            <a:avLst/>
          </a:prstGeom>
          <a:solidFill>
            <a:srgbClr val="E8F7FA"/>
          </a:solidFill>
          <a:ln w="7620"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71816" y="3255264"/>
            <a:ext cx="2176272" cy="2468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500"/>
              </a:spcAft>
              <a:defRPr sz="1500" b="0">
                <a:solidFill>
                  <a:srgbClr val="556373"/>
                </a:solidFill>
                <a:latin typeface="Liberation Sans"/>
              </a:defRPr>
            </a:pPr>
            <a:r>
              <a:t>sin dato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9808" y="3602736"/>
            <a:ext cx="2249424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3815" y="3694176"/>
            <a:ext cx="2121408" cy="2468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2D3748"/>
                </a:solidFill>
                <a:latin typeface="Liberation Sans"/>
              </a:defRPr>
            </a:pPr>
            <a:r>
              <a:t>Conductor y ayudantes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99232" y="3602736"/>
            <a:ext cx="2304288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63239" y="3694176"/>
            <a:ext cx="2176272" cy="2468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500"/>
              </a:spcAft>
              <a:defRPr sz="1500" b="0">
                <a:solidFill>
                  <a:srgbClr val="556373"/>
                </a:solidFill>
                <a:latin typeface="Liberation Sans"/>
              </a:defRPr>
            </a:pPr>
            <a:r>
              <a:t>sin dato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03520" y="3602736"/>
            <a:ext cx="2304288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67528" y="3694176"/>
            <a:ext cx="2176272" cy="2468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500"/>
              </a:spcAft>
              <a:defRPr sz="1500" b="0">
                <a:solidFill>
                  <a:srgbClr val="556373"/>
                </a:solidFill>
                <a:latin typeface="Liberation Sans"/>
              </a:defRPr>
            </a:pPr>
            <a:r>
              <a:t>sin dato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07808" y="3602736"/>
            <a:ext cx="2304288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71816" y="3694176"/>
            <a:ext cx="2176272" cy="2468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500"/>
              </a:spcAft>
              <a:defRPr sz="1500" b="0">
                <a:solidFill>
                  <a:srgbClr val="556373"/>
                </a:solidFill>
                <a:latin typeface="Liberation Sans"/>
              </a:defRPr>
            </a:pPr>
            <a:r>
              <a:t>sin dato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808" y="4041648"/>
            <a:ext cx="2249424" cy="438912"/>
          </a:xfrm>
          <a:prstGeom prst="rect">
            <a:avLst/>
          </a:prstGeom>
          <a:solidFill>
            <a:srgbClr val="E8F7FA"/>
          </a:solidFill>
          <a:ln w="7620"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3815" y="4133087"/>
            <a:ext cx="2121408" cy="2468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2D3748"/>
                </a:solidFill>
                <a:latin typeface="Liberation Sans"/>
              </a:defRPr>
            </a:pPr>
            <a:r>
              <a:t>Merma esperada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999232" y="4041648"/>
            <a:ext cx="2304288" cy="438912"/>
          </a:xfrm>
          <a:prstGeom prst="rect">
            <a:avLst/>
          </a:prstGeom>
          <a:solidFill>
            <a:srgbClr val="E8F7FA"/>
          </a:solidFill>
          <a:ln w="7620"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063239" y="4133087"/>
            <a:ext cx="2176272" cy="2468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500"/>
              </a:spcAft>
              <a:defRPr sz="1500" b="0">
                <a:solidFill>
                  <a:srgbClr val="556373"/>
                </a:solidFill>
                <a:latin typeface="Liberation Sans"/>
              </a:defRPr>
            </a:pPr>
            <a:r>
              <a:t>sin dato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303520" y="4041648"/>
            <a:ext cx="2304288" cy="438912"/>
          </a:xfrm>
          <a:prstGeom prst="rect">
            <a:avLst/>
          </a:prstGeom>
          <a:solidFill>
            <a:srgbClr val="E8F7FA"/>
          </a:solidFill>
          <a:ln w="7620"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67528" y="4133087"/>
            <a:ext cx="2176272" cy="2468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500"/>
              </a:spcAft>
              <a:defRPr sz="1500" b="0">
                <a:solidFill>
                  <a:srgbClr val="556373"/>
                </a:solidFill>
                <a:latin typeface="Liberation Sans"/>
              </a:defRPr>
            </a:pPr>
            <a:r>
              <a:t>sin dato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607808" y="4041648"/>
            <a:ext cx="2304288" cy="438912"/>
          </a:xfrm>
          <a:prstGeom prst="rect">
            <a:avLst/>
          </a:prstGeom>
          <a:solidFill>
            <a:srgbClr val="E8F7FA"/>
          </a:solidFill>
          <a:ln w="7620"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71816" y="4133087"/>
            <a:ext cx="2176272" cy="2468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500"/>
              </a:spcAft>
              <a:defRPr sz="1500" b="0">
                <a:solidFill>
                  <a:srgbClr val="556373"/>
                </a:solidFill>
                <a:latin typeface="Liberation Sans"/>
              </a:defRPr>
            </a:pPr>
            <a:r>
              <a:t>sin dato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9808" y="4480560"/>
            <a:ext cx="2249424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3815" y="4572000"/>
            <a:ext cx="2121408" cy="2468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2D3748"/>
                </a:solidFill>
                <a:latin typeface="Liberation Sans"/>
              </a:defRPr>
            </a:pPr>
            <a:r>
              <a:t>Costo total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999232" y="4480560"/>
            <a:ext cx="2304288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063239" y="4572000"/>
            <a:ext cx="2176272" cy="2468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500"/>
              </a:spcAft>
              <a:defRPr sz="1500" b="0">
                <a:solidFill>
                  <a:srgbClr val="556373"/>
                </a:solidFill>
                <a:latin typeface="Liberation Sans"/>
              </a:defRPr>
            </a:pPr>
            <a:r>
              <a:t>sin dato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303520" y="4480560"/>
            <a:ext cx="2304288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367528" y="4572000"/>
            <a:ext cx="2176272" cy="2468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500"/>
              </a:spcAft>
              <a:defRPr sz="1500" b="0">
                <a:solidFill>
                  <a:srgbClr val="556373"/>
                </a:solidFill>
                <a:latin typeface="Liberation Sans"/>
              </a:defRPr>
            </a:pPr>
            <a:r>
              <a:t>sin dato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607808" y="4480560"/>
            <a:ext cx="2304288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671816" y="4572000"/>
            <a:ext cx="2176272" cy="2468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500"/>
              </a:spcAft>
              <a:defRPr sz="1500" b="0">
                <a:solidFill>
                  <a:srgbClr val="556373"/>
                </a:solidFill>
                <a:latin typeface="Liberation Sans"/>
              </a:defRPr>
            </a:pPr>
            <a:r>
              <a:t>sin dato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49808" y="5029200"/>
            <a:ext cx="6839712" cy="603504"/>
          </a:xfrm>
          <a:prstGeom prst="roundRect">
            <a:avLst/>
          </a:prstGeom>
          <a:solidFill>
            <a:srgbClr val="F4F8E3"/>
          </a:solidFill>
          <a:ln w="12700">
            <a:solidFill>
              <a:srgbClr val="9EC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4400" y="5111496"/>
            <a:ext cx="6510528" cy="42062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2D3748"/>
                </a:solidFill>
                <a:latin typeface="Liberation Sans"/>
              </a:defRPr>
            </a:pPr>
            <a:r>
              <a:t>Recomendada: sin dato · el planificador decide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790688" y="5029200"/>
            <a:ext cx="3767328" cy="603504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936992" y="5093208"/>
            <a:ext cx="347472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2D3748"/>
                </a:solidFill>
                <a:latin typeface="Liberation Sans"/>
              </a:defRPr>
            </a:pPr>
            <a:r>
              <a:t>Justificación: pendiente de integrar el puntaje A/B/C.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49808" y="5715000"/>
            <a:ext cx="10808208" cy="438912"/>
          </a:xfrm>
          <a:prstGeom prst="roundRect">
            <a:avLst/>
          </a:prstGeom>
          <a:solidFill>
            <a:srgbClr val="FDF0E9"/>
          </a:solidFill>
          <a:ln w="12700">
            <a:solidFill>
              <a:srgbClr val="EA60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4400" y="5760720"/>
            <a:ext cx="10469880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2D3748"/>
                </a:solidFill>
                <a:latin typeface="Liberation Sans"/>
              </a:defRPr>
            </a:pPr>
            <a:r>
              <a:t>[CAPTURA PENDIENTE: pantalla A/B/C]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A7C4"/>
          </a:solidFill>
          <a:ln w="12700">
            <a:solidFill>
              <a:srgbClr val="00A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512064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00A7C4"/>
                </a:solidFill>
                <a:latin typeface="Liberation Sans"/>
              </a:defRPr>
            </a:pPr>
            <a:r>
              <a:t>ANEXO 5.7 · IMPACTO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0972800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2900" b="1">
                <a:solidFill>
                  <a:srgbClr val="2D3748"/>
                </a:solidFill>
                <a:latin typeface="Liberation Sans"/>
              </a:defRPr>
            </a:pPr>
            <a:r>
              <a:t>Indicadores que cualquier rol puede entender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254496"/>
            <a:ext cx="11045952" cy="13716"/>
          </a:xfrm>
          <a:prstGeom prst="rect">
            <a:avLst/>
          </a:prstGeom>
          <a:solidFill>
            <a:srgbClr val="D8E2E7"/>
          </a:solidFill>
          <a:ln w="12700"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309360"/>
            <a:ext cx="109728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56373"/>
                </a:solidFill>
                <a:latin typeface="Liberation Sans"/>
              </a:defRPr>
            </a:pPr>
            <a:r>
              <a:t>Propuesta de indicadores: matriz P-07 en curso; diseño de medición según la propuesta de planificación.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444752"/>
            <a:ext cx="10607040" cy="40233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2000" b="0">
                <a:solidFill>
                  <a:srgbClr val="556373"/>
                </a:solidFill>
                <a:latin typeface="Liberation Sans"/>
              </a:defRPr>
            </a:pPr>
            <a:r>
              <a:t>Preguntas sencillas para conversar con el equipo operativo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993392"/>
            <a:ext cx="3273552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1993392"/>
            <a:ext cx="73152" cy="1536192"/>
          </a:xfrm>
          <a:prstGeom prst="rect">
            <a:avLst/>
          </a:prstGeom>
          <a:solidFill>
            <a:srgbClr val="00A7C4"/>
          </a:solidFill>
          <a:ln w="12700">
            <a:solidFill>
              <a:srgbClr val="00A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157984"/>
            <a:ext cx="2889504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2D3748"/>
                </a:solidFill>
                <a:latin typeface="Liberation Sans"/>
              </a:defRPr>
            </a:pPr>
            <a:r>
              <a:t>Costo por kilómetro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633472"/>
            <a:ext cx="2889504" cy="7680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556373"/>
                </a:solidFill>
                <a:latin typeface="Liberation Sans"/>
              </a:defRPr>
            </a:pPr>
            <a:r>
              <a:t>¿Cuánto cuesta recorrer esta ruta?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62272" y="1993392"/>
            <a:ext cx="3273552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62272" y="1993392"/>
            <a:ext cx="73152" cy="1536192"/>
          </a:xfrm>
          <a:prstGeom prst="rect">
            <a:avLst/>
          </a:prstGeom>
          <a:solidFill>
            <a:srgbClr val="9EC200"/>
          </a:solidFill>
          <a:ln w="12700">
            <a:solidFill>
              <a:srgbClr val="9EC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2157984"/>
            <a:ext cx="2889504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2D3748"/>
                </a:solidFill>
                <a:latin typeface="Liberation Sans"/>
              </a:defRPr>
            </a:pPr>
            <a:r>
              <a:t>Costo por entrega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633472"/>
            <a:ext cx="2889504" cy="7680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556373"/>
                </a:solidFill>
                <a:latin typeface="Liberation Sans"/>
              </a:defRPr>
            </a:pPr>
            <a:r>
              <a:t>¿Cuánto cuesta atender cada pedido?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74736" y="1993392"/>
            <a:ext cx="3273552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74736" y="1993392"/>
            <a:ext cx="73152" cy="1536192"/>
          </a:xfrm>
          <a:prstGeom prst="rect">
            <a:avLst/>
          </a:prstGeom>
          <a:solidFill>
            <a:srgbClr val="EA601F"/>
          </a:solidFill>
          <a:ln w="12700">
            <a:solidFill>
              <a:srgbClr val="EA60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75904" y="2157984"/>
            <a:ext cx="2889504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2D3748"/>
                </a:solidFill>
                <a:latin typeface="Liberation Sans"/>
              </a:defRPr>
            </a:pPr>
            <a:r>
              <a:t>Entregas a tiempo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5904" y="2633472"/>
            <a:ext cx="2889504" cy="7680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556373"/>
                </a:solidFill>
                <a:latin typeface="Liberation Sans"/>
              </a:defRPr>
            </a:pPr>
            <a:r>
              <a:t>¿Llegamos dentro de la ventana acordada?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877056"/>
            <a:ext cx="3273552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3877056"/>
            <a:ext cx="73152" cy="1536192"/>
          </a:xfrm>
          <a:prstGeom prst="rect">
            <a:avLst/>
          </a:prstGeom>
          <a:solidFill>
            <a:srgbClr val="00A7C4"/>
          </a:solidFill>
          <a:ln w="12700">
            <a:solidFill>
              <a:srgbClr val="00A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4041648"/>
            <a:ext cx="2889504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2D3748"/>
                </a:solidFill>
                <a:latin typeface="Liberation Sans"/>
              </a:defRPr>
            </a:pPr>
            <a:r>
              <a:t>Pendientes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" y="4517136"/>
            <a:ext cx="2889504" cy="7680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556373"/>
                </a:solidFill>
                <a:latin typeface="Liberation Sans"/>
              </a:defRPr>
            </a:pPr>
            <a:r>
              <a:t>¿Qué pedidos quedaron sin atender?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62272" y="3877056"/>
            <a:ext cx="3273552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62272" y="3877056"/>
            <a:ext cx="73152" cy="1536192"/>
          </a:xfrm>
          <a:prstGeom prst="rect">
            <a:avLst/>
          </a:prstGeom>
          <a:solidFill>
            <a:srgbClr val="9EC200"/>
          </a:solidFill>
          <a:ln w="12700">
            <a:solidFill>
              <a:srgbClr val="9EC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0" y="4041648"/>
            <a:ext cx="2889504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2D3748"/>
                </a:solidFill>
                <a:latin typeface="Liberation Sans"/>
              </a:defRPr>
            </a:pPr>
            <a:r>
              <a:t>Mermas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4517136"/>
            <a:ext cx="2889504" cy="7680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556373"/>
                </a:solidFill>
                <a:latin typeface="Liberation Sans"/>
              </a:defRPr>
            </a:pPr>
            <a:r>
              <a:t>¿Qué producto se dañó o rechazó?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74736" y="3877056"/>
            <a:ext cx="3273552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74736" y="3877056"/>
            <a:ext cx="73152" cy="1536192"/>
          </a:xfrm>
          <a:prstGeom prst="rect">
            <a:avLst/>
          </a:prstGeom>
          <a:solidFill>
            <a:srgbClr val="EA601F"/>
          </a:solidFill>
          <a:ln w="12700">
            <a:solidFill>
              <a:srgbClr val="EA60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75904" y="4041648"/>
            <a:ext cx="2889504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2D3748"/>
                </a:solidFill>
                <a:latin typeface="Liberation Sans"/>
              </a:defRPr>
            </a:pPr>
            <a:r>
              <a:t>Propia frente a contratada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75904" y="4517136"/>
            <a:ext cx="2889504" cy="7680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556373"/>
                </a:solidFill>
                <a:latin typeface="Liberation Sans"/>
              </a:defRPr>
            </a:pPr>
            <a:r>
              <a:t>¿Qué opción conviene con los datos disponibles?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A7C4"/>
          </a:solidFill>
          <a:ln w="12700">
            <a:solidFill>
              <a:srgbClr val="00A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512064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00A7C4"/>
                </a:solidFill>
                <a:latin typeface="Liberation Sans"/>
              </a:defRPr>
            </a:pPr>
            <a:r>
              <a:t>ANEXO 5.7 · VIABILIDAD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0972800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2900" b="1">
                <a:solidFill>
                  <a:srgbClr val="2D3748"/>
                </a:solidFill>
                <a:latin typeface="Liberation Sans"/>
              </a:defRPr>
            </a:pPr>
            <a:r>
              <a:t>Qué podemos respaldar hoy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254496"/>
            <a:ext cx="11045952" cy="13716"/>
          </a:xfrm>
          <a:prstGeom prst="rect">
            <a:avLst/>
          </a:prstGeom>
          <a:solidFill>
            <a:srgbClr val="D8E2E7"/>
          </a:solidFill>
          <a:ln w="12700"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309360"/>
            <a:ext cx="109728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56373"/>
                </a:solidFill>
                <a:latin typeface="Liberation Sans"/>
              </a:defRPr>
            </a:pPr>
            <a:r>
              <a:t>Fuente: matriz P-01/P-04/P-11 y A-22. Ensayo P-01: sintético, fixture demo-base; no es la demo A/B/C.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700784"/>
            <a:ext cx="5166360" cy="1847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700784"/>
            <a:ext cx="73152" cy="1847088"/>
          </a:xfrm>
          <a:prstGeom prst="rect">
            <a:avLst/>
          </a:prstGeom>
          <a:solidFill>
            <a:srgbClr val="00A7C4"/>
          </a:solidFill>
          <a:ln w="12700">
            <a:solidFill>
              <a:srgbClr val="00A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865376"/>
            <a:ext cx="478231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2100" b="1">
                <a:solidFill>
                  <a:srgbClr val="2D3748"/>
                </a:solidFill>
                <a:latin typeface="Liberation Sans"/>
              </a:defRPr>
            </a:pPr>
            <a:r>
              <a:t>Costo estimado de servir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340864"/>
            <a:ext cx="4782312" cy="10789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900" b="0">
                <a:solidFill>
                  <a:srgbClr val="556373"/>
                </a:solidFill>
                <a:latin typeface="Liberation Sans"/>
              </a:defRPr>
            </a:pPr>
            <a:r>
              <a:t>Ensayo técnico sintético: combustible según carga, desgaste, conductor, ayudantes y merma esperada.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2784" y="1700784"/>
            <a:ext cx="5166360" cy="1847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72784" y="1700784"/>
            <a:ext cx="73152" cy="1847088"/>
          </a:xfrm>
          <a:prstGeom prst="rect">
            <a:avLst/>
          </a:prstGeom>
          <a:solidFill>
            <a:srgbClr val="9EC200"/>
          </a:solidFill>
          <a:ln w="12700">
            <a:solidFill>
              <a:srgbClr val="9EC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865376"/>
            <a:ext cx="478231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2100" b="1">
                <a:solidFill>
                  <a:srgbClr val="2D3748"/>
                </a:solidFill>
                <a:latin typeface="Liberation Sans"/>
              </a:defRPr>
            </a:pPr>
            <a:r>
              <a:t>Importación y escenario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340864"/>
            <a:ext cx="4782312" cy="10789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900" b="0">
                <a:solidFill>
                  <a:srgbClr val="556373"/>
                </a:solidFill>
                <a:latin typeface="Liberation Sans"/>
              </a:defRPr>
            </a:pPr>
            <a:r>
              <a:t>Hay prueba de importación del escenario sintético de Quito. La comparación completa no está ensayada en pantalla.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4023360"/>
            <a:ext cx="10689336" cy="1024128"/>
          </a:xfrm>
          <a:prstGeom prst="roundRect">
            <a:avLst/>
          </a:prstGeom>
          <a:solidFill>
            <a:srgbClr val="FDF0E9"/>
          </a:solidFill>
          <a:ln w="12700">
            <a:solidFill>
              <a:srgbClr val="EA60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215384"/>
            <a:ext cx="10195560" cy="6400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2D3748"/>
                </a:solidFill>
                <a:latin typeface="Liberation Sans"/>
              </a:defRPr>
            </a:pPr>
            <a:r>
              <a:t>Límite: costo estimado y pruebas del motor no equivalen a resultados medidos de una empresa.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A7C4"/>
          </a:solidFill>
          <a:ln w="12700">
            <a:solidFill>
              <a:srgbClr val="00A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512064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00A7C4"/>
                </a:solidFill>
                <a:latin typeface="Liberation Sans"/>
              </a:defRPr>
            </a:pPr>
            <a:r>
              <a:t>ANEXO 5.7 · MODELO DE NEGOCIO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0972800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2900" b="1">
                <a:solidFill>
                  <a:srgbClr val="2D3748"/>
                </a:solidFill>
                <a:latin typeface="Liberation Sans"/>
              </a:defRPr>
            </a:pPr>
            <a:r>
              <a:t>Una propuesta comercial por validar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254496"/>
            <a:ext cx="11045952" cy="13716"/>
          </a:xfrm>
          <a:prstGeom prst="rect">
            <a:avLst/>
          </a:prstGeom>
          <a:solidFill>
            <a:srgbClr val="D8E2E7"/>
          </a:solidFill>
          <a:ln w="12700"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309360"/>
            <a:ext cx="109728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56373"/>
                </a:solidFill>
                <a:latin typeface="Liberation Sans"/>
              </a:defRPr>
            </a:pPr>
            <a:r>
              <a:t>Fuente: matriz A-26/A-30/A-31. Sin precio, ventas ni costos mensuales confirmados.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828800"/>
            <a:ext cx="4992624" cy="2240280"/>
          </a:xfrm>
          <a:prstGeom prst="roundRect">
            <a:avLst/>
          </a:prstGeom>
          <a:solidFill>
            <a:srgbClr val="E8F7FA"/>
          </a:solidFill>
          <a:ln w="12700"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828800"/>
            <a:ext cx="73152" cy="2240280"/>
          </a:xfrm>
          <a:prstGeom prst="rect">
            <a:avLst/>
          </a:prstGeom>
          <a:solidFill>
            <a:srgbClr val="00A7C4"/>
          </a:solidFill>
          <a:ln w="12700">
            <a:solidFill>
              <a:srgbClr val="00A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1993392"/>
            <a:ext cx="4608576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2200" b="1">
                <a:solidFill>
                  <a:srgbClr val="2D3748"/>
                </a:solidFill>
                <a:latin typeface="Liberation Sans"/>
              </a:defRPr>
            </a:pPr>
            <a:r>
              <a:t>Cliente propuesto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" y="2468880"/>
            <a:ext cx="4608576" cy="147218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2000" b="0">
                <a:solidFill>
                  <a:srgbClr val="556373"/>
                </a:solidFill>
                <a:latin typeface="Liberation Sans"/>
              </a:defRPr>
            </a:pPr>
            <a:r>
              <a:t>Empresas de servicios de limpieza con operaciones de abastecimiento y rutas por planificar.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7648" y="1828800"/>
            <a:ext cx="4992624" cy="2240280"/>
          </a:xfrm>
          <a:prstGeom prst="roundRect">
            <a:avLst/>
          </a:prstGeom>
          <a:solidFill>
            <a:srgbClr val="FDF0E9"/>
          </a:solidFill>
          <a:ln w="12700"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27648" y="1828800"/>
            <a:ext cx="73152" cy="2240280"/>
          </a:xfrm>
          <a:prstGeom prst="rect">
            <a:avLst/>
          </a:prstGeom>
          <a:solidFill>
            <a:srgbClr val="EA601F"/>
          </a:solidFill>
          <a:ln w="12700">
            <a:solidFill>
              <a:srgbClr val="EA60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1993392"/>
            <a:ext cx="4608576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2200" b="1">
                <a:solidFill>
                  <a:srgbClr val="2D3748"/>
                </a:solidFill>
                <a:latin typeface="Liberation Sans"/>
              </a:defRPr>
            </a:pPr>
            <a:r>
              <a:t>Cómo se propone cobrar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8816" y="2468880"/>
            <a:ext cx="4608576" cy="147218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2000" b="0">
                <a:solidFill>
                  <a:srgbClr val="556373"/>
                </a:solidFill>
                <a:latin typeface="Liberation Sans"/>
              </a:defRPr>
            </a:pPr>
            <a:r>
              <a:t>Implementación e integración inicial, más una suscripción. Precio y disposición de pago por validar.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4727448"/>
            <a:ext cx="10241280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2D3748"/>
                </a:solidFill>
                <a:latin typeface="Liberation Sans"/>
              </a:defRPr>
            </a:pPr>
            <a:r>
              <a:t>El piloto serviría para validar el uso, los costos reales y el valor para el cliente.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A7C4"/>
          </a:solidFill>
          <a:ln w="12700">
            <a:solidFill>
              <a:srgbClr val="00A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512064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00A7C4"/>
                </a:solidFill>
                <a:latin typeface="Liberation Sans"/>
              </a:defRPr>
            </a:pPr>
            <a:r>
              <a:t>ANEXO 5.7 · RIESGOS Y MITIGACIÓN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0972800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2900" b="1">
                <a:solidFill>
                  <a:srgbClr val="2D3748"/>
                </a:solidFill>
                <a:latin typeface="Liberation Sans"/>
              </a:defRPr>
            </a:pPr>
            <a:r>
              <a:t>RIESGOS Y ESTRATEGIAS DE MITIGACIÓN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254496"/>
            <a:ext cx="11045952" cy="13716"/>
          </a:xfrm>
          <a:prstGeom prst="rect">
            <a:avLst/>
          </a:prstGeom>
          <a:solidFill>
            <a:srgbClr val="D8E2E7"/>
          </a:solidFill>
          <a:ln w="12700"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309360"/>
            <a:ext cx="109728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56373"/>
                </a:solidFill>
                <a:latin typeface="Liberation Sans"/>
              </a:defRPr>
            </a:pPr>
            <a:r>
              <a:t>Fuente: matriz P-16 y diseño de riesgos de la propuesta del evento. Medidas propuestas, no todas implementadas.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" y="1591056"/>
            <a:ext cx="3456432" cy="758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591056"/>
            <a:ext cx="73152" cy="758952"/>
          </a:xfrm>
          <a:prstGeom prst="rect">
            <a:avLst/>
          </a:prstGeom>
          <a:solidFill>
            <a:srgbClr val="00A7C4"/>
          </a:solidFill>
          <a:ln w="12700">
            <a:solidFill>
              <a:srgbClr val="00A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37360"/>
            <a:ext cx="3090672" cy="43891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2D3748"/>
                </a:solidFill>
                <a:latin typeface="Liberation Sans"/>
              </a:defRPr>
            </a:pPr>
            <a:r>
              <a:t>Datos incompletos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5968" y="1737360"/>
            <a:ext cx="365760" cy="43891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556373"/>
                </a:solidFill>
                <a:latin typeface="Liberation San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91456" y="1591056"/>
            <a:ext cx="6620256" cy="758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10912" y="1709928"/>
            <a:ext cx="6181344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556373"/>
                </a:solidFill>
                <a:latin typeface="Liberation Sans"/>
              </a:defRPr>
            </a:pPr>
            <a:r>
              <a:t>Validar al importar; mostrar ‘sin dato’ y supuestos.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" y="2441448"/>
            <a:ext cx="3456432" cy="758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8096" y="2441448"/>
            <a:ext cx="73152" cy="758952"/>
          </a:xfrm>
          <a:prstGeom prst="rect">
            <a:avLst/>
          </a:prstGeom>
          <a:solidFill>
            <a:srgbClr val="EA601F"/>
          </a:solidFill>
          <a:ln w="12700">
            <a:solidFill>
              <a:srgbClr val="EA60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587752"/>
            <a:ext cx="3090672" cy="43891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2D3748"/>
                </a:solidFill>
                <a:latin typeface="Liberation Sans"/>
              </a:defRPr>
            </a:pPr>
            <a:r>
              <a:t>Ruta poco realista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15968" y="2587752"/>
            <a:ext cx="365760" cy="43891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556373"/>
                </a:solidFill>
                <a:latin typeface="Liberation San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91456" y="2441448"/>
            <a:ext cx="6620256" cy="758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10912" y="2560320"/>
            <a:ext cx="6181344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556373"/>
                </a:solidFill>
                <a:latin typeface="Liberation Sans"/>
              </a:defRPr>
            </a:pPr>
            <a:r>
              <a:t>Revisar ventanas, capacidad y restricciones antes de publicar.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8096" y="3291840"/>
            <a:ext cx="3456432" cy="758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8096" y="3291840"/>
            <a:ext cx="73152" cy="758952"/>
          </a:xfrm>
          <a:prstGeom prst="rect">
            <a:avLst/>
          </a:prstGeom>
          <a:solidFill>
            <a:srgbClr val="9EC200"/>
          </a:solidFill>
          <a:ln w="12700">
            <a:solidFill>
              <a:srgbClr val="9EC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438144"/>
            <a:ext cx="3090672" cy="43891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2D3748"/>
                </a:solidFill>
                <a:latin typeface="Liberation Sans"/>
              </a:defRPr>
            </a:pPr>
            <a:r>
              <a:t>Costo estimado inexacto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15968" y="3438144"/>
            <a:ext cx="365760" cy="43891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556373"/>
                </a:solidFill>
                <a:latin typeface="Liberation Sans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91456" y="3291840"/>
            <a:ext cx="6620256" cy="758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10912" y="3410712"/>
            <a:ext cx="6181344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556373"/>
                </a:solidFill>
                <a:latin typeface="Liberation Sans"/>
              </a:defRPr>
            </a:pPr>
            <a:r>
              <a:t>Mostrar el desglose y calibrar con viajes conciliados.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8096" y="4142232"/>
            <a:ext cx="3456432" cy="758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8096" y="4142232"/>
            <a:ext cx="73152" cy="758952"/>
          </a:xfrm>
          <a:prstGeom prst="rect">
            <a:avLst/>
          </a:prstGeom>
          <a:solidFill>
            <a:srgbClr val="00A7C4"/>
          </a:solidFill>
          <a:ln w="12700">
            <a:solidFill>
              <a:srgbClr val="00A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4288536"/>
            <a:ext cx="3090672" cy="43891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2D3748"/>
                </a:solidFill>
                <a:latin typeface="Liberation Sans"/>
              </a:defRPr>
            </a:pPr>
            <a:r>
              <a:t>Error en la explicación de 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4288536"/>
            <a:ext cx="365760" cy="43891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556373"/>
                </a:solidFill>
                <a:latin typeface="Liberation Sans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91456" y="4142232"/>
            <a:ext cx="6620256" cy="758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10912" y="4261104"/>
            <a:ext cx="6181344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556373"/>
                </a:solidFill>
                <a:latin typeface="Liberation Sans"/>
              </a:defRPr>
            </a:pPr>
            <a:r>
              <a:t>Basarla en cifras calculadas; el planificador decide.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8096" y="4992624"/>
            <a:ext cx="3456432" cy="758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68096" y="4992624"/>
            <a:ext cx="73152" cy="758952"/>
          </a:xfrm>
          <a:prstGeom prst="rect">
            <a:avLst/>
          </a:prstGeom>
          <a:solidFill>
            <a:srgbClr val="EA601F"/>
          </a:solidFill>
          <a:ln w="12700">
            <a:solidFill>
              <a:srgbClr val="EA60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5138928"/>
            <a:ext cx="3090672" cy="43891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2D3748"/>
                </a:solidFill>
                <a:latin typeface="Liberation Sans"/>
              </a:defRPr>
            </a:pPr>
            <a:r>
              <a:t>Resistencia al cambio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15968" y="5138928"/>
            <a:ext cx="365760" cy="43891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556373"/>
                </a:solidFill>
                <a:latin typeface="Liberation Sans"/>
              </a:defRPr>
            </a:pPr>
            <a: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91456" y="4992624"/>
            <a:ext cx="6620256" cy="758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10912" y="5111496"/>
            <a:ext cx="6181344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556373"/>
                </a:solidFill>
                <a:latin typeface="Liberation Sans"/>
              </a:defRPr>
            </a:pPr>
            <a:r>
              <a:t>Capacitar por rol y revisar el plan con el equipo.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5852160"/>
            <a:ext cx="105156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56373"/>
                </a:solidFill>
                <a:latin typeface="Liberation Sans"/>
              </a:defRPr>
            </a:pPr>
            <a:r>
              <a:t>La charla de logística destacó especialmente este análisis.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A7C4"/>
          </a:solidFill>
          <a:ln w="12700">
            <a:solidFill>
              <a:srgbClr val="00A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512064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00A7C4"/>
                </a:solidFill>
                <a:latin typeface="Liberation Sans"/>
              </a:defRPr>
            </a:pPr>
            <a:r>
              <a:t>ANEXO 5.7 · PRÓXIMO PASO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0972800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2900" b="1">
                <a:solidFill>
                  <a:srgbClr val="2D3748"/>
                </a:solidFill>
                <a:latin typeface="Liberation Sans"/>
              </a:defRPr>
            </a:pPr>
            <a:r>
              <a:t>Hoja de ruta: validar antes de prometer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254496"/>
            <a:ext cx="11045952" cy="13716"/>
          </a:xfrm>
          <a:prstGeom prst="rect">
            <a:avLst/>
          </a:prstGeom>
          <a:solidFill>
            <a:srgbClr val="D8E2E7"/>
          </a:solidFill>
          <a:ln w="12700"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309360"/>
            <a:ext cx="109728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56373"/>
                </a:solidFill>
                <a:latin typeface="Liberation Sans"/>
              </a:defRPr>
            </a:pPr>
            <a:r>
              <a:t>Fuente: matriz P-02/P-05/P-10/P-12/P-13/P-14/P-15 y A-32. Propuestas sujetas a validación.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664208"/>
            <a:ext cx="507492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664208"/>
            <a:ext cx="73152" cy="1207008"/>
          </a:xfrm>
          <a:prstGeom prst="rect">
            <a:avLst/>
          </a:prstGeom>
          <a:solidFill>
            <a:srgbClr val="00A7C4"/>
          </a:solidFill>
          <a:ln w="12700">
            <a:solidFill>
              <a:srgbClr val="00A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828800"/>
            <a:ext cx="469087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900" b="1">
                <a:solidFill>
                  <a:srgbClr val="2D3748"/>
                </a:solidFill>
                <a:latin typeface="Liberation Sans"/>
              </a:defRPr>
            </a:pPr>
            <a:r>
              <a:t>Integrar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304288"/>
            <a:ext cx="4690872" cy="4389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556373"/>
                </a:solidFill>
                <a:latin typeface="Liberation Sans"/>
              </a:defRPr>
            </a:pPr>
            <a:r>
              <a:t>Comparación propia / contratada y recomendación justificada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64208"/>
            <a:ext cx="507492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664208"/>
            <a:ext cx="73152" cy="1207008"/>
          </a:xfrm>
          <a:prstGeom prst="rect">
            <a:avLst/>
          </a:prstGeom>
          <a:solidFill>
            <a:srgbClr val="EA601F"/>
          </a:solidFill>
          <a:ln w="12700">
            <a:solidFill>
              <a:srgbClr val="EA60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1828800"/>
            <a:ext cx="469087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900" b="1">
                <a:solidFill>
                  <a:srgbClr val="2D3748"/>
                </a:solidFill>
                <a:latin typeface="Liberation Sans"/>
              </a:defRPr>
            </a:pPr>
            <a:r>
              <a:t>Validar Quito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2304288"/>
            <a:ext cx="4690872" cy="4389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556373"/>
                </a:solidFill>
                <a:latin typeface="Liberation Sans"/>
              </a:defRPr>
            </a:pPr>
            <a:r>
              <a:t>Tráfico y restricciones con fuentes vigentes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3145536"/>
            <a:ext cx="507492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9808" y="3145536"/>
            <a:ext cx="73152" cy="1207008"/>
          </a:xfrm>
          <a:prstGeom prst="rect">
            <a:avLst/>
          </a:prstGeom>
          <a:solidFill>
            <a:srgbClr val="9EC200"/>
          </a:solidFill>
          <a:ln w="12700">
            <a:solidFill>
              <a:srgbClr val="9EC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310128"/>
            <a:ext cx="469087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900" b="1">
                <a:solidFill>
                  <a:srgbClr val="2D3748"/>
                </a:solidFill>
                <a:latin typeface="Liberation Sans"/>
              </a:defRPr>
            </a:pPr>
            <a:r>
              <a:t>Completar el ciclo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3785616"/>
            <a:ext cx="4690872" cy="4389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556373"/>
                </a:solidFill>
                <a:latin typeface="Liberation Sans"/>
              </a:defRPr>
            </a:pPr>
            <a:r>
              <a:t>Guía de retorno para entregas pendientes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145536"/>
            <a:ext cx="507492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3145536"/>
            <a:ext cx="73152" cy="1207008"/>
          </a:xfrm>
          <a:prstGeom prst="rect">
            <a:avLst/>
          </a:prstGeom>
          <a:solidFill>
            <a:srgbClr val="00A7C4"/>
          </a:solidFill>
          <a:ln w="12700">
            <a:solidFill>
              <a:srgbClr val="00A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8" y="3310128"/>
            <a:ext cx="469087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900" b="1">
                <a:solidFill>
                  <a:srgbClr val="2D3748"/>
                </a:solidFill>
                <a:latin typeface="Liberation Sans"/>
              </a:defRPr>
            </a:pPr>
            <a:r>
              <a:t>Calibrar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8" y="3785616"/>
            <a:ext cx="4690872" cy="4389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556373"/>
                </a:solidFill>
                <a:latin typeface="Liberation Sans"/>
              </a:defRPr>
            </a:pPr>
            <a:r>
              <a:t>Pronóstico y costos con datos conciliados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828032"/>
            <a:ext cx="10588752" cy="841248"/>
          </a:xfrm>
          <a:prstGeom prst="roundRect">
            <a:avLst/>
          </a:prstGeom>
          <a:solidFill>
            <a:srgbClr val="E8F7FA"/>
          </a:solidFill>
          <a:ln w="12700">
            <a:solidFill>
              <a:srgbClr val="00A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5020056"/>
            <a:ext cx="10186416" cy="43891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500"/>
              </a:spcAft>
              <a:defRPr sz="1900" b="1">
                <a:solidFill>
                  <a:srgbClr val="2D3748"/>
                </a:solidFill>
                <a:latin typeface="Liberation Sans"/>
              </a:defRPr>
            </a:pPr>
            <a:r>
              <a:t>Próximo paso: acordar un piloto, una línea base y los indicadores con una empresa.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IstpetDev · Pitch Expo Clean · v2</dc:title>
  <dc:subject>Planificación logística, basado en guion T4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