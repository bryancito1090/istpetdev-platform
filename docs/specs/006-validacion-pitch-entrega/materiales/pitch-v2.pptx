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¿Flota propia o apoyo contratado?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Fuente: guion T4, hipótesis de problema A-02; decisión de producto P-02.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54480"/>
            <a:ext cx="1060704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2D3748"/>
                </a:solidFill>
                <a:latin typeface="Liberation Sans"/>
              </a:defRPr>
            </a:pPr>
            <a:r>
              <a:t>Cada día hay que decidir cómo servir las entregas disponibles.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2468880"/>
            <a:ext cx="5074920" cy="2057400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6384" y="2468880"/>
            <a:ext cx="73152" cy="2057400"/>
          </a:xfrm>
          <a:prstGeom prst="rect">
            <a:avLst/>
          </a:prstGeom>
          <a:solidFill>
            <a:srgbClr val="EA601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33472"/>
            <a:ext cx="4690872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2D3748"/>
                </a:solidFill>
                <a:latin typeface="Liberation Sans"/>
              </a:defRPr>
            </a:pPr>
            <a:r>
              <a:t>Mirar solo kilómetros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108960"/>
            <a:ext cx="4690872" cy="1289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100" b="0">
                <a:solidFill>
                  <a:srgbClr val="556373"/>
                </a:solidFill>
                <a:latin typeface="Liberation Sans"/>
              </a:defRPr>
            </a:pPr>
            <a:r>
              <a:t>puede ocultar combustible, trabajo de descarga y producto expuesto a merma.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468880"/>
            <a:ext cx="5074920" cy="2057400"/>
          </a:xfrm>
          <a:prstGeom prst="roundRect">
            <a:avLst/>
          </a:prstGeom>
          <a:solidFill>
            <a:srgbClr val="E8F7FA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2468880"/>
            <a:ext cx="73152" cy="2057400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2633472"/>
            <a:ext cx="4690872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2D3748"/>
                </a:solidFill>
                <a:latin typeface="Liberation Sans"/>
              </a:defRPr>
            </a:pPr>
            <a:r>
              <a:t>Comparar el servicio 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3108960"/>
            <a:ext cx="4690872" cy="1289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100" b="0">
                <a:solidFill>
                  <a:srgbClr val="556373"/>
                </a:solidFill>
                <a:latin typeface="Liberation Sans"/>
              </a:defRPr>
            </a:pPr>
            <a:r>
              <a:t>ayuda a que el planificador entienda los costos y las entregas pendientes.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5010912"/>
            <a:ext cx="10104120" cy="65836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100" b="1">
                <a:solidFill>
                  <a:srgbClr val="2D3748"/>
                </a:solidFill>
                <a:latin typeface="Liberation Sans"/>
              </a:defRPr>
            </a:pPr>
            <a:r>
              <a:t>Nuestra hipótesis: una decisión explicable entre flota propia y contratada.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El motor calcula. La persona decide.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Fuente: matriz A-10, A-11 y P-01/P-02; guion T4.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965960"/>
            <a:ext cx="2578608" cy="2057400"/>
          </a:xfrm>
          <a:prstGeom prst="roundRect">
            <a:avLst/>
          </a:prstGeom>
          <a:solidFill>
            <a:srgbClr val="E8F7FA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965960"/>
            <a:ext cx="73152" cy="2057400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30552"/>
            <a:ext cx="21945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2D3748"/>
                </a:solidFill>
                <a:latin typeface="Liberation Sans"/>
              </a:defRPr>
            </a:pPr>
            <a:r>
              <a:t>Comparar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06039"/>
            <a:ext cx="2194560" cy="1289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556373"/>
                </a:solidFill>
                <a:latin typeface="Liberation Sans"/>
              </a:defRPr>
            </a:pPr>
            <a:r>
              <a:t>Rutas con flota propia y contratada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39" y="2651760"/>
            <a:ext cx="2286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556373"/>
                </a:solidFill>
                <a:latin typeface="Liberation Sans"/>
              </a:defRPr>
            </a:pPr>
            <a: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965960"/>
            <a:ext cx="2578608" cy="2057400"/>
          </a:xfrm>
          <a:prstGeom prst="roundRect">
            <a:avLst/>
          </a:prstGeom>
          <a:solidFill>
            <a:srgbClr val="F4F8E3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20439" y="1965960"/>
            <a:ext cx="73152" cy="2057400"/>
          </a:xfrm>
          <a:prstGeom prst="rect">
            <a:avLst/>
          </a:prstGeom>
          <a:solidFill>
            <a:srgbClr val="9EC200"/>
          </a:solidFill>
          <a:ln w="12700">
            <a:solidFill>
              <a:srgbClr val="9E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21607" y="2130552"/>
            <a:ext cx="21945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2D3748"/>
                </a:solidFill>
                <a:latin typeface="Liberation Sans"/>
              </a:defRPr>
            </a:pPr>
            <a:r>
              <a:t>Desglosar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21607" y="2606039"/>
            <a:ext cx="2194560" cy="1289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556373"/>
                </a:solidFill>
                <a:latin typeface="Liberation Sans"/>
              </a:defRPr>
            </a:pPr>
            <a:r>
              <a:t>Costo total estimado de servir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8" y="2651760"/>
            <a:ext cx="2286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556373"/>
                </a:solidFill>
                <a:latin typeface="Liberation Sans"/>
              </a:defRPr>
            </a:pPr>
            <a: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27648" y="1965960"/>
            <a:ext cx="2578608" cy="2057400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7648" y="1965960"/>
            <a:ext cx="73152" cy="2057400"/>
          </a:xfrm>
          <a:prstGeom prst="rect">
            <a:avLst/>
          </a:prstGeom>
          <a:solidFill>
            <a:srgbClr val="EA601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28816" y="2130552"/>
            <a:ext cx="21945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2D3748"/>
                </a:solidFill>
                <a:latin typeface="Liberation Sans"/>
              </a:defRPr>
            </a:pPr>
            <a:r>
              <a:t>Explicar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2606039"/>
            <a:ext cx="2194560" cy="1289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556373"/>
                </a:solidFill>
                <a:latin typeface="Liberation Sans"/>
              </a:defRPr>
            </a:pPr>
            <a:r>
              <a:t>La IA comunica los datos calculados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2651760"/>
            <a:ext cx="228600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700" b="1">
                <a:solidFill>
                  <a:srgbClr val="556373"/>
                </a:solidFill>
                <a:latin typeface="Liberation Sans"/>
              </a:defRPr>
            </a:pPr>
            <a: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34855" y="1965960"/>
            <a:ext cx="2578608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34855" y="1965960"/>
            <a:ext cx="73152" cy="2057400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36024" y="2130552"/>
            <a:ext cx="219456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2D3748"/>
                </a:solidFill>
                <a:latin typeface="Liberation Sans"/>
              </a:defRPr>
            </a:pPr>
            <a:r>
              <a:t>Decidir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6024" y="2606039"/>
            <a:ext cx="2194560" cy="128930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556373"/>
                </a:solidFill>
                <a:latin typeface="Liberation Sans"/>
              </a:defRPr>
            </a:pPr>
            <a:r>
              <a:t>El planificador elige la opción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160520"/>
            <a:ext cx="1046988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EA601F"/>
                </a:solidFill>
                <a:latin typeface="Liberation Sans"/>
              </a:defRPr>
            </a:pPr>
            <a:r>
              <a:t>PROPUESTA · la comparación completa A/B/C sigue en integración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98448" y="4645152"/>
            <a:ext cx="9601200" cy="804672"/>
          </a:xfrm>
          <a:prstGeom prst="roundRect">
            <a:avLst/>
          </a:prstGeom>
          <a:solidFill>
            <a:srgbClr val="E8F7FA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189720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500" b="1">
                <a:solidFill>
                  <a:srgbClr val="2D3748"/>
                </a:solidFill>
                <a:latin typeface="Liberation Sans"/>
              </a:defRPr>
            </a:pPr>
            <a:r>
              <a:t>La IA explica; el planificador decide.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PROTOTIPO /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Una captura real de la pantalla de rutas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Fuente: captura-rutas.png, Entregable 2. La captura muestra otro escenario sintético; no es Quito ni A/B/C.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572768"/>
            <a:ext cx="6510528" cy="2761488"/>
          </a:xfrm>
          <a:prstGeom prst="rect">
            <a:avLst/>
          </a:prstGeom>
          <a:solidFill>
            <a:srgbClr val="FFFFFF"/>
          </a:solidFill>
          <a:ln w="1524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ptura-rutas.png"/>
          <p:cNvPicPr>
            <a:picLocks noChangeAspect="1"/>
          </p:cNvPicPr>
          <p:nvPr/>
        </p:nvPicPr>
        <p:blipFill>
          <a:blip r:embed="rId2"/>
          <a:srcRect l="41500" r="20700" t="39700" b="30800"/>
          <a:stretch>
            <a:fillRect/>
          </a:stretch>
        </p:blipFill>
        <p:spPr>
          <a:xfrm>
            <a:off x="713232" y="1591056"/>
            <a:ext cx="6473952" cy="27249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635240" y="1664208"/>
            <a:ext cx="3749039" cy="2670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35240" y="1664208"/>
            <a:ext cx="73152" cy="2670048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36408" y="1828800"/>
            <a:ext cx="3364991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2D3748"/>
                </a:solidFill>
                <a:latin typeface="Liberation Sans"/>
              </a:defRPr>
            </a:pPr>
            <a:r>
              <a:t>Interfaz existente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36408" y="2304288"/>
            <a:ext cx="3364991" cy="19019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900" b="0">
                <a:solidFill>
                  <a:srgbClr val="556373"/>
                </a:solidFill>
                <a:latin typeface="Liberation Sans"/>
              </a:defRPr>
            </a:pPr>
            <a:r>
              <a:t>La captura documenta una vista de rutas. No demuestra la comparación de flota ni una corrida del escenario de Quito.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4645152"/>
            <a:ext cx="10680192" cy="822960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18888"/>
            <a:ext cx="10277856" cy="42062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2D3748"/>
                </a:solidFill>
                <a:latin typeface="Liberation Sans"/>
              </a:defRPr>
            </a:pPr>
            <a:r>
              <a:t>Captura real · los datos visibles pertenecen a otro escenario sintético.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PROTOTIPO /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Panel A / B / C: la columna A ya la calcula el motor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Fuente: #240, PR #254 (6adcf53), 240-desglose-demo.json · demo-base: Bodega Quito → Hospital Norte → regreso, 210 kg, 20 bultos, 1 ayudante · combustible sintético USD 3,785/gal · matriz P-01; P-02 en curso.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389888"/>
            <a:ext cx="10808208" cy="502920"/>
          </a:xfrm>
          <a:prstGeom prst="roundRect">
            <a:avLst/>
          </a:prstGeom>
          <a:solidFill>
            <a:srgbClr val="E8F7FA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481328"/>
            <a:ext cx="10424160" cy="31089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A: costo estimado del motor · escenario sintético demo-base · commit 6adcf53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011680"/>
            <a:ext cx="2615184" cy="566928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5" y="2103120"/>
            <a:ext cx="248716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Componente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1" y="2011680"/>
            <a:ext cx="2962656" cy="566928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8999" y="2103120"/>
            <a:ext cx="2834640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A · Flota propia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27648" y="2011680"/>
            <a:ext cx="2615184" cy="56692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1656" y="2103120"/>
            <a:ext cx="248716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B · Propia, críticos primero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42832" y="2011680"/>
            <a:ext cx="2615184" cy="566928"/>
          </a:xfrm>
          <a:prstGeom prst="rect">
            <a:avLst/>
          </a:prstGeom>
          <a:solidFill>
            <a:srgbClr val="2D3748"/>
          </a:solidFill>
          <a:ln w="12700">
            <a:solidFill>
              <a:srgbClr val="2D3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2103120"/>
            <a:ext cx="2487168" cy="38404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600" b="1">
                <a:solidFill>
                  <a:srgbClr val="FFFFFF"/>
                </a:solidFill>
                <a:latin typeface="Liberation Sans"/>
              </a:defRPr>
            </a:pPr>
            <a:r>
              <a:t>C · Contratada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2578608"/>
            <a:ext cx="2615184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" y="2651760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Combustible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64991" y="2578608"/>
            <a:ext cx="2962656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28999" y="2651760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USD 2,26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7648" y="2578608"/>
            <a:ext cx="2615184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2651760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42832" y="2578608"/>
            <a:ext cx="2615184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651760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3008376"/>
            <a:ext cx="2615184" cy="429768"/>
          </a:xfrm>
          <a:prstGeom prst="rect">
            <a:avLst/>
          </a:prstGeom>
          <a:solidFill>
            <a:srgbClr val="E8F7FA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5" y="3081528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Desgaste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64991" y="3008376"/>
            <a:ext cx="2962656" cy="429768"/>
          </a:xfrm>
          <a:prstGeom prst="rect">
            <a:avLst/>
          </a:prstGeom>
          <a:solidFill>
            <a:srgbClr val="E8F7FA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28999" y="3081528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USD 2,15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008376"/>
            <a:ext cx="2615184" cy="429768"/>
          </a:xfrm>
          <a:prstGeom prst="rect">
            <a:avLst/>
          </a:prstGeom>
          <a:solidFill>
            <a:srgbClr val="E8F7FA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91656" y="3081528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42832" y="3008376"/>
            <a:ext cx="2615184" cy="429768"/>
          </a:xfrm>
          <a:prstGeom prst="rect">
            <a:avLst/>
          </a:prstGeom>
          <a:solidFill>
            <a:srgbClr val="E8F7FA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3081528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3438144"/>
            <a:ext cx="2615184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5" y="3511296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Conductor y ayudantes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64991" y="3438144"/>
            <a:ext cx="2962656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28999" y="3511296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USD 7,22 + 4,81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27648" y="3438144"/>
            <a:ext cx="2615184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91656" y="3511296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42832" y="3438144"/>
            <a:ext cx="2615184" cy="429768"/>
          </a:xfrm>
          <a:prstGeom prst="rect">
            <a:avLst/>
          </a:prstGeom>
          <a:solidFill>
            <a:srgbClr val="FFFFFF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3511296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9808" y="3867912"/>
            <a:ext cx="2615184" cy="429768"/>
          </a:xfrm>
          <a:prstGeom prst="rect">
            <a:avLst/>
          </a:prstGeom>
          <a:solidFill>
            <a:srgbClr val="E8F7FA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5" y="3941064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Merma esperada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64991" y="3867912"/>
            <a:ext cx="2962656" cy="429768"/>
          </a:xfrm>
          <a:prstGeom prst="rect">
            <a:avLst/>
          </a:prstGeom>
          <a:solidFill>
            <a:srgbClr val="E8F7FA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28999" y="3941064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USD 3,50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27648" y="3867912"/>
            <a:ext cx="2615184" cy="429768"/>
          </a:xfrm>
          <a:prstGeom prst="rect">
            <a:avLst/>
          </a:prstGeom>
          <a:solidFill>
            <a:srgbClr val="E8F7FA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91656" y="3941064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42832" y="3867912"/>
            <a:ext cx="2615184" cy="429768"/>
          </a:xfrm>
          <a:prstGeom prst="rect">
            <a:avLst/>
          </a:prstGeom>
          <a:solidFill>
            <a:srgbClr val="E8F7FA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06840" y="3941064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49808" y="4297680"/>
            <a:ext cx="2615184" cy="429768"/>
          </a:xfrm>
          <a:prstGeom prst="rect">
            <a:avLst/>
          </a:prstGeom>
          <a:solidFill>
            <a:srgbClr val="F4F8E3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" y="4370832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Costo total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64991" y="4297680"/>
            <a:ext cx="2962656" cy="429768"/>
          </a:xfrm>
          <a:prstGeom prst="rect">
            <a:avLst/>
          </a:prstGeom>
          <a:solidFill>
            <a:srgbClr val="F4F8E3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28999" y="4370832"/>
            <a:ext cx="2834640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2D3748"/>
                </a:solidFill>
                <a:latin typeface="Liberation Sans"/>
              </a:defRPr>
            </a:pPr>
            <a:r>
              <a:t>USD 19,94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27648" y="4297680"/>
            <a:ext cx="2615184" cy="429768"/>
          </a:xfrm>
          <a:prstGeom prst="rect">
            <a:avLst/>
          </a:prstGeom>
          <a:solidFill>
            <a:srgbClr val="F4F8E3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91656" y="4370832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42832" y="4297680"/>
            <a:ext cx="2615184" cy="429768"/>
          </a:xfrm>
          <a:prstGeom prst="rect">
            <a:avLst/>
          </a:prstGeom>
          <a:solidFill>
            <a:srgbClr val="F4F8E3"/>
          </a:solidFill>
          <a:ln w="762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06840" y="4370832"/>
            <a:ext cx="2487168" cy="2834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0">
                <a:solidFill>
                  <a:srgbClr val="556373"/>
                </a:solidFill>
                <a:latin typeface="Liberation Sans"/>
              </a:defRPr>
            </a:pPr>
            <a:r>
              <a:t>en integración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9808" y="4846320"/>
            <a:ext cx="10808208" cy="658368"/>
          </a:xfrm>
          <a:prstGeom prst="roundRect">
            <a:avLst/>
          </a:prstGeom>
          <a:solidFill>
            <a:srgbClr val="F4F8FA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0" y="4882896"/>
            <a:ext cx="10469880" cy="58521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700" b="0">
                <a:solidFill>
                  <a:srgbClr val="2D3748"/>
                </a:solidFill>
                <a:latin typeface="Liberation Sans"/>
              </a:defRPr>
            </a:pPr>
            <a:r>
              <a:t>«El costo de una ruta no es solo kilómetros: sumamos combustible según carga, personas que descargan y merma esperada».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49808" y="5577840"/>
            <a:ext cx="6967728" cy="585216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6112" y="5614416"/>
            <a:ext cx="667512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500" b="1">
                <a:solidFill>
                  <a:srgbClr val="2D3748"/>
                </a:solidFill>
                <a:latin typeface="Liberation Sans"/>
              </a:defRPr>
            </a:pPr>
            <a:r>
              <a:t>La comparación con operador contratado y la recomendación calculada se integran en #241.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45552" y="5577840"/>
            <a:ext cx="3712463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55279" y="5614416"/>
            <a:ext cx="3493008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2D3748"/>
                </a:solidFill>
                <a:latin typeface="Liberation Sans"/>
              </a:defRPr>
            </a:pPr>
            <a:r>
              <a:t>[CAPTURA PENDIENTE: pantalla A/B/C]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IMPACTO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Indicadores que cualquier rol puede entender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Propuesta de indicadores: matriz P-07 en curso; diseño de medición según la propuesta de planificación.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44752"/>
            <a:ext cx="10607040" cy="40233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000" b="0">
                <a:solidFill>
                  <a:srgbClr val="556373"/>
                </a:solidFill>
                <a:latin typeface="Liberation Sans"/>
              </a:defRPr>
            </a:pPr>
            <a:r>
              <a:t>Preguntas sencillas para conversar con el equipo operativo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993392"/>
            <a:ext cx="327355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93392"/>
            <a:ext cx="73152" cy="153619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157984"/>
            <a:ext cx="2889504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Costo por kilómetro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33472"/>
            <a:ext cx="2889504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556373"/>
                </a:solidFill>
                <a:latin typeface="Liberation Sans"/>
              </a:defRPr>
            </a:pPr>
            <a:r>
              <a:t>¿Cuánto cuesta recorrer esta ruta?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1993392"/>
            <a:ext cx="327355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62272" y="1993392"/>
            <a:ext cx="73152" cy="1536192"/>
          </a:xfrm>
          <a:prstGeom prst="rect">
            <a:avLst/>
          </a:prstGeom>
          <a:solidFill>
            <a:srgbClr val="9EC200"/>
          </a:solidFill>
          <a:ln w="12700">
            <a:solidFill>
              <a:srgbClr val="9E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157984"/>
            <a:ext cx="2889504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Costo por entrega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633472"/>
            <a:ext cx="2889504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556373"/>
                </a:solidFill>
                <a:latin typeface="Liberation Sans"/>
              </a:defRPr>
            </a:pPr>
            <a:r>
              <a:t>¿Cuánto cuesta atender cada pedido?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993392"/>
            <a:ext cx="327355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993392"/>
            <a:ext cx="73152" cy="1536192"/>
          </a:xfrm>
          <a:prstGeom prst="rect">
            <a:avLst/>
          </a:prstGeom>
          <a:solidFill>
            <a:srgbClr val="EA601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157984"/>
            <a:ext cx="2889504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Entregas a tiempo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633472"/>
            <a:ext cx="2889504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556373"/>
                </a:solidFill>
                <a:latin typeface="Liberation Sans"/>
              </a:defRPr>
            </a:pPr>
            <a:r>
              <a:t>¿Llegamos dentro de la ventana acordada?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877056"/>
            <a:ext cx="327355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3877056"/>
            <a:ext cx="73152" cy="153619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041648"/>
            <a:ext cx="2889504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Pendientes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" y="4517136"/>
            <a:ext cx="2889504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556373"/>
                </a:solidFill>
                <a:latin typeface="Liberation Sans"/>
              </a:defRPr>
            </a:pPr>
            <a:r>
              <a:t>¿Qué pedidos quedaron sin atender?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62272" y="3877056"/>
            <a:ext cx="327355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62272" y="3877056"/>
            <a:ext cx="73152" cy="1536192"/>
          </a:xfrm>
          <a:prstGeom prst="rect">
            <a:avLst/>
          </a:prstGeom>
          <a:solidFill>
            <a:srgbClr val="9EC200"/>
          </a:solidFill>
          <a:ln w="12700">
            <a:solidFill>
              <a:srgbClr val="9E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3440" y="4041648"/>
            <a:ext cx="2889504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Mermas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3440" y="4517136"/>
            <a:ext cx="2889504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556373"/>
                </a:solidFill>
                <a:latin typeface="Liberation Sans"/>
              </a:defRPr>
            </a:pPr>
            <a:r>
              <a:t>¿Qué producto se dañó o rechazó?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6" y="3877056"/>
            <a:ext cx="3273552" cy="1536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74736" y="3877056"/>
            <a:ext cx="73152" cy="1536192"/>
          </a:xfrm>
          <a:prstGeom prst="rect">
            <a:avLst/>
          </a:prstGeom>
          <a:solidFill>
            <a:srgbClr val="EA601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041648"/>
            <a:ext cx="2889504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2D3748"/>
                </a:solidFill>
                <a:latin typeface="Liberation Sans"/>
              </a:defRPr>
            </a:pPr>
            <a:r>
              <a:t>Propia frente a contratada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5904" y="4517136"/>
            <a:ext cx="2889504" cy="7680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556373"/>
                </a:solidFill>
                <a:latin typeface="Liberation Sans"/>
              </a:defRPr>
            </a:pPr>
            <a:r>
              <a:t>¿Qué opción conviene con los datos disponibles?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VIABILIDAD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Qué podemos respaldar hoy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Fuente: matriz P-01/P-04/P-11 y A-22. Ensayo P-01: sintético, fixture demo-base; no es la demo A/B/C.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700784"/>
            <a:ext cx="516636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700784"/>
            <a:ext cx="73152" cy="1847088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65376"/>
            <a:ext cx="4782312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2D3748"/>
                </a:solidFill>
                <a:latin typeface="Liberation Sans"/>
              </a:defRPr>
            </a:pPr>
            <a:r>
              <a:t>Costo estimado de servir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340864"/>
            <a:ext cx="4782312" cy="10789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900" b="0">
                <a:solidFill>
                  <a:srgbClr val="556373"/>
                </a:solidFill>
                <a:latin typeface="Liberation Sans"/>
              </a:defRPr>
            </a:pPr>
            <a:r>
              <a:t>Ensayo técnico sintético: combustible según carga, desgaste, conductor, ayudantes y merma esperada.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700784"/>
            <a:ext cx="5166360" cy="18470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2784" y="1700784"/>
            <a:ext cx="73152" cy="1847088"/>
          </a:xfrm>
          <a:prstGeom prst="rect">
            <a:avLst/>
          </a:prstGeom>
          <a:solidFill>
            <a:srgbClr val="9EC200"/>
          </a:solidFill>
          <a:ln w="12700">
            <a:solidFill>
              <a:srgbClr val="9E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865376"/>
            <a:ext cx="4782312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2D3748"/>
                </a:solidFill>
                <a:latin typeface="Liberation Sans"/>
              </a:defRPr>
            </a:pPr>
            <a:r>
              <a:t>Importación y escenario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3952" y="2340864"/>
            <a:ext cx="4782312" cy="10789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900" b="0">
                <a:solidFill>
                  <a:srgbClr val="556373"/>
                </a:solidFill>
                <a:latin typeface="Liberation Sans"/>
              </a:defRPr>
            </a:pPr>
            <a:r>
              <a:t>Hay prueba de importación del escenario sintético de Quito. La comparación completa no está ensayada en pantalla.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4023360"/>
            <a:ext cx="10689336" cy="1024128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215384"/>
            <a:ext cx="1019556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100" b="1">
                <a:solidFill>
                  <a:srgbClr val="2D3748"/>
                </a:solidFill>
                <a:latin typeface="Liberation Sans"/>
              </a:defRPr>
            </a:pPr>
            <a:r>
              <a:t>Límite: costo estimado y pruebas del motor no equivalen a resultados medidos de una empresa.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Una propuesta comercial por validar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Fuente: matriz A-26/A-30/A-31. Sin precio, ventas ni costos mensuales confirmados.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828800"/>
            <a:ext cx="4992624" cy="2240280"/>
          </a:xfrm>
          <a:prstGeom prst="roundRect">
            <a:avLst/>
          </a:prstGeom>
          <a:solidFill>
            <a:srgbClr val="E8F7FA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73152" cy="2240280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1993392"/>
            <a:ext cx="46085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2D3748"/>
                </a:solidFill>
                <a:latin typeface="Liberation Sans"/>
              </a:defRPr>
            </a:pPr>
            <a:r>
              <a:t>Cliente propuesto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2468880"/>
            <a:ext cx="4608576" cy="1472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000" b="0">
                <a:solidFill>
                  <a:srgbClr val="556373"/>
                </a:solidFill>
                <a:latin typeface="Liberation Sans"/>
              </a:defRPr>
            </a:pPr>
            <a:r>
              <a:t>Empresas de servicios de limpieza con operaciones de abastecimiento y rutas por planificar.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7648" y="1828800"/>
            <a:ext cx="4992624" cy="2240280"/>
          </a:xfrm>
          <a:prstGeom prst="roundRect">
            <a:avLst/>
          </a:prstGeom>
          <a:solidFill>
            <a:srgbClr val="FDF0E9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7648" y="1828800"/>
            <a:ext cx="73152" cy="2240280"/>
          </a:xfrm>
          <a:prstGeom prst="rect">
            <a:avLst/>
          </a:prstGeom>
          <a:solidFill>
            <a:srgbClr val="EA601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28816" y="1993392"/>
            <a:ext cx="4608576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2D3748"/>
                </a:solidFill>
                <a:latin typeface="Liberation Sans"/>
              </a:defRPr>
            </a:pPr>
            <a:r>
              <a:t>Cómo se propone cobrar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28816" y="2468880"/>
            <a:ext cx="4608576" cy="1472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000" b="0">
                <a:solidFill>
                  <a:srgbClr val="556373"/>
                </a:solidFill>
                <a:latin typeface="Liberation Sans"/>
              </a:defRPr>
            </a:pPr>
            <a:r>
              <a:t>Implementación e integración inicial, más una suscripción. Precio y disposición de pago por validar.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4727448"/>
            <a:ext cx="1024128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100" b="1">
                <a:solidFill>
                  <a:srgbClr val="2D3748"/>
                </a:solidFill>
                <a:latin typeface="Liberation Sans"/>
              </a:defRPr>
            </a:pPr>
            <a:r>
              <a:t>El piloto serviría para validar el uso, los costos reales y el valor para el cliente.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RIESGOS Y MITIGACIÓN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RIESGOS Y ESTRATEGIAS DE MITIGACIÓN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Fuente: matriz P-16 y diseño de riesgos de la propuesta del evento. Medidas propuestas, no todas implementadas.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1591056"/>
            <a:ext cx="3456432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" y="1591056"/>
            <a:ext cx="73152" cy="75895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37360"/>
            <a:ext cx="309067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Datos incompletos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737360"/>
            <a:ext cx="36576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556373"/>
                </a:solidFill>
                <a:latin typeface="Liberation Sans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91456" y="1591056"/>
            <a:ext cx="6620256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1709928"/>
            <a:ext cx="6181344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Validar al importar; mostrar ‘sin dato’ y supuestos.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2441448"/>
            <a:ext cx="3456432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441448"/>
            <a:ext cx="73152" cy="758952"/>
          </a:xfrm>
          <a:prstGeom prst="rect">
            <a:avLst/>
          </a:prstGeom>
          <a:solidFill>
            <a:srgbClr val="EA601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587752"/>
            <a:ext cx="309067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Ruta poco realista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587752"/>
            <a:ext cx="36576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556373"/>
                </a:solidFill>
                <a:latin typeface="Liberation Sans"/>
              </a:defRPr>
            </a:pPr>
            <a: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91456" y="2441448"/>
            <a:ext cx="6620256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0912" y="2560320"/>
            <a:ext cx="6181344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Revisar ventanas, capacidad y restricciones antes de publicar.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" y="3291840"/>
            <a:ext cx="3456432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8096" y="3291840"/>
            <a:ext cx="73152" cy="758952"/>
          </a:xfrm>
          <a:prstGeom prst="rect">
            <a:avLst/>
          </a:prstGeom>
          <a:solidFill>
            <a:srgbClr val="9EC200"/>
          </a:solidFill>
          <a:ln w="12700">
            <a:solidFill>
              <a:srgbClr val="9E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438144"/>
            <a:ext cx="309067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Costo estimado inexacto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3438144"/>
            <a:ext cx="36576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556373"/>
                </a:solidFill>
                <a:latin typeface="Liberation San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91456" y="3291840"/>
            <a:ext cx="6620256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410712"/>
            <a:ext cx="6181344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Mostrar el desglose y calibrar con viajes conciliados.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8096" y="4142232"/>
            <a:ext cx="3456432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142232"/>
            <a:ext cx="73152" cy="75895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288536"/>
            <a:ext cx="309067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Error en la explicación de 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4288536"/>
            <a:ext cx="36576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556373"/>
                </a:solidFill>
                <a:latin typeface="Liberation Sans"/>
              </a:defRPr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91456" y="4142232"/>
            <a:ext cx="6620256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4261104"/>
            <a:ext cx="6181344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Basarla en cifras calculadas; el planificador decide.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" y="4992624"/>
            <a:ext cx="3456432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68096" y="4992624"/>
            <a:ext cx="73152" cy="758952"/>
          </a:xfrm>
          <a:prstGeom prst="rect">
            <a:avLst/>
          </a:prstGeom>
          <a:solidFill>
            <a:srgbClr val="EA601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138928"/>
            <a:ext cx="3090672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2D3748"/>
                </a:solidFill>
                <a:latin typeface="Liberation Sans"/>
              </a:defRPr>
            </a:pPr>
            <a:r>
              <a:t>Resistencia al cambio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5138928"/>
            <a:ext cx="365760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2000" b="1">
                <a:solidFill>
                  <a:srgbClr val="556373"/>
                </a:solidFill>
                <a:latin typeface="Liberation San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91456" y="4992624"/>
            <a:ext cx="6620256" cy="758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10912" y="5111496"/>
            <a:ext cx="6181344" cy="53035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Capacitar por rol y revisar el plan con el equipo.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852160"/>
            <a:ext cx="10515600" cy="23774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La charla de logística destacó especialmente este análisis.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512064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1">
                <a:solidFill>
                  <a:srgbClr val="00A7C4"/>
                </a:solidFill>
                <a:latin typeface="Liberation Sans"/>
              </a:defRPr>
            </a:pPr>
            <a:r>
              <a:t>ANEXO 5.7 · PRÓXIMO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94944"/>
            <a:ext cx="10972800" cy="62179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2D3748"/>
                </a:solidFill>
                <a:latin typeface="Liberation Sans"/>
              </a:defRPr>
            </a:pPr>
            <a:r>
              <a:t>Hoja de ruta: validar antes de prometer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254496"/>
            <a:ext cx="11045952" cy="13716"/>
          </a:xfrm>
          <a:prstGeom prst="rect">
            <a:avLst/>
          </a:prstGeom>
          <a:solidFill>
            <a:srgbClr val="D8E2E7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6309360"/>
            <a:ext cx="1097280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556373"/>
                </a:solidFill>
                <a:latin typeface="Liberation Sans"/>
              </a:defRPr>
            </a:pPr>
            <a:r>
              <a:t>Fuente: matriz P-02/P-05/P-10/P-12/P-13/P-14/P-15 y A-32. Propuestas sujetas a validación.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664208"/>
            <a:ext cx="507492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1664208"/>
            <a:ext cx="73152" cy="1207008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1828800"/>
            <a:ext cx="4690872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900" b="1">
                <a:solidFill>
                  <a:srgbClr val="2D3748"/>
                </a:solidFill>
                <a:latin typeface="Liberation Sans"/>
              </a:defRPr>
            </a:pPr>
            <a:r>
              <a:t>Integrar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304288"/>
            <a:ext cx="4690872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Comparación propia / contratada y recomendación justificada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64208"/>
            <a:ext cx="507492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664208"/>
            <a:ext cx="73152" cy="1207008"/>
          </a:xfrm>
          <a:prstGeom prst="rect">
            <a:avLst/>
          </a:prstGeom>
          <a:solidFill>
            <a:srgbClr val="EA601F"/>
          </a:solidFill>
          <a:ln w="12700">
            <a:solidFill>
              <a:srgbClr val="EA60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28800"/>
            <a:ext cx="4690872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900" b="1">
                <a:solidFill>
                  <a:srgbClr val="2D3748"/>
                </a:solidFill>
                <a:latin typeface="Liberation Sans"/>
              </a:defRPr>
            </a:pPr>
            <a:r>
              <a:t>Validar Quito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304288"/>
            <a:ext cx="4690872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Tráfico y restricciones con fuentes vigentes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3145536"/>
            <a:ext cx="507492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8" y="3145536"/>
            <a:ext cx="73152" cy="1207008"/>
          </a:xfrm>
          <a:prstGeom prst="rect">
            <a:avLst/>
          </a:prstGeom>
          <a:solidFill>
            <a:srgbClr val="9EC200"/>
          </a:solidFill>
          <a:ln w="12700">
            <a:solidFill>
              <a:srgbClr val="9EC2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310128"/>
            <a:ext cx="4690872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900" b="1">
                <a:solidFill>
                  <a:srgbClr val="2D3748"/>
                </a:solidFill>
                <a:latin typeface="Liberation Sans"/>
              </a:defRPr>
            </a:pPr>
            <a:r>
              <a:t>Completar el ciclo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" y="3785616"/>
            <a:ext cx="4690872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Guía de retorno para entregas pendientes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45536"/>
            <a:ext cx="5074920" cy="1207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145536"/>
            <a:ext cx="73152" cy="1207008"/>
          </a:xfrm>
          <a:prstGeom prst="rect">
            <a:avLst/>
          </a:prstGeom>
          <a:solidFill>
            <a:srgbClr val="00A7C4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3310128"/>
            <a:ext cx="4690872" cy="38404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900" b="1">
                <a:solidFill>
                  <a:srgbClr val="2D3748"/>
                </a:solidFill>
                <a:latin typeface="Liberation Sans"/>
              </a:defRPr>
            </a:pPr>
            <a:r>
              <a:t>Calibrar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3785616"/>
            <a:ext cx="4690872" cy="4389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500"/>
              </a:spcAft>
              <a:defRPr sz="1700" b="0">
                <a:solidFill>
                  <a:srgbClr val="556373"/>
                </a:solidFill>
                <a:latin typeface="Liberation Sans"/>
              </a:defRPr>
            </a:pPr>
            <a:r>
              <a:t>Pronóstico y costos con datos conciliados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28032"/>
            <a:ext cx="10588752" cy="841248"/>
          </a:xfrm>
          <a:prstGeom prst="roundRect">
            <a:avLst/>
          </a:prstGeom>
          <a:solidFill>
            <a:srgbClr val="E8F7FA"/>
          </a:solidFill>
          <a:ln w="12700">
            <a:solidFill>
              <a:srgbClr val="00A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5020056"/>
            <a:ext cx="10186416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2D3748"/>
                </a:solidFill>
                <a:latin typeface="Liberation Sans"/>
              </a:defRPr>
            </a:pPr>
            <a:r>
              <a:t>Próximo paso: acordar un piloto, una línea base y los indicadores con una empresa.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IstpetDev · Pitch Expo Clean · v2</dc:title>
  <dc:subject>Planificación logística, basado en guion T4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