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3078866" cy="109728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685800" y="2121408"/>
            <a:ext cx="7863840" cy="2651760"/>
            <a:chOff x="685800" y="2121408"/>
            <a:chExt cx="7863840" cy="2651760"/>
          </a:xfrm>
        </p:grpSpPr>
        <p:sp>
          <p:nvSpPr>
            <p:cNvPr id="4" name="Rectangle 3"/>
            <p:cNvSpPr/>
            <p:nvPr/>
          </p:nvSpPr>
          <p:spPr>
            <a:xfrm>
              <a:off x="685800" y="2121408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2130552"/>
              <a:ext cx="67665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 spc="200">
                  <a:solidFill>
                    <a:srgbClr val="C4A857"/>
                  </a:solidFill>
                  <a:latin typeface="Open Sans"/>
                </a:rPr>
                <a:t>ABASTECIMIENTO, RUTAS Y CUSTODIA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2487168"/>
              <a:ext cx="7863840" cy="2286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4000" b="1" i="0">
                  <a:solidFill>
                    <a:srgbClr val="FFFFFF"/>
                  </a:solidFill>
                  <a:latin typeface="Oswald"/>
                </a:rPr>
                <a:t>¿Cómo se entera una empresa de limpieza de que a un hospital le falta desinfectante?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685800" y="484632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B9C2DC"/>
                </a:solidFill>
                <a:latin typeface="Open Sans"/>
              </a:rPr>
              <a:t>Cuando el hospital llama. </a:t>
            </a:r>
            <a:r>
              <a:rPr sz="2200" b="1" i="0">
                <a:solidFill>
                  <a:srgbClr val="E6D7A3"/>
                </a:solidFill>
                <a:latin typeface="Open Sans"/>
              </a:rPr>
              <a:t>Ese día ya es tarde.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85800" y="5669280"/>
            <a:ext cx="8229600" cy="841248"/>
            <a:chOff x="685800" y="5669280"/>
            <a:chExt cx="8229600" cy="841248"/>
          </a:xfrm>
        </p:grpSpPr>
        <p:sp>
          <p:nvSpPr>
            <p:cNvPr id="9" name="Rectangle 8"/>
            <p:cNvSpPr/>
            <p:nvPr/>
          </p:nvSpPr>
          <p:spPr>
            <a:xfrm>
              <a:off x="685800" y="5669280"/>
              <a:ext cx="1005840" cy="2286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85800" y="5852160"/>
              <a:ext cx="8229600" cy="3200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500" b="0" i="0">
                  <a:solidFill>
                    <a:srgbClr val="FFFFFF"/>
                  </a:solidFill>
                  <a:latin typeface="Open Sans"/>
                </a:rPr>
                <a:t>Equipo IstpetDev · Instituto Superior Tecnológico Traversari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85800" y="6236208"/>
              <a:ext cx="82296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200" b="0" i="0" spc="150">
                  <a:solidFill>
                    <a:srgbClr val="B9C2DC"/>
                  </a:solidFill>
                  <a:latin typeface="Open Sans"/>
                </a:rPr>
                <a:t>HACKATHON EXPO CLEAN 2026 · RETO 1</a:t>
              </a:r>
            </a:p>
          </p:txBody>
        </p:sp>
      </p:grpSp>
      <p:pic>
        <p:nvPicPr>
          <p:cNvPr id="12" name="Picture 11" descr="chillo-cuerpo-ent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075688"/>
            <a:ext cx="2299643" cy="4617720"/>
          </a:xfrm>
          <a:prstGeom prst="rect">
            <a:avLst/>
          </a:prstGeom>
        </p:spPr>
      </p:pic>
      <p:sp>
        <p:nvSpPr>
          <p:cNvPr id="13" name="Rounded Rectangular Callout 12"/>
          <p:cNvSpPr/>
          <p:nvPr/>
        </p:nvSpPr>
        <p:spPr>
          <a:xfrm>
            <a:off x="7818120" y="658368"/>
            <a:ext cx="4114800" cy="914400"/>
          </a:xfrm>
          <a:prstGeom prst="wedgeRoundRectCallout">
            <a:avLst>
              <a:gd name="adj1" fmla="val 8888"/>
              <a:gd name="adj2" fmla="val 113000"/>
              <a:gd name="adj3" fmla="val 16667"/>
            </a:avLst>
          </a:prstGeom>
          <a:solidFill>
            <a:srgbClr val="FFFFFF"/>
          </a:solidFill>
          <a:ln w="12700">
            <a:solidFill>
              <a:srgbClr val="D5DBEA"/>
            </a:solidFill>
          </a:ln>
          <a:effectLst>
            <a:outerShdw blurRad="177800" dist="50800" dir="5400000" algn="t" rotWithShape="0">
              <a:srgbClr val="162451">
                <a:alpha val="30000"/>
              </a:srgbClr>
            </a:outerShdw>
          </a:effectLst>
        </p:spPr>
        <p:txBody>
          <a:bodyPr rtlCol="0" anchor="ctr" wrap="square" lIns="146304" rIns="146304" tIns="54864" bIns="54864"/>
          <a:lstStyle/>
          <a:p>
            <a:pPr algn="ctr"/>
            <a:r>
              <a:rPr sz="1550" b="1" i="0">
                <a:solidFill>
                  <a:srgbClr val="242D57"/>
                </a:solidFill>
                <a:latin typeface="Open Sans"/>
              </a:rPr>
              <a:t>¡Hola! Soy Chillo y hoy les cuento cómo </a:t>
            </a:r>
            <a:r>
              <a:rPr sz="1550" b="1" i="0">
                <a:solidFill>
                  <a:srgbClr val="7D6520"/>
                </a:solidFill>
                <a:latin typeface="Open Sans"/>
              </a:rPr>
              <a:t>llegar antes</a:t>
            </a:r>
            <a:r>
              <a:rPr sz="1550" b="1" i="0">
                <a:solidFill>
                  <a:srgbClr val="242D57"/>
                </a:solidFill>
                <a:latin typeface="Open Sans"/>
              </a:rPr>
              <a:t> que la llamada.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5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02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PROBLEMA Y USUARIO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El faltante se descubre cuando el cliente llama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7909560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673546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charla del sector, 16-oct (síntesis en Historia y propuesta de valor); hipótesis A-02. No es una cifra medida.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1645920"/>
            <a:ext cx="2484120" cy="2743200"/>
            <a:chOff x="685800" y="1645920"/>
            <a:chExt cx="2484120" cy="2743200"/>
          </a:xfrm>
        </p:grpSpPr>
        <p:sp>
          <p:nvSpPr>
            <p:cNvPr id="12" name="Rectangle 11"/>
            <p:cNvSpPr/>
            <p:nvPr/>
          </p:nvSpPr>
          <p:spPr>
            <a:xfrm>
              <a:off x="685800" y="1645920"/>
              <a:ext cx="2484120" cy="2743200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85800" y="1645920"/>
              <a:ext cx="248412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60120" y="1938528"/>
              <a:ext cx="1935480" cy="43386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400" b="1" i="0">
                  <a:solidFill>
                    <a:srgbClr val="FFFFFF"/>
                  </a:solidFill>
                  <a:latin typeface="Oswald"/>
                </a:rPr>
                <a:t>Planificador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60120" y="2445544"/>
              <a:ext cx="1935480" cy="176069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Repone por calendario o por urgencia, sin saber qué punto se quedará sin producto.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398520" y="1645920"/>
            <a:ext cx="2484120" cy="2743200"/>
            <a:chOff x="3398520" y="1645920"/>
            <a:chExt cx="2484120" cy="2743200"/>
          </a:xfrm>
        </p:grpSpPr>
        <p:sp>
          <p:nvSpPr>
            <p:cNvPr id="17" name="Rectangle 16"/>
            <p:cNvSpPr/>
            <p:nvPr/>
          </p:nvSpPr>
          <p:spPr>
            <a:xfrm>
              <a:off x="3398520" y="1645920"/>
              <a:ext cx="2484120" cy="274320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398520" y="1645920"/>
              <a:ext cx="248412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672840" y="1938528"/>
              <a:ext cx="1935480" cy="43386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400" b="1" i="0">
                  <a:solidFill>
                    <a:srgbClr val="242D57"/>
                  </a:solidFill>
                  <a:latin typeface="Oswald"/>
                </a:rPr>
                <a:t>Bodega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672840" y="2445544"/>
              <a:ext cx="1935480" cy="176069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5B6585"/>
                  </a:solidFill>
                  <a:latin typeface="Open Sans"/>
                </a:rPr>
                <a:t>Pierde de vista el insumo en cuanto sale del almacén.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111240" y="1645920"/>
            <a:ext cx="2484120" cy="2743200"/>
            <a:chOff x="6111240" y="1645920"/>
            <a:chExt cx="2484120" cy="2743200"/>
          </a:xfrm>
        </p:grpSpPr>
        <p:sp>
          <p:nvSpPr>
            <p:cNvPr id="22" name="Rectangle 21"/>
            <p:cNvSpPr/>
            <p:nvPr/>
          </p:nvSpPr>
          <p:spPr>
            <a:xfrm>
              <a:off x="6111240" y="1645920"/>
              <a:ext cx="2484120" cy="274320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111240" y="1645920"/>
              <a:ext cx="248412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385560" y="1938528"/>
              <a:ext cx="1935480" cy="43386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400" b="1" i="0">
                  <a:solidFill>
                    <a:srgbClr val="242D57"/>
                  </a:solidFill>
                  <a:latin typeface="Oswald"/>
                </a:rPr>
                <a:t>Cliente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385560" y="2445544"/>
              <a:ext cx="1935480" cy="176069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5B6585"/>
                  </a:solidFill>
                  <a:latin typeface="Open Sans"/>
                </a:rPr>
                <a:t>Nadie puede probar qué se entregó, cuándo ni a quién.</a:t>
              </a:r>
            </a:p>
          </p:txBody>
        </p:sp>
      </p:grpSp>
      <p:pic>
        <p:nvPicPr>
          <p:cNvPr id="26" name="Picture 25" descr="chillo-medio-cuer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3804013"/>
            <a:ext cx="2377440" cy="3053986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685800" y="4617720"/>
            <a:ext cx="7909560" cy="1188720"/>
            <a:chOff x="685800" y="4617720"/>
            <a:chExt cx="7909560" cy="1188720"/>
          </a:xfrm>
        </p:grpSpPr>
        <p:sp>
          <p:nvSpPr>
            <p:cNvPr id="28" name="Rectangle 27"/>
            <p:cNvSpPr/>
            <p:nvPr/>
          </p:nvSpPr>
          <p:spPr>
            <a:xfrm>
              <a:off x="685800" y="4617720"/>
              <a:ext cx="7909560" cy="1188720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85800" y="4617720"/>
              <a:ext cx="64008" cy="1188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05840" y="4617720"/>
              <a:ext cx="7360920" cy="118872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900" b="1" i="0">
                  <a:solidFill>
                    <a:srgbClr val="242D57"/>
                  </a:solidFill>
                  <a:latin typeface="Open Sans"/>
                </a:rPr>
                <a:t>Y cuando hay que apurar una entrega, </a:t>
              </a:r>
              <a:r>
                <a:rPr sz="1900" b="1" i="0">
                  <a:solidFill>
                    <a:srgbClr val="7D6520"/>
                  </a:solidFill>
                  <a:latin typeface="Open Sans"/>
                </a:rPr>
                <a:t>se decide mirando kilómetros, no el costo real de servir:</a:t>
              </a:r>
              <a:r>
                <a:rPr sz="1900" b="1" i="0">
                  <a:solidFill>
                    <a:srgbClr val="242D57"/>
                  </a:solidFill>
                  <a:latin typeface="Open Sans"/>
                </a:rPr>
                <a:t> personal, combustible, descarga y producto que se daña.</a:t>
              </a:r>
            </a:p>
          </p:txBody>
        </p:sp>
      </p:grpSp>
      <p:sp>
        <p:nvSpPr>
          <p:cNvPr id="31" name="Rounded Rectangular Callout 30"/>
          <p:cNvSpPr/>
          <p:nvPr/>
        </p:nvSpPr>
        <p:spPr>
          <a:xfrm>
            <a:off x="8759952" y="2395728"/>
            <a:ext cx="3200400" cy="914400"/>
          </a:xfrm>
          <a:prstGeom prst="wedgeRoundRectCallout">
            <a:avLst>
              <a:gd name="adj1" fmla="val 11999"/>
              <a:gd name="adj2" fmla="val 97999"/>
              <a:gd name="adj3" fmla="val 16667"/>
            </a:avLst>
          </a:prstGeom>
          <a:solidFill>
            <a:srgbClr val="FFFFFF"/>
          </a:solidFill>
          <a:ln w="12700">
            <a:solidFill>
              <a:srgbClr val="D5DBEA"/>
            </a:solidFill>
          </a:ln>
          <a:effectLst>
            <a:outerShdw blurRad="177800" dist="50800" dir="5400000" algn="t" rotWithShape="0">
              <a:srgbClr val="162451">
                <a:alpha val="30000"/>
              </a:srgbClr>
            </a:outerShdw>
          </a:effectLst>
        </p:spPr>
        <p:txBody>
          <a:bodyPr rtlCol="0" anchor="ctr" wrap="square" lIns="146304" rIns="146304" tIns="54864" bIns="54864"/>
          <a:lstStyle/>
          <a:p>
            <a:pPr algn="ctr"/>
            <a:r>
              <a:rPr sz="1400" b="1" i="0">
                <a:solidFill>
                  <a:srgbClr val="242D57"/>
                </a:solidFill>
                <a:latin typeface="Open Sans"/>
              </a:rPr>
              <a:t>Quien paga la demora es el </a:t>
            </a:r>
            <a:r>
              <a:rPr sz="1400" b="1" i="0">
                <a:solidFill>
                  <a:srgbClr val="7D6520"/>
                </a:solidFill>
                <a:latin typeface="Open Sans"/>
              </a:rPr>
              <a:t>hospital</a:t>
            </a:r>
            <a:r>
              <a:rPr sz="1400" b="1" i="0">
                <a:solidFill>
                  <a:srgbClr val="242D57"/>
                </a:solidFill>
                <a:latin typeface="Open Sans"/>
              </a:rPr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5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B9C2DC"/>
                </a:solidFill>
                <a:latin typeface="Open Sans"/>
              </a:rPr>
              <a:t>HACKATHON EXPO CLEAN 2026 · RETO 1 · 03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C4A857"/>
                  </a:solidFill>
                  <a:latin typeface="Open Sans"/>
                </a:rPr>
                <a:t>SOLUCIÓN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FFFFFF"/>
                  </a:solidFill>
                  <a:latin typeface="Oswald"/>
                </a:rPr>
                <a:t>Una sola cadena, del aviso a la prueba de entrega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2E3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9C2DC"/>
                </a:solidFill>
                <a:latin typeface="Open Sans"/>
              </a:rPr>
              <a:t>Fuente: matriz A-04 (cobertura y riesgo), P-02 (propia frente a contratada), A-07 (rutas), A-13/A-15 (custodia y captura sin señal).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42299" y="2221992"/>
            <a:ext cx="8307095" cy="18288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2" name="Group 11"/>
          <p:cNvGrpSpPr/>
          <p:nvPr/>
        </p:nvGrpSpPr>
        <p:grpSpPr>
          <a:xfrm>
            <a:off x="685800" y="1810512"/>
            <a:ext cx="2512999" cy="2734056"/>
            <a:chOff x="685800" y="1810512"/>
            <a:chExt cx="2512999" cy="2734056"/>
          </a:xfrm>
        </p:grpSpPr>
        <p:sp>
          <p:nvSpPr>
            <p:cNvPr id="13" name="Oval 12"/>
            <p:cNvSpPr/>
            <p:nvPr/>
          </p:nvSpPr>
          <p:spPr>
            <a:xfrm>
              <a:off x="1530819" y="1810512"/>
              <a:ext cx="822960" cy="822960"/>
            </a:xfrm>
            <a:prstGeom prst="ellipse">
              <a:avLst/>
            </a:prstGeom>
            <a:solidFill>
              <a:srgbClr val="162451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30819" y="1810512"/>
              <a:ext cx="822960" cy="8229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C4A857"/>
                  </a:solidFill>
                  <a:latin typeface="Oswald"/>
                </a:rPr>
                <a:t>01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85800" y="2852928"/>
              <a:ext cx="2512999" cy="169164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85800" y="2852928"/>
              <a:ext cx="2512999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68680" y="3017520"/>
              <a:ext cx="2147239" cy="5029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600" b="1" i="0">
                  <a:solidFill>
                    <a:srgbClr val="FFFFFF"/>
                  </a:solidFill>
                  <a:latin typeface="Oswald"/>
                </a:rPr>
                <a:t>Detectar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68680" y="3566160"/>
              <a:ext cx="2147239" cy="9144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B9C2DC"/>
                  </a:solidFill>
                  <a:latin typeface="Open Sans"/>
                </a:rPr>
                <a:t>Revisa el inventario y avisa qué punto se quedará sin producto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454831" y="1810512"/>
            <a:ext cx="2512999" cy="2734056"/>
            <a:chOff x="3454831" y="1810512"/>
            <a:chExt cx="2512999" cy="2734056"/>
          </a:xfrm>
        </p:grpSpPr>
        <p:sp>
          <p:nvSpPr>
            <p:cNvPr id="20" name="Oval 19"/>
            <p:cNvSpPr/>
            <p:nvPr/>
          </p:nvSpPr>
          <p:spPr>
            <a:xfrm>
              <a:off x="4299851" y="1810512"/>
              <a:ext cx="822960" cy="822960"/>
            </a:xfrm>
            <a:prstGeom prst="ellipse">
              <a:avLst/>
            </a:prstGeom>
            <a:solidFill>
              <a:srgbClr val="162451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299851" y="1810512"/>
              <a:ext cx="822960" cy="8229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C4A857"/>
                  </a:solidFill>
                  <a:latin typeface="Oswald"/>
                </a:rPr>
                <a:t>02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454831" y="2852928"/>
              <a:ext cx="2512999" cy="169164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454831" y="2852928"/>
              <a:ext cx="2512999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637711" y="3017520"/>
              <a:ext cx="2147239" cy="5029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600" b="1" i="0">
                  <a:solidFill>
                    <a:srgbClr val="FFFFFF"/>
                  </a:solidFill>
                  <a:latin typeface="Oswald"/>
                </a:rPr>
                <a:t>Decidir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637711" y="3566160"/>
              <a:ext cx="2147239" cy="9144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B9C2DC"/>
                  </a:solidFill>
                  <a:latin typeface="Open Sans"/>
                </a:rPr>
                <a:t>Compara flota propia y contratada con todo lo que cuesta servir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223863" y="1810512"/>
            <a:ext cx="2512999" cy="2734056"/>
            <a:chOff x="6223863" y="1810512"/>
            <a:chExt cx="2512999" cy="2734056"/>
          </a:xfrm>
        </p:grpSpPr>
        <p:sp>
          <p:nvSpPr>
            <p:cNvPr id="27" name="Oval 26"/>
            <p:cNvSpPr/>
            <p:nvPr/>
          </p:nvSpPr>
          <p:spPr>
            <a:xfrm>
              <a:off x="7068883" y="1810512"/>
              <a:ext cx="822960" cy="822960"/>
            </a:xfrm>
            <a:prstGeom prst="ellipse">
              <a:avLst/>
            </a:prstGeom>
            <a:solidFill>
              <a:srgbClr val="162451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068883" y="1810512"/>
              <a:ext cx="822960" cy="8229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C4A857"/>
                  </a:solidFill>
                  <a:latin typeface="Oswald"/>
                </a:rPr>
                <a:t>03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223863" y="2852928"/>
              <a:ext cx="2512999" cy="169164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223863" y="2852928"/>
              <a:ext cx="2512999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406743" y="3017520"/>
              <a:ext cx="2147239" cy="5029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600" b="1" i="0">
                  <a:solidFill>
                    <a:srgbClr val="FFFFFF"/>
                  </a:solidFill>
                  <a:latin typeface="Oswald"/>
                </a:rPr>
                <a:t>Entregar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406743" y="3566160"/>
              <a:ext cx="2147239" cy="9144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B9C2DC"/>
                  </a:solidFill>
                  <a:latin typeface="Open Sans"/>
                </a:rPr>
                <a:t>Arma la ruta con capacidad, horarios y jornada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8992895" y="1810512"/>
            <a:ext cx="2512999" cy="2734056"/>
            <a:chOff x="8992895" y="1810512"/>
            <a:chExt cx="2512999" cy="2734056"/>
          </a:xfrm>
        </p:grpSpPr>
        <p:sp>
          <p:nvSpPr>
            <p:cNvPr id="34" name="Oval 33"/>
            <p:cNvSpPr/>
            <p:nvPr/>
          </p:nvSpPr>
          <p:spPr>
            <a:xfrm>
              <a:off x="9837915" y="1810512"/>
              <a:ext cx="822960" cy="822960"/>
            </a:xfrm>
            <a:prstGeom prst="ellipse">
              <a:avLst/>
            </a:prstGeom>
            <a:solidFill>
              <a:srgbClr val="162451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837915" y="1810512"/>
              <a:ext cx="822960" cy="8229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C4A857"/>
                  </a:solidFill>
                  <a:latin typeface="Oswald"/>
                </a:rPr>
                <a:t>04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8992895" y="2852928"/>
              <a:ext cx="2512999" cy="169164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992895" y="2852928"/>
              <a:ext cx="2512999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175775" y="3017520"/>
              <a:ext cx="2147239" cy="5029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600" b="1" i="0">
                  <a:solidFill>
                    <a:srgbClr val="FFFFFF"/>
                  </a:solidFill>
                  <a:latin typeface="Oswald"/>
                </a:rPr>
                <a:t>Probar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175775" y="3566160"/>
              <a:ext cx="2147239" cy="9144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B9C2DC"/>
                  </a:solidFill>
                  <a:latin typeface="Open Sans"/>
                </a:rPr>
                <a:t>Cada caja viaja con QR hasta que el cliente la recibe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877290" y="4983480"/>
            <a:ext cx="10437114" cy="731520"/>
            <a:chOff x="877290" y="4983480"/>
            <a:chExt cx="10437114" cy="731520"/>
          </a:xfrm>
        </p:grpSpPr>
        <p:sp>
          <p:nvSpPr>
            <p:cNvPr id="41" name="TextBox 40"/>
            <p:cNvSpPr txBox="1"/>
            <p:nvPr/>
          </p:nvSpPr>
          <p:spPr>
            <a:xfrm>
              <a:off x="2111730" y="4983480"/>
              <a:ext cx="7968234" cy="73152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3000" b="1" i="0">
                  <a:solidFill>
                    <a:srgbClr val="FFFFFF"/>
                  </a:solidFill>
                  <a:latin typeface="Oswald"/>
                </a:rPr>
                <a:t>El motor calcula, la IA explica, </a:t>
              </a:r>
              <a:r>
                <a:rPr sz="3000" b="1" i="0">
                  <a:solidFill>
                    <a:srgbClr val="C4A857"/>
                  </a:solidFill>
                  <a:latin typeface="Oswald"/>
                </a:rPr>
                <a:t>la persona decide.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877290" y="5349240"/>
              <a:ext cx="1097280" cy="18288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0217124" y="5349240"/>
              <a:ext cx="1097280" cy="18288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04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INNOVACIÓN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No es otro inventario con alertas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matriz A-08 (determinismo), A-10 (aprobación humana), A-11 (corrida registrada del agente) y A-12 (respaldo sin IA, run n8n 292).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17904"/>
            <a:ext cx="108200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5B6585"/>
                </a:solidFill>
                <a:latin typeface="Open Sans"/>
              </a:rPr>
              <a:t>La alerta termina en una decisión con costo real y en una entrega comprobable.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85800" y="2148840"/>
            <a:ext cx="2416987" cy="2331720"/>
            <a:chOff x="685800" y="2148840"/>
            <a:chExt cx="2416987" cy="2331720"/>
          </a:xfrm>
        </p:grpSpPr>
        <p:sp>
          <p:nvSpPr>
            <p:cNvPr id="13" name="Rectangle 12"/>
            <p:cNvSpPr/>
            <p:nvPr/>
          </p:nvSpPr>
          <p:spPr>
            <a:xfrm>
              <a:off x="685800" y="2148840"/>
              <a:ext cx="2416987" cy="233172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5800" y="2148840"/>
              <a:ext cx="2416987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60120" y="2441448"/>
              <a:ext cx="1868347" cy="43386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400" b="1" i="0">
                  <a:solidFill>
                    <a:srgbClr val="242D57"/>
                  </a:solidFill>
                  <a:latin typeface="Oswald"/>
                </a:rPr>
                <a:t>Datos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60120" y="2948464"/>
              <a:ext cx="1868347" cy="134921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5B6585"/>
                  </a:solidFill>
                  <a:latin typeface="Open Sans"/>
                </a:rPr>
                <a:t>Inventario, pedidos, flota y costos del escenario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486835" y="2148840"/>
            <a:ext cx="2416987" cy="2331720"/>
            <a:chOff x="3486835" y="2148840"/>
            <a:chExt cx="2416987" cy="2331720"/>
          </a:xfrm>
        </p:grpSpPr>
        <p:sp>
          <p:nvSpPr>
            <p:cNvPr id="18" name="Rectangle 17"/>
            <p:cNvSpPr/>
            <p:nvPr/>
          </p:nvSpPr>
          <p:spPr>
            <a:xfrm>
              <a:off x="3486835" y="2148840"/>
              <a:ext cx="2416987" cy="2331720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486835" y="2148840"/>
              <a:ext cx="2416987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761155" y="2441448"/>
              <a:ext cx="1868347" cy="43386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400" b="1" i="0">
                  <a:solidFill>
                    <a:srgbClr val="FFFFFF"/>
                  </a:solidFill>
                  <a:latin typeface="Oswald"/>
                </a:rPr>
                <a:t>Motor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761155" y="2948464"/>
              <a:ext cx="1868347" cy="134921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B9C2DC"/>
                  </a:solidFill>
                  <a:latin typeface="Open Sans"/>
                </a:rPr>
                <a:t>Calcula riesgo, rutas y costo. Mismos datos, mismo resultado</a:t>
              </a:r>
            </a:p>
          </p:txBody>
        </p:sp>
      </p:grpSp>
      <p:sp>
        <p:nvSpPr>
          <p:cNvPr id="22" name="Isosceles Triangle 21"/>
          <p:cNvSpPr/>
          <p:nvPr/>
        </p:nvSpPr>
        <p:spPr>
          <a:xfrm rot="5400000">
            <a:off x="3203371" y="3214116"/>
            <a:ext cx="219456" cy="201168"/>
          </a:xfrm>
          <a:prstGeom prst="triangle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3" name="Group 22"/>
          <p:cNvGrpSpPr/>
          <p:nvPr/>
        </p:nvGrpSpPr>
        <p:grpSpPr>
          <a:xfrm>
            <a:off x="6287871" y="2148840"/>
            <a:ext cx="2416987" cy="2331720"/>
            <a:chOff x="6287871" y="2148840"/>
            <a:chExt cx="2416987" cy="2331720"/>
          </a:xfrm>
        </p:grpSpPr>
        <p:sp>
          <p:nvSpPr>
            <p:cNvPr id="24" name="Rectangle 23"/>
            <p:cNvSpPr/>
            <p:nvPr/>
          </p:nvSpPr>
          <p:spPr>
            <a:xfrm>
              <a:off x="6287871" y="2148840"/>
              <a:ext cx="2416987" cy="233172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287871" y="2148840"/>
              <a:ext cx="2416987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562191" y="2441448"/>
              <a:ext cx="1868347" cy="43386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400" b="1" i="0">
                  <a:solidFill>
                    <a:srgbClr val="242D57"/>
                  </a:solidFill>
                  <a:latin typeface="Oswald"/>
                </a:rPr>
                <a:t>IA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562191" y="2948464"/>
              <a:ext cx="1868347" cy="134921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5B6585"/>
                  </a:solidFill>
                  <a:latin typeface="Open Sans"/>
                </a:rPr>
                <a:t>DeepSeek vía n8n: lo explica en lenguaje simple, sin cambiar cifras</a:t>
              </a:r>
            </a:p>
          </p:txBody>
        </p:sp>
        <p:pic>
          <p:nvPicPr>
            <p:cNvPr id="28" name="Picture 27" descr="n8n-logo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90459" y="2258568"/>
              <a:ext cx="777240" cy="552569"/>
            </a:xfrm>
            <a:prstGeom prst="rect">
              <a:avLst/>
            </a:prstGeom>
          </p:spPr>
        </p:pic>
      </p:grpSp>
      <p:sp>
        <p:nvSpPr>
          <p:cNvPr id="29" name="Isosceles Triangle 28"/>
          <p:cNvSpPr/>
          <p:nvPr/>
        </p:nvSpPr>
        <p:spPr>
          <a:xfrm rot="5400000">
            <a:off x="6004407" y="3214116"/>
            <a:ext cx="219456" cy="201168"/>
          </a:xfrm>
          <a:prstGeom prst="triangle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0" name="Group 29"/>
          <p:cNvGrpSpPr/>
          <p:nvPr/>
        </p:nvGrpSpPr>
        <p:grpSpPr>
          <a:xfrm>
            <a:off x="9088907" y="2148840"/>
            <a:ext cx="2416987" cy="2331720"/>
            <a:chOff x="9088907" y="2148840"/>
            <a:chExt cx="2416987" cy="2331720"/>
          </a:xfrm>
        </p:grpSpPr>
        <p:sp>
          <p:nvSpPr>
            <p:cNvPr id="31" name="Rectangle 30"/>
            <p:cNvSpPr/>
            <p:nvPr/>
          </p:nvSpPr>
          <p:spPr>
            <a:xfrm>
              <a:off x="9088907" y="2148840"/>
              <a:ext cx="2416987" cy="2331720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088907" y="2148840"/>
              <a:ext cx="2416987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363227" y="2441448"/>
              <a:ext cx="1868347" cy="43386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400" b="1" i="0">
                  <a:solidFill>
                    <a:srgbClr val="FFFFFF"/>
                  </a:solidFill>
                  <a:latin typeface="Oswald"/>
                </a:rPr>
                <a:t>Persona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363227" y="2948464"/>
              <a:ext cx="1868347" cy="134921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B9C2DC"/>
                  </a:solidFill>
                  <a:latin typeface="Open Sans"/>
                </a:rPr>
                <a:t>El planificador aprueba o rechaza</a:t>
              </a:r>
            </a:p>
          </p:txBody>
        </p:sp>
      </p:grpSp>
      <p:sp>
        <p:nvSpPr>
          <p:cNvPr id="35" name="Isosceles Triangle 34"/>
          <p:cNvSpPr/>
          <p:nvPr/>
        </p:nvSpPr>
        <p:spPr>
          <a:xfrm rot="5400000">
            <a:off x="8805443" y="3214116"/>
            <a:ext cx="219456" cy="201168"/>
          </a:xfrm>
          <a:prstGeom prst="triangle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6" name="Group 35"/>
          <p:cNvGrpSpPr/>
          <p:nvPr/>
        </p:nvGrpSpPr>
        <p:grpSpPr>
          <a:xfrm>
            <a:off x="685800" y="4800600"/>
            <a:ext cx="10820095" cy="1005840"/>
            <a:chOff x="685800" y="4800600"/>
            <a:chExt cx="10820095" cy="1005840"/>
          </a:xfrm>
        </p:grpSpPr>
        <p:sp>
          <p:nvSpPr>
            <p:cNvPr id="37" name="Rectangle 36"/>
            <p:cNvSpPr/>
            <p:nvPr/>
          </p:nvSpPr>
          <p:spPr>
            <a:xfrm>
              <a:off x="685800" y="4800600"/>
              <a:ext cx="10820095" cy="1005840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85800" y="4800600"/>
              <a:ext cx="64008" cy="100584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05840" y="5148072"/>
              <a:ext cx="1609688" cy="310896"/>
            </a:xfrm>
            <a:prstGeom prst="roundRect">
              <a:avLst>
                <a:gd name="adj" fmla="val 50000"/>
              </a:avLst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05840" y="5148072"/>
              <a:ext cx="1609688" cy="31089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200" b="1" i="0" spc="100">
                  <a:solidFill>
                    <a:srgbClr val="162451"/>
                  </a:solidFill>
                  <a:latin typeface="Open Sans"/>
                </a:rPr>
                <a:t>SI LA IA FALLA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889848" y="4800600"/>
              <a:ext cx="8387446" cy="100584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600" b="1" i="0">
                  <a:solidFill>
                    <a:srgbClr val="FFFFFF"/>
                  </a:solidFill>
                  <a:latin typeface="Open Sans"/>
                </a:rPr>
                <a:t>el sistema responde con una explicación de respaldo y la decisión sigue siendo humana. n8n separa al agente del motor: se cambia de modelo sin tocar el cálculo.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2" grpId="0" animBg="1"/>
      <p:bldP spid="29" grpId="0" animBg="1"/>
      <p:bldP spid="35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05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PROTOTIPO / DEMO · 1 DE 3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Alertas y rutas, en una misma vista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Captura existente del prototipo · rol Auditor · muestra 0 alertas activas. No es una alerta disparada.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12647" y="1771905"/>
            <a:ext cx="7370064" cy="3999989"/>
            <a:chOff x="612647" y="1771905"/>
            <a:chExt cx="7370064" cy="3999989"/>
          </a:xfrm>
        </p:grpSpPr>
        <p:sp>
          <p:nvSpPr>
            <p:cNvPr id="12" name="Rectangle 11"/>
            <p:cNvSpPr/>
            <p:nvPr/>
          </p:nvSpPr>
          <p:spPr>
            <a:xfrm>
              <a:off x="612647" y="1771905"/>
              <a:ext cx="7370064" cy="39542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BEA"/>
              </a:solidFill>
            </a:ln>
            <a:effectLst>
              <a:outerShdw blurRad="152400" dist="50800" dir="5400000" algn="t" rotWithShape="0">
                <a:srgbClr val="162451">
                  <a:alpha val="18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3" name="Picture 12" descr="captura-consola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799" y="1845057"/>
              <a:ext cx="7223760" cy="3807965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>
              <a:off x="612647" y="5726174"/>
              <a:ext cx="7370064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275320" y="1691640"/>
            <a:ext cx="3230575" cy="2880360"/>
            <a:chOff x="8275320" y="1691640"/>
            <a:chExt cx="3230575" cy="2880360"/>
          </a:xfrm>
        </p:grpSpPr>
        <p:sp>
          <p:nvSpPr>
            <p:cNvPr id="16" name="Rectangle 15"/>
            <p:cNvSpPr/>
            <p:nvPr/>
          </p:nvSpPr>
          <p:spPr>
            <a:xfrm>
              <a:off x="8275320" y="1691640"/>
              <a:ext cx="3230575" cy="288036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275320" y="1691640"/>
              <a:ext cx="3230575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549640" y="1984248"/>
              <a:ext cx="2681935" cy="39923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200" b="1" i="0">
                  <a:solidFill>
                    <a:srgbClr val="242D57"/>
                  </a:solidFill>
                  <a:latin typeface="Oswald"/>
                </a:rPr>
                <a:t>Supervisar la operación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549640" y="2456633"/>
              <a:ext cx="2681935" cy="193248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5B6585"/>
                  </a:solidFill>
                  <a:latin typeface="Open Sans"/>
                </a:rPr>
                <a:t>La consola reúne el estado del stock, las rutas y el acceso a la custodia digital.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275320" y="4754880"/>
            <a:ext cx="3230575" cy="1051560"/>
            <a:chOff x="8275320" y="4754880"/>
            <a:chExt cx="3230575" cy="1051560"/>
          </a:xfrm>
        </p:grpSpPr>
        <p:sp>
          <p:nvSpPr>
            <p:cNvPr id="21" name="Rectangle 20"/>
            <p:cNvSpPr/>
            <p:nvPr/>
          </p:nvSpPr>
          <p:spPr>
            <a:xfrm>
              <a:off x="8275320" y="4754880"/>
              <a:ext cx="3230575" cy="1051560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275320" y="4754880"/>
              <a:ext cx="64008" cy="105156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549640" y="4754880"/>
              <a:ext cx="2819095" cy="10515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600" b="1" i="0">
                  <a:solidFill>
                    <a:srgbClr val="FFFFFF"/>
                  </a:solidFill>
                  <a:latin typeface="Open Sans"/>
                </a:rPr>
                <a:t>Una vista para revisar qué requiere atención.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06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PROTOTIPO / DEMO · 2 DE 3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La planificación se ve en el mapa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Captura existente · escenario sintético de Ambato. Es distinto del ensayo A/B/C de Quito; sin tráfico en vivo.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12647" y="1771905"/>
            <a:ext cx="7370064" cy="3999989"/>
            <a:chOff x="612647" y="1771905"/>
            <a:chExt cx="7370064" cy="3999989"/>
          </a:xfrm>
        </p:grpSpPr>
        <p:sp>
          <p:nvSpPr>
            <p:cNvPr id="12" name="Rectangle 11"/>
            <p:cNvSpPr/>
            <p:nvPr/>
          </p:nvSpPr>
          <p:spPr>
            <a:xfrm>
              <a:off x="612647" y="1771905"/>
              <a:ext cx="7370064" cy="39542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BEA"/>
              </a:solidFill>
            </a:ln>
            <a:effectLst>
              <a:outerShdw blurRad="152400" dist="50800" dir="5400000" algn="t" rotWithShape="0">
                <a:srgbClr val="162451">
                  <a:alpha val="18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3" name="Picture 12" descr="captura-rutas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799" y="1845057"/>
              <a:ext cx="7223760" cy="3807965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>
              <a:off x="612647" y="5726174"/>
              <a:ext cx="7370064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275320" y="1691640"/>
            <a:ext cx="3230575" cy="2880360"/>
            <a:chOff x="8275320" y="1691640"/>
            <a:chExt cx="3230575" cy="2880360"/>
          </a:xfrm>
        </p:grpSpPr>
        <p:sp>
          <p:nvSpPr>
            <p:cNvPr id="16" name="Rectangle 15"/>
            <p:cNvSpPr/>
            <p:nvPr/>
          </p:nvSpPr>
          <p:spPr>
            <a:xfrm>
              <a:off x="8275320" y="1691640"/>
              <a:ext cx="3230575" cy="288036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275320" y="1691640"/>
              <a:ext cx="3230575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549640" y="1984248"/>
              <a:ext cx="2681935" cy="39923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200" b="1" i="0">
                  <a:solidFill>
                    <a:srgbClr val="242D57"/>
                  </a:solidFill>
                  <a:latin typeface="Oswald"/>
                </a:rPr>
                <a:t>Entender el recorrido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549640" y="2456633"/>
              <a:ext cx="2681935" cy="193248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5B6585"/>
                  </a:solidFill>
                  <a:latin typeface="Open Sans"/>
                </a:rPr>
                <a:t>Rutas por color, paradas numeradas y detalle del itinerario para revisar la distribución.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275320" y="4754880"/>
            <a:ext cx="3230575" cy="1051560"/>
            <a:chOff x="8275320" y="4754880"/>
            <a:chExt cx="3230575" cy="1051560"/>
          </a:xfrm>
        </p:grpSpPr>
        <p:sp>
          <p:nvSpPr>
            <p:cNvPr id="21" name="Rectangle 20"/>
            <p:cNvSpPr/>
            <p:nvPr/>
          </p:nvSpPr>
          <p:spPr>
            <a:xfrm>
              <a:off x="8275320" y="4754880"/>
              <a:ext cx="3230575" cy="1051560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275320" y="4754880"/>
              <a:ext cx="64008" cy="105156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549640" y="4754880"/>
              <a:ext cx="2819095" cy="10515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600" b="1" i="0">
                  <a:solidFill>
                    <a:srgbClr val="FFFFFF"/>
                  </a:solidFill>
                  <a:latin typeface="Open Sans"/>
                </a:rPr>
                <a:t>Del plan al recorrido visible.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07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PROTOTIPO / DEMO · 3 DE 3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El bulto se identifica con un QR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Captura existente del escáner. No muestra una recepción completada ni acredita un ensayo sin señal.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3118190" y="1618488"/>
            <a:ext cx="2358979" cy="4306824"/>
            <a:chOff x="3118190" y="1618488"/>
            <a:chExt cx="2358979" cy="4306824"/>
          </a:xfrm>
        </p:grpSpPr>
        <p:sp>
          <p:nvSpPr>
            <p:cNvPr id="12" name="Rectangle 11"/>
            <p:cNvSpPr/>
            <p:nvPr/>
          </p:nvSpPr>
          <p:spPr>
            <a:xfrm>
              <a:off x="3118190" y="1618488"/>
              <a:ext cx="2358979" cy="42611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BEA"/>
              </a:solidFill>
            </a:ln>
            <a:effectLst>
              <a:outerShdw blurRad="152400" dist="50800" dir="5400000" algn="t" rotWithShape="0">
                <a:srgbClr val="162451">
                  <a:alpha val="18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3" name="Picture 12" descr="captura-q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91342" y="1691640"/>
              <a:ext cx="2212675" cy="4114799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>
              <a:off x="3118190" y="5879592"/>
              <a:ext cx="2358979" cy="457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275320" y="1691640"/>
            <a:ext cx="3230575" cy="2880360"/>
            <a:chOff x="8275320" y="1691640"/>
            <a:chExt cx="3230575" cy="2880360"/>
          </a:xfrm>
        </p:grpSpPr>
        <p:sp>
          <p:nvSpPr>
            <p:cNvPr id="16" name="Rectangle 15"/>
            <p:cNvSpPr/>
            <p:nvPr/>
          </p:nvSpPr>
          <p:spPr>
            <a:xfrm>
              <a:off x="8275320" y="1691640"/>
              <a:ext cx="3230575" cy="288036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275320" y="1691640"/>
              <a:ext cx="3230575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549640" y="1984248"/>
              <a:ext cx="2681935" cy="78017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200" b="1" i="0">
                  <a:solidFill>
                    <a:srgbClr val="242D57"/>
                  </a:solidFill>
                  <a:latin typeface="Oswald"/>
                </a:rPr>
                <a:t>Conectar con la custodia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549640" y="2837578"/>
              <a:ext cx="2681935" cy="1551541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5B6585"/>
                  </a:solidFill>
                  <a:latin typeface="Open Sans"/>
                </a:rPr>
                <a:t>El escáner permite leer el QR del bulto o ingresar su identificador manualmente.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275320" y="4754880"/>
            <a:ext cx="3230575" cy="1051560"/>
            <a:chOff x="8275320" y="4754880"/>
            <a:chExt cx="3230575" cy="1051560"/>
          </a:xfrm>
        </p:grpSpPr>
        <p:sp>
          <p:nvSpPr>
            <p:cNvPr id="21" name="Rectangle 20"/>
            <p:cNvSpPr/>
            <p:nvPr/>
          </p:nvSpPr>
          <p:spPr>
            <a:xfrm>
              <a:off x="8275320" y="4754880"/>
              <a:ext cx="3230575" cy="1051560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275320" y="4754880"/>
              <a:ext cx="64008" cy="105156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549640" y="4754880"/>
              <a:ext cx="2819095" cy="10515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600" b="1" i="0">
                  <a:solidFill>
                    <a:srgbClr val="FFFFFF"/>
                  </a:solidFill>
                  <a:latin typeface="Open Sans"/>
                </a:rPr>
                <a:t>La identificación es el inicio de la trazabilidad.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08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ANEXO 5.7 · PROTOTIPO / DEMO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A / B / C: el motor compara y recomienda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7909560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673546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ensayo técnico #285 (PR #295, 1585ab7), 02-suggest-pitch-abc.json · demo-quito-planificacion, corrida local 17-oct · 4 pedidos, 6 entregas críticas, 55,9 km · diésel USD 3,11/gal (Primicias, 12-oct) · matriz P-02.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1536192"/>
            <a:ext cx="7909559" cy="310896"/>
            <a:chOff x="685800" y="1536192"/>
            <a:chExt cx="7909559" cy="310896"/>
          </a:xfrm>
        </p:grpSpPr>
        <p:sp>
          <p:nvSpPr>
            <p:cNvPr id="12" name="Rounded Rectangle 11"/>
            <p:cNvSpPr/>
            <p:nvPr/>
          </p:nvSpPr>
          <p:spPr>
            <a:xfrm>
              <a:off x="685800" y="1536192"/>
              <a:ext cx="1992954" cy="310896"/>
            </a:xfrm>
            <a:prstGeom prst="roundRect">
              <a:avLst>
                <a:gd name="adj" fmla="val 50000"/>
              </a:avLst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85800" y="1536192"/>
              <a:ext cx="1992954" cy="31089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200" b="1" i="0" spc="100">
                  <a:solidFill>
                    <a:srgbClr val="162451"/>
                  </a:solidFill>
                  <a:latin typeface="Open Sans"/>
                </a:rPr>
                <a:t>DATOS SINTÉTICOS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861634" y="1536192"/>
              <a:ext cx="5733725" cy="31089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>
                  <a:solidFill>
                    <a:srgbClr val="5B6585"/>
                  </a:solidFill>
                  <a:latin typeface="Open Sans"/>
                </a:rPr>
                <a:t>Ensayo técnico del motor · escenario sintético de Quito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85800" y="2011680"/>
            <a:ext cx="7772400" cy="603504"/>
            <a:chOff x="685800" y="2011680"/>
            <a:chExt cx="7772400" cy="603504"/>
          </a:xfrm>
        </p:grpSpPr>
        <p:sp>
          <p:nvSpPr>
            <p:cNvPr id="16" name="Rectangle 15"/>
            <p:cNvSpPr/>
            <p:nvPr/>
          </p:nvSpPr>
          <p:spPr>
            <a:xfrm>
              <a:off x="685800" y="2011680"/>
              <a:ext cx="2240280" cy="603504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77240" y="2011680"/>
              <a:ext cx="2057400" cy="60350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sz="1500" b="1" i="0">
                  <a:solidFill>
                    <a:srgbClr val="242D57"/>
                  </a:solidFill>
                  <a:latin typeface="Oswald"/>
                </a:rPr>
                <a:t/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926080" y="2011680"/>
              <a:ext cx="1783080" cy="603504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017520" y="2011680"/>
              <a:ext cx="1600200" cy="60350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sz="1500" b="1" i="0">
                  <a:solidFill>
                    <a:srgbClr val="FFFFFF"/>
                  </a:solidFill>
                  <a:latin typeface="Oswald"/>
                </a:rPr>
                <a:t>A · Flota propia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709160" y="2011680"/>
              <a:ext cx="1783080" cy="603504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800600" y="2011680"/>
              <a:ext cx="1600200" cy="60350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sz="1500" b="1" i="0">
                  <a:solidFill>
                    <a:srgbClr val="FFFFFF"/>
                  </a:solidFill>
                  <a:latin typeface="Oswald"/>
                </a:rPr>
                <a:t>B · Propia, críticos primero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492240" y="2011680"/>
              <a:ext cx="1965960" cy="60350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583680" y="2011680"/>
              <a:ext cx="1783080" cy="603504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sz="1500" b="1" i="0">
                  <a:solidFill>
                    <a:srgbClr val="162451"/>
                  </a:solidFill>
                  <a:latin typeface="Oswald"/>
                </a:rPr>
                <a:t>C · Operador contratado</a:t>
              </a:r>
            </a:p>
          </p:txBody>
        </p:sp>
      </p:grpSp>
      <p:pic>
        <p:nvPicPr>
          <p:cNvPr id="24" name="Picture 23" descr="chillo-medio-cuer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3804013"/>
            <a:ext cx="2377440" cy="3053986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685800" y="2615184"/>
            <a:ext cx="7772400" cy="457200"/>
            <a:chOff x="685800" y="2615184"/>
            <a:chExt cx="7772400" cy="457200"/>
          </a:xfrm>
        </p:grpSpPr>
        <p:sp>
          <p:nvSpPr>
            <p:cNvPr id="26" name="Rectangle 25"/>
            <p:cNvSpPr/>
            <p:nvPr/>
          </p:nvSpPr>
          <p:spPr>
            <a:xfrm>
              <a:off x="685800" y="2615184"/>
              <a:ext cx="22402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68680" y="2615184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>
                  <a:solidFill>
                    <a:srgbClr val="242D57"/>
                  </a:solidFill>
                  <a:latin typeface="Open Sans"/>
                </a:rPr>
                <a:t>Críticos a tiempo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926080" y="2615184"/>
              <a:ext cx="17830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017520" y="26151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83 % (5 de 6)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709160" y="2615184"/>
              <a:ext cx="17830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800600" y="26151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100 % (6 de 6)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492240" y="2615184"/>
              <a:ext cx="1965960" cy="457200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583680" y="2615184"/>
              <a:ext cx="17830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7D6520"/>
                  </a:solidFill>
                  <a:latin typeface="Oswald"/>
                </a:rPr>
                <a:t>100 % (6 de 6)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85800" y="3061411"/>
              <a:ext cx="7772400" cy="10972"/>
            </a:xfrm>
            <a:prstGeom prst="rect">
              <a:avLst/>
            </a:prstGeom>
            <a:solidFill>
              <a:srgbClr val="D5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85800" y="3072384"/>
            <a:ext cx="7772400" cy="457200"/>
            <a:chOff x="685800" y="3072384"/>
            <a:chExt cx="7772400" cy="457200"/>
          </a:xfrm>
        </p:grpSpPr>
        <p:sp>
          <p:nvSpPr>
            <p:cNvPr id="36" name="Rectangle 35"/>
            <p:cNvSpPr/>
            <p:nvPr/>
          </p:nvSpPr>
          <p:spPr>
            <a:xfrm>
              <a:off x="685800" y="3072384"/>
              <a:ext cx="2240280" cy="45720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68680" y="3072384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>
                  <a:solidFill>
                    <a:srgbClr val="242D57"/>
                  </a:solidFill>
                  <a:latin typeface="Open Sans"/>
                </a:rPr>
                <a:t>Costo frente a A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926080" y="3072384"/>
              <a:ext cx="1783080" cy="45720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017520" y="30723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base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709160" y="3072384"/>
              <a:ext cx="1783080" cy="457200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800600" y="30723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+20,7 %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492240" y="3072384"/>
              <a:ext cx="1965960" cy="457200"/>
            </a:xfrm>
            <a:prstGeom prst="rect">
              <a:avLst/>
            </a:prstGeom>
            <a:solidFill>
              <a:srgbClr val="F1E8C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583680" y="3072384"/>
              <a:ext cx="17830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7D6520"/>
                  </a:solidFill>
                  <a:latin typeface="Oswald"/>
                </a:rPr>
                <a:t>+15,6 %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85800" y="3518611"/>
              <a:ext cx="7772400" cy="10972"/>
            </a:xfrm>
            <a:prstGeom prst="rect">
              <a:avLst/>
            </a:prstGeom>
            <a:solidFill>
              <a:srgbClr val="D5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685800" y="3529584"/>
            <a:ext cx="7772400" cy="457200"/>
            <a:chOff x="685800" y="3529584"/>
            <a:chExt cx="7772400" cy="457200"/>
          </a:xfrm>
        </p:grpSpPr>
        <p:sp>
          <p:nvSpPr>
            <p:cNvPr id="46" name="Rectangle 45"/>
            <p:cNvSpPr/>
            <p:nvPr/>
          </p:nvSpPr>
          <p:spPr>
            <a:xfrm>
              <a:off x="685800" y="3529584"/>
              <a:ext cx="22402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68680" y="3529584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>
                  <a:solidFill>
                    <a:srgbClr val="242D57"/>
                  </a:solidFill>
                  <a:latin typeface="Open Sans"/>
                </a:rPr>
                <a:t>Puntaje del motor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926080" y="3529584"/>
              <a:ext cx="17830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017520" y="35295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81,7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4709160" y="3529584"/>
              <a:ext cx="178308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800600" y="3529584"/>
              <a:ext cx="160020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242D57"/>
                  </a:solidFill>
                  <a:latin typeface="Oswald"/>
                </a:rPr>
                <a:t>89,1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492240" y="3529584"/>
              <a:ext cx="1965960" cy="457200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583680" y="3529584"/>
              <a:ext cx="1783080" cy="45720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800" b="1" i="0">
                  <a:solidFill>
                    <a:srgbClr val="7D6520"/>
                  </a:solidFill>
                  <a:latin typeface="Oswald"/>
                </a:rPr>
                <a:t>90,8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85800" y="3975811"/>
              <a:ext cx="7772400" cy="10972"/>
            </a:xfrm>
            <a:prstGeom prst="rect">
              <a:avLst/>
            </a:prstGeom>
            <a:solidFill>
              <a:srgbClr val="D5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685800" y="3986784"/>
            <a:ext cx="7772400" cy="585216"/>
            <a:chOff x="685800" y="3986784"/>
            <a:chExt cx="7772400" cy="585216"/>
          </a:xfrm>
        </p:grpSpPr>
        <p:sp>
          <p:nvSpPr>
            <p:cNvPr id="56" name="Rectangle 55"/>
            <p:cNvSpPr/>
            <p:nvPr/>
          </p:nvSpPr>
          <p:spPr>
            <a:xfrm>
              <a:off x="685800" y="3986784"/>
              <a:ext cx="2240280" cy="585216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68680" y="3986784"/>
              <a:ext cx="2011680" cy="5852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1" i="0">
                  <a:solidFill>
                    <a:srgbClr val="242D57"/>
                  </a:solidFill>
                  <a:latin typeface="Open Sans"/>
                </a:rPr>
                <a:t>Costo total estimado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2926080" y="3986784"/>
              <a:ext cx="1783080" cy="585216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017520" y="3986784"/>
              <a:ext cx="1600200" cy="5852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242D57"/>
                  </a:solidFill>
                  <a:latin typeface="Oswald"/>
                </a:rPr>
                <a:t>USD 57,89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709160" y="3986784"/>
              <a:ext cx="1783080" cy="585216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800600" y="3986784"/>
              <a:ext cx="1600200" cy="5852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242D57"/>
                  </a:solidFill>
                  <a:latin typeface="Oswald"/>
                </a:rPr>
                <a:t>USD 69,89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492240" y="3986784"/>
              <a:ext cx="1965960" cy="585216"/>
            </a:xfrm>
            <a:prstGeom prst="rect">
              <a:avLst/>
            </a:prstGeom>
            <a:solidFill>
              <a:srgbClr val="F7F1D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583680" y="3986784"/>
              <a:ext cx="1783080" cy="58521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2400" b="1" i="0">
                  <a:solidFill>
                    <a:srgbClr val="7D6520"/>
                  </a:solidFill>
                  <a:latin typeface="Oswald"/>
                </a:rPr>
                <a:t>USD 66,90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685800" y="4561027"/>
              <a:ext cx="7772400" cy="10972"/>
            </a:xfrm>
            <a:prstGeom prst="rect">
              <a:avLst/>
            </a:prstGeom>
            <a:solidFill>
              <a:srgbClr val="D5DBE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685800" y="3986784"/>
              <a:ext cx="7772400" cy="27432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6492240" y="2011680"/>
            <a:ext cx="1965960" cy="2560320"/>
          </a:xfrm>
          <a:prstGeom prst="rect">
            <a:avLst/>
          </a:prstGeom>
          <a:noFill/>
          <a:ln w="38100">
            <a:solidFill>
              <a:srgbClr val="C4A857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7" name="Group 66"/>
          <p:cNvGrpSpPr/>
          <p:nvPr/>
        </p:nvGrpSpPr>
        <p:grpSpPr>
          <a:xfrm>
            <a:off x="685800" y="4773168"/>
            <a:ext cx="7909560" cy="658368"/>
            <a:chOff x="685800" y="4773168"/>
            <a:chExt cx="7909560" cy="658368"/>
          </a:xfrm>
        </p:grpSpPr>
        <p:sp>
          <p:nvSpPr>
            <p:cNvPr id="68" name="Rectangle 67"/>
            <p:cNvSpPr/>
            <p:nvPr/>
          </p:nvSpPr>
          <p:spPr>
            <a:xfrm>
              <a:off x="685800" y="4773168"/>
              <a:ext cx="7909560" cy="658368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685800" y="4773168"/>
              <a:ext cx="54864" cy="658368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886968" y="4773168"/>
              <a:ext cx="7589520" cy="658368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250" b="1" i="0">
                  <a:solidFill>
                    <a:srgbClr val="242D57"/>
                  </a:solidFill>
                  <a:latin typeface="Open Sans"/>
                </a:rPr>
                <a:t>Recomendación del motor: C. Por un 15,6 % más que A, cumple el 100 % de los críticos; frente a B, que también cumple, cuesta un 4,3 % menos. </a:t>
              </a:r>
              <a:r>
                <a:rPr sz="1250" b="0" i="0">
                  <a:solidFill>
                    <a:srgbClr val="242D57"/>
                  </a:solidFill>
                  <a:latin typeface="Open Sans"/>
                </a:rPr>
                <a:t>La más barata no siempre es la mejor. El planificador decide.</a:t>
              </a:r>
            </a:p>
          </p:txBody>
        </p:sp>
      </p:grpSp>
      <p:sp>
        <p:nvSpPr>
          <p:cNvPr id="71" name="Rounded Rectangular Callout 70"/>
          <p:cNvSpPr/>
          <p:nvPr/>
        </p:nvSpPr>
        <p:spPr>
          <a:xfrm>
            <a:off x="8759952" y="2395728"/>
            <a:ext cx="3200400" cy="914400"/>
          </a:xfrm>
          <a:prstGeom prst="wedgeRoundRectCallout">
            <a:avLst>
              <a:gd name="adj1" fmla="val 11999"/>
              <a:gd name="adj2" fmla="val 97999"/>
              <a:gd name="adj3" fmla="val 16667"/>
            </a:avLst>
          </a:prstGeom>
          <a:solidFill>
            <a:srgbClr val="FFFFFF"/>
          </a:solidFill>
          <a:ln w="12700">
            <a:solidFill>
              <a:srgbClr val="D5DBEA"/>
            </a:solidFill>
          </a:ln>
          <a:effectLst>
            <a:outerShdw blurRad="177800" dist="50800" dir="5400000" algn="t" rotWithShape="0">
              <a:srgbClr val="162451">
                <a:alpha val="30000"/>
              </a:srgbClr>
            </a:outerShdw>
          </a:effectLst>
        </p:spPr>
        <p:txBody>
          <a:bodyPr rtlCol="0" anchor="ctr" wrap="square" lIns="146304" rIns="146304" tIns="54864" bIns="54864"/>
          <a:lstStyle/>
          <a:p>
            <a:pPr algn="ctr"/>
            <a:r>
              <a:rPr sz="1400" b="1" i="0">
                <a:solidFill>
                  <a:srgbClr val="242D57"/>
                </a:solidFill>
                <a:latin typeface="Open Sans"/>
              </a:rPr>
              <a:t>Una ruta no es solo kilómetros: también es </a:t>
            </a:r>
            <a:r>
              <a:rPr sz="1400" b="1" i="0">
                <a:solidFill>
                  <a:srgbClr val="7D6520"/>
                </a:solidFill>
                <a:latin typeface="Open Sans"/>
              </a:rPr>
              <a:t>quien descarga</a:t>
            </a:r>
            <a:r>
              <a:rPr sz="1400" b="1" i="0">
                <a:solidFill>
                  <a:srgbClr val="242D57"/>
                </a:solidFill>
                <a:latin typeface="Open Sans"/>
              </a:rPr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5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71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B9C2DC"/>
                </a:solidFill>
                <a:latin typeface="Open Sans"/>
              </a:rPr>
              <a:t>HACKATHON EXPO CLEAN 2026 · RETO 1 · 09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C4A857"/>
                  </a:solidFill>
                  <a:latin typeface="Open Sans"/>
                </a:rPr>
                <a:t>VALIDACIÓN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FFFFFF"/>
                  </a:solidFill>
                  <a:latin typeface="Oswald"/>
                </a:rPr>
                <a:t>Lo que hay, sin humo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2E3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9C2DC"/>
                </a:solidFill>
                <a:latin typeface="Open Sans"/>
              </a:rPr>
              <a:t>Fuente: matriz de afirmaciones P-02, P-04, P-05, A-03, A-11, A-12, A-13, A-15, A-21 y #198. Escenario sintético de Quito: 40 puntos, no son clientes.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85800" y="1691640"/>
            <a:ext cx="3423818" cy="3383280"/>
            <a:chOff x="685800" y="1691640"/>
            <a:chExt cx="3423818" cy="3383280"/>
          </a:xfrm>
        </p:grpSpPr>
        <p:sp>
          <p:nvSpPr>
            <p:cNvPr id="12" name="Rectangle 11"/>
            <p:cNvSpPr/>
            <p:nvPr/>
          </p:nvSpPr>
          <p:spPr>
            <a:xfrm>
              <a:off x="685800" y="1691640"/>
              <a:ext cx="3423818" cy="338328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85800" y="1691640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60120" y="1920240"/>
              <a:ext cx="2875178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400" b="1" i="0" spc="120">
                  <a:solidFill>
                    <a:srgbClr val="C4A857"/>
                  </a:solidFill>
                  <a:latin typeface="Oswald"/>
                </a:rPr>
                <a:t>CONSTRUIDO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60120" y="2560320"/>
              <a:ext cx="2875178" cy="24231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Inventario con alertas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Motor de rutas y costo de servir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Agente IA con n8n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Custodia con QR y captura sin señal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383938" y="1691640"/>
            <a:ext cx="3423818" cy="3383280"/>
            <a:chOff x="4383938" y="1691640"/>
            <a:chExt cx="3423818" cy="3383280"/>
          </a:xfrm>
        </p:grpSpPr>
        <p:sp>
          <p:nvSpPr>
            <p:cNvPr id="17" name="Rectangle 16"/>
            <p:cNvSpPr/>
            <p:nvPr/>
          </p:nvSpPr>
          <p:spPr>
            <a:xfrm>
              <a:off x="4383938" y="1691640"/>
              <a:ext cx="3423818" cy="3383280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383938" y="1691640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658258" y="1920240"/>
              <a:ext cx="2875178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400" b="1" i="0" spc="120">
                  <a:solidFill>
                    <a:srgbClr val="C4A857"/>
                  </a:solidFill>
                  <a:latin typeface="Oswald"/>
                </a:rPr>
                <a:t>PROBADO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658258" y="2560320"/>
              <a:ext cx="2875178" cy="24231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Motor y comparación A/B/C en un ensayo técnico con escenario sintético de Quito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Corrida registrada del agente, incluida su caída al respaldo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8082076" y="1691640"/>
            <a:ext cx="3423818" cy="3383280"/>
            <a:chOff x="8082076" y="1691640"/>
            <a:chExt cx="3423818" cy="3383280"/>
          </a:xfrm>
        </p:grpSpPr>
        <p:sp>
          <p:nvSpPr>
            <p:cNvPr id="22" name="Rectangle 21"/>
            <p:cNvSpPr/>
            <p:nvPr/>
          </p:nvSpPr>
          <p:spPr>
            <a:xfrm>
              <a:off x="8082076" y="1691640"/>
              <a:ext cx="3423818" cy="3383280"/>
            </a:xfrm>
            <a:prstGeom prst="rect">
              <a:avLst/>
            </a:prstGeom>
            <a:solidFill>
              <a:srgbClr val="162451"/>
            </a:solidFill>
            <a:ln w="19050">
              <a:solidFill>
                <a:srgbClr val="C4A85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082076" y="1691640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356396" y="1920240"/>
              <a:ext cx="2875178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400" b="1" i="0" spc="120">
                  <a:solidFill>
                    <a:srgbClr val="E6D7A3"/>
                  </a:solidFill>
                  <a:latin typeface="Oswald"/>
                </a:rPr>
                <a:t>FALTA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356396" y="2560320"/>
              <a:ext cx="2875178" cy="24231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Ensayar el recorrido en teléfono sin señal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Llevar la comparación A/B/C a producción</a:t>
              </a:r>
            </a:p>
            <a:p>
              <a:pPr algn="l">
                <a:lnSpc>
                  <a:spcPct val="105000"/>
                </a:lnSpc>
                <a:spcAft>
                  <a:spcPts val="800"/>
                </a:spcAft>
              </a:pPr>
              <a:r>
                <a:rPr sz="1550" b="0" i="0">
                  <a:solidFill>
                    <a:srgbClr val="FFFFFF"/>
                  </a:solidFill>
                  <a:latin typeface="Open Sans"/>
                </a:rPr>
                <a:t>•  Medir con datos de una empresa real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85800" y="5303520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1">
                <a:solidFill>
                  <a:srgbClr val="E6D7A3"/>
                </a:solidFill>
                <a:latin typeface="Open Sans"/>
              </a:rPr>
              <a:t>Preferimos mostrar lo que funciona de verdad que prometer lo que no hemos medido.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B9C2DC"/>
                </a:solidFill>
                <a:latin typeface="Open Sans"/>
              </a:rPr>
              <a:t>HACKATHON EXPO CLEAN 2026 · RETO 1 · 10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481328"/>
            <a:chOff x="685800" y="402336"/>
            <a:chExt cx="10820095" cy="1481328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C4A857"/>
                  </a:solidFill>
                  <a:latin typeface="Open Sans"/>
                </a:rPr>
                <a:t>ANEXO 5.7 · IMPACTO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FFFFFF"/>
                  </a:solidFill>
                  <a:latin typeface="Oswald"/>
                </a:rPr>
                <a:t>Indicadores que cualquier rol puede entender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85800" y="1517904"/>
              <a:ext cx="914400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900" b="0" i="0">
                  <a:solidFill>
                    <a:srgbClr val="B9C2DC"/>
                  </a:solidFill>
                  <a:latin typeface="Open Sans"/>
                </a:rPr>
                <a:t>Preguntas sencillas para conversar con el equipo operativo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10820095" cy="10972"/>
          </a:xfrm>
          <a:prstGeom prst="rect">
            <a:avLst/>
          </a:prstGeom>
          <a:solidFill>
            <a:srgbClr val="2E3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964599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9C2DC"/>
                </a:solidFill>
                <a:latin typeface="Open Sans"/>
              </a:rPr>
              <a:t>Propuesta de indicadores: matriz P-07 en curso; diseño de medición según la propuesta de planificación.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85800" y="2084831"/>
            <a:ext cx="3423818" cy="1901952"/>
            <a:chOff x="685800" y="2084831"/>
            <a:chExt cx="3423818" cy="1901952"/>
          </a:xfrm>
        </p:grpSpPr>
        <p:sp>
          <p:nvSpPr>
            <p:cNvPr id="13" name="Rectangle 12"/>
            <p:cNvSpPr/>
            <p:nvPr/>
          </p:nvSpPr>
          <p:spPr>
            <a:xfrm>
              <a:off x="685800" y="2084831"/>
              <a:ext cx="3423818" cy="1901952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5800" y="2084831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86658" y="2322575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01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60120" y="2377439"/>
              <a:ext cx="2235098" cy="381917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100" b="1" i="0">
                  <a:solidFill>
                    <a:srgbClr val="FFFFFF"/>
                  </a:solidFill>
                  <a:latin typeface="Oswald"/>
                </a:rPr>
                <a:t>Costo por kilómetro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60120" y="2832509"/>
              <a:ext cx="2875178" cy="97139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¿Cuánto cuesta recorrer esta ruta?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383938" y="2084831"/>
            <a:ext cx="3423818" cy="1901952"/>
            <a:chOff x="4383938" y="2084831"/>
            <a:chExt cx="3423818" cy="1901952"/>
          </a:xfrm>
        </p:grpSpPr>
        <p:sp>
          <p:nvSpPr>
            <p:cNvPr id="19" name="Rectangle 18"/>
            <p:cNvSpPr/>
            <p:nvPr/>
          </p:nvSpPr>
          <p:spPr>
            <a:xfrm>
              <a:off x="4383938" y="2084831"/>
              <a:ext cx="3423818" cy="1901952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383938" y="2084831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984796" y="2322575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02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658258" y="2377439"/>
              <a:ext cx="2235098" cy="381917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100" b="1" i="0">
                  <a:solidFill>
                    <a:srgbClr val="FFFFFF"/>
                  </a:solidFill>
                  <a:latin typeface="Oswald"/>
                </a:rPr>
                <a:t>Costo por entrega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658258" y="2832509"/>
              <a:ext cx="2875178" cy="97139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¿Cuánto cuesta atender cada pedido?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082076" y="2084831"/>
            <a:ext cx="3423818" cy="1901952"/>
            <a:chOff x="8082076" y="2084831"/>
            <a:chExt cx="3423818" cy="1901952"/>
          </a:xfrm>
        </p:grpSpPr>
        <p:sp>
          <p:nvSpPr>
            <p:cNvPr id="25" name="Rectangle 24"/>
            <p:cNvSpPr/>
            <p:nvPr/>
          </p:nvSpPr>
          <p:spPr>
            <a:xfrm>
              <a:off x="8082076" y="2084831"/>
              <a:ext cx="3423818" cy="1901952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082076" y="2084831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682935" y="2322575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03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356396" y="2377439"/>
              <a:ext cx="2235098" cy="381917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100" b="1" i="0">
                  <a:solidFill>
                    <a:srgbClr val="FFFFFF"/>
                  </a:solidFill>
                  <a:latin typeface="Oswald"/>
                </a:rPr>
                <a:t>Entregas a tiempo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356396" y="2832509"/>
              <a:ext cx="2875178" cy="97139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¿Llegamos dentro de la ventana acordada?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85800" y="4133087"/>
            <a:ext cx="3423818" cy="1901952"/>
            <a:chOff x="685800" y="4133087"/>
            <a:chExt cx="3423818" cy="1901952"/>
          </a:xfrm>
        </p:grpSpPr>
        <p:sp>
          <p:nvSpPr>
            <p:cNvPr id="31" name="Rectangle 30"/>
            <p:cNvSpPr/>
            <p:nvPr/>
          </p:nvSpPr>
          <p:spPr>
            <a:xfrm>
              <a:off x="685800" y="4133087"/>
              <a:ext cx="3423818" cy="1901952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85800" y="4133087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286658" y="4370832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04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60120" y="4425696"/>
              <a:ext cx="2235098" cy="381917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100" b="1" i="0">
                  <a:solidFill>
                    <a:srgbClr val="FFFFFF"/>
                  </a:solidFill>
                  <a:latin typeface="Oswald"/>
                </a:rPr>
                <a:t>Pendientes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60120" y="4880765"/>
              <a:ext cx="2875178" cy="97139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¿Qué pedidos quedaron sin atender?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4383938" y="4133087"/>
            <a:ext cx="3423818" cy="1901952"/>
            <a:chOff x="4383938" y="4133087"/>
            <a:chExt cx="3423818" cy="1901952"/>
          </a:xfrm>
        </p:grpSpPr>
        <p:sp>
          <p:nvSpPr>
            <p:cNvPr id="37" name="Rectangle 36"/>
            <p:cNvSpPr/>
            <p:nvPr/>
          </p:nvSpPr>
          <p:spPr>
            <a:xfrm>
              <a:off x="4383938" y="4133087"/>
              <a:ext cx="3423818" cy="1901952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383938" y="4133087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984796" y="4370832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05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658258" y="4425696"/>
              <a:ext cx="2235098" cy="381917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100" b="1" i="0">
                  <a:solidFill>
                    <a:srgbClr val="FFFFFF"/>
                  </a:solidFill>
                  <a:latin typeface="Oswald"/>
                </a:rPr>
                <a:t>Mermas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658258" y="4880765"/>
              <a:ext cx="2875178" cy="97139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¿Qué producto se dañó o rechazó?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8082076" y="4133087"/>
            <a:ext cx="3423818" cy="1901952"/>
            <a:chOff x="8082076" y="4133087"/>
            <a:chExt cx="3423818" cy="1901952"/>
          </a:xfrm>
        </p:grpSpPr>
        <p:sp>
          <p:nvSpPr>
            <p:cNvPr id="43" name="Rectangle 42"/>
            <p:cNvSpPr/>
            <p:nvPr/>
          </p:nvSpPr>
          <p:spPr>
            <a:xfrm>
              <a:off x="8082076" y="4133087"/>
              <a:ext cx="3423818" cy="1901952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8082076" y="4133087"/>
              <a:ext cx="3423818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0682935" y="4370832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06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356396" y="4425696"/>
              <a:ext cx="2235098" cy="74554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100" b="1" i="0">
                  <a:solidFill>
                    <a:srgbClr val="FFFFFF"/>
                  </a:solidFill>
                  <a:latin typeface="Oswald"/>
                </a:rPr>
                <a:t>Propia frente a contratada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356396" y="5244394"/>
              <a:ext cx="2875178" cy="60776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¿Qué opción conviene con los datos disponibles?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5B6585"/>
                </a:solidFill>
                <a:latin typeface="Open Sans"/>
              </a:rPr>
              <a:t>HACKATHON EXPO CLEAN 2026 · RETO 1 · 11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7D6520"/>
                  </a:solidFill>
                  <a:latin typeface="Open Sans"/>
                </a:rPr>
                <a:t>VIABILIDAD, MODELO Y RIESGOS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242D57"/>
                  </a:solidFill>
                  <a:latin typeface="Oswald"/>
                </a:rPr>
                <a:t>Viable con lo que la empresa ya tiene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7909560" cy="10972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673546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585"/>
                </a:solidFill>
                <a:latin typeface="Open Sans"/>
              </a:rPr>
              <a:t>Fuente: matriz A-22 (importador), P-16 (riesgos); Modelo de negocio y piloto. Precio y cliente por validar.</a:t>
            </a:r>
          </a:p>
        </p:txBody>
      </p:sp>
      <p:pic>
        <p:nvPicPr>
          <p:cNvPr id="11" name="Picture 10" descr="chillo-medio-cuer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3804013"/>
            <a:ext cx="2377440" cy="3053986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685800" y="1600200"/>
            <a:ext cx="3017520" cy="4206240"/>
            <a:chOff x="685800" y="1600200"/>
            <a:chExt cx="3017520" cy="4206240"/>
          </a:xfrm>
        </p:grpSpPr>
        <p:sp>
          <p:nvSpPr>
            <p:cNvPr id="13" name="Rectangle 12"/>
            <p:cNvSpPr/>
            <p:nvPr/>
          </p:nvSpPr>
          <p:spPr>
            <a:xfrm>
              <a:off x="685800" y="1600200"/>
              <a:ext cx="3017520" cy="4206240"/>
            </a:xfrm>
            <a:prstGeom prst="rect">
              <a:avLst/>
            </a:prstGeom>
            <a:solidFill>
              <a:srgbClr val="242D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5800" y="1600200"/>
              <a:ext cx="3017520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60120" y="1892807"/>
              <a:ext cx="2468879" cy="46849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600" b="1" i="0">
                  <a:solidFill>
                    <a:srgbClr val="FFFFFF"/>
                  </a:solidFill>
                  <a:latin typeface="Oswald"/>
                </a:rPr>
                <a:t>Modelo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60120" y="2434455"/>
              <a:ext cx="2468879" cy="318910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Sin hardware nuevo: web y el teléfono del conductor.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 i="0">
                  <a:solidFill>
                    <a:srgbClr val="B9C2DC"/>
                  </a:solidFill>
                  <a:latin typeface="Open Sans"/>
                </a:rPr>
                <a:t>Implementación inicial más suscripción. Precio por validar en el piloto.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977639" y="1600200"/>
            <a:ext cx="4617720" cy="969264"/>
            <a:chOff x="3977639" y="1600200"/>
            <a:chExt cx="4617720" cy="969264"/>
          </a:xfrm>
        </p:grpSpPr>
        <p:sp>
          <p:nvSpPr>
            <p:cNvPr id="18" name="Rectangle 17"/>
            <p:cNvSpPr/>
            <p:nvPr/>
          </p:nvSpPr>
          <p:spPr>
            <a:xfrm>
              <a:off x="3977639" y="1600200"/>
              <a:ext cx="4617720" cy="969264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977639" y="1600200"/>
              <a:ext cx="54864" cy="9692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206240" y="1709928"/>
              <a:ext cx="42519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700" b="1" i="0">
                  <a:solidFill>
                    <a:srgbClr val="242D57"/>
                  </a:solidFill>
                  <a:latin typeface="Oswald"/>
                </a:rPr>
                <a:t>Datos incompletos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206240" y="2103120"/>
              <a:ext cx="4251960" cy="3840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0" i="0">
                  <a:solidFill>
                    <a:srgbClr val="5B6585"/>
                  </a:solidFill>
                  <a:latin typeface="Open Sans"/>
                </a:rPr>
                <a:t>Mostrar «sin dato»; nunca inventar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977639" y="2679192"/>
            <a:ext cx="4617720" cy="969264"/>
            <a:chOff x="3977639" y="2679192"/>
            <a:chExt cx="4617720" cy="969264"/>
          </a:xfrm>
        </p:grpSpPr>
        <p:sp>
          <p:nvSpPr>
            <p:cNvPr id="23" name="Rectangle 22"/>
            <p:cNvSpPr/>
            <p:nvPr/>
          </p:nvSpPr>
          <p:spPr>
            <a:xfrm>
              <a:off x="3977639" y="2679192"/>
              <a:ext cx="4617720" cy="969264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977639" y="2679192"/>
              <a:ext cx="54864" cy="9692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206240" y="2788920"/>
              <a:ext cx="42519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700" b="1" i="0">
                  <a:solidFill>
                    <a:srgbClr val="242D57"/>
                  </a:solidFill>
                  <a:latin typeface="Oswald"/>
                </a:rPr>
                <a:t>Ruta poco realista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206240" y="3182112"/>
              <a:ext cx="4251960" cy="3840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0" i="0">
                  <a:solidFill>
                    <a:srgbClr val="5B6585"/>
                  </a:solidFill>
                  <a:latin typeface="Open Sans"/>
                </a:rPr>
                <a:t>Revisión del planificador antes de publicar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3977639" y="3758184"/>
            <a:ext cx="4617720" cy="969264"/>
            <a:chOff x="3977639" y="3758184"/>
            <a:chExt cx="4617720" cy="969264"/>
          </a:xfrm>
        </p:grpSpPr>
        <p:sp>
          <p:nvSpPr>
            <p:cNvPr id="28" name="Rectangle 27"/>
            <p:cNvSpPr/>
            <p:nvPr/>
          </p:nvSpPr>
          <p:spPr>
            <a:xfrm>
              <a:off x="3977639" y="3758184"/>
              <a:ext cx="4617720" cy="969264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977639" y="3758184"/>
              <a:ext cx="54864" cy="9692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206240" y="3867912"/>
              <a:ext cx="42519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700" b="1" i="0">
                  <a:solidFill>
                    <a:srgbClr val="242D57"/>
                  </a:solidFill>
                  <a:latin typeface="Oswald"/>
                </a:rPr>
                <a:t>Costo mal estimado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206240" y="4261104"/>
              <a:ext cx="4251960" cy="3840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0" i="0">
                  <a:solidFill>
                    <a:srgbClr val="5B6585"/>
                  </a:solidFill>
                  <a:latin typeface="Open Sans"/>
                </a:rPr>
                <a:t>Desglose visible y calibración con viajes reales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3977639" y="4837176"/>
            <a:ext cx="4617720" cy="969264"/>
            <a:chOff x="3977639" y="4837176"/>
            <a:chExt cx="4617720" cy="969264"/>
          </a:xfrm>
        </p:grpSpPr>
        <p:sp>
          <p:nvSpPr>
            <p:cNvPr id="33" name="Rectangle 32"/>
            <p:cNvSpPr/>
            <p:nvPr/>
          </p:nvSpPr>
          <p:spPr>
            <a:xfrm>
              <a:off x="3977639" y="4837176"/>
              <a:ext cx="4617720" cy="969264"/>
            </a:xfrm>
            <a:prstGeom prst="rect">
              <a:avLst/>
            </a:prstGeom>
            <a:solidFill>
              <a:srgbClr val="EDF0F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977639" y="4837176"/>
              <a:ext cx="54864" cy="9692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206240" y="4946904"/>
              <a:ext cx="42519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700" b="1" i="0">
                  <a:solidFill>
                    <a:srgbClr val="242D57"/>
                  </a:solidFill>
                  <a:latin typeface="Oswald"/>
                </a:rPr>
                <a:t>Error de la IA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206240" y="5340096"/>
              <a:ext cx="4251960" cy="3840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400" b="0" i="0">
                  <a:solidFill>
                    <a:srgbClr val="5B6585"/>
                  </a:solidFill>
                  <a:latin typeface="Open Sans"/>
                </a:rPr>
                <a:t>Solo explica cifras del motor; hay respaldo</a:t>
              </a:r>
            </a:p>
          </p:txBody>
        </p:sp>
      </p:grpSp>
      <p:sp>
        <p:nvSpPr>
          <p:cNvPr id="37" name="Rounded Rectangular Callout 36"/>
          <p:cNvSpPr/>
          <p:nvPr/>
        </p:nvSpPr>
        <p:spPr>
          <a:xfrm>
            <a:off x="8759952" y="2395728"/>
            <a:ext cx="3200400" cy="914400"/>
          </a:xfrm>
          <a:prstGeom prst="wedgeRoundRectCallout">
            <a:avLst>
              <a:gd name="adj1" fmla="val 11999"/>
              <a:gd name="adj2" fmla="val 97999"/>
              <a:gd name="adj3" fmla="val 16667"/>
            </a:avLst>
          </a:prstGeom>
          <a:solidFill>
            <a:srgbClr val="FFFFFF"/>
          </a:solidFill>
          <a:ln w="12700">
            <a:solidFill>
              <a:srgbClr val="D5DBEA"/>
            </a:solidFill>
          </a:ln>
          <a:effectLst>
            <a:outerShdw blurRad="177800" dist="50800" dir="5400000" algn="t" rotWithShape="0">
              <a:srgbClr val="162451">
                <a:alpha val="30000"/>
              </a:srgbClr>
            </a:outerShdw>
          </a:effectLst>
        </p:spPr>
        <p:txBody>
          <a:bodyPr rtlCol="0" anchor="ctr" wrap="square" lIns="146304" rIns="146304" tIns="54864" bIns="54864"/>
          <a:lstStyle/>
          <a:p>
            <a:pPr algn="ctr"/>
            <a:r>
              <a:rPr sz="1400" b="1" i="0">
                <a:solidFill>
                  <a:srgbClr val="242D57"/>
                </a:solidFill>
                <a:latin typeface="Open Sans"/>
              </a:rPr>
              <a:t>Todo plan tiene riesgos; lo clave es </a:t>
            </a:r>
            <a:r>
              <a:rPr sz="1400" b="1" i="0">
                <a:solidFill>
                  <a:srgbClr val="7D6520"/>
                </a:solidFill>
                <a:latin typeface="Open Sans"/>
              </a:rPr>
              <a:t>mitigarlos</a:t>
            </a:r>
            <a:r>
              <a:rPr sz="1400" b="1" i="0">
                <a:solidFill>
                  <a:srgbClr val="242D57"/>
                </a:solidFill>
                <a:latin typeface="Open Sans"/>
              </a:rPr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9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85255" y="411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 spc="100">
                <a:solidFill>
                  <a:srgbClr val="B9C2DC"/>
                </a:solidFill>
                <a:latin typeface="Open Sans"/>
              </a:rPr>
              <a:t>HACKATHON EXPO CLEAN 2026 · RETO 1 · 12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5800" y="402336"/>
            <a:ext cx="10820095" cy="1060704"/>
            <a:chOff x="685800" y="402336"/>
            <a:chExt cx="10820095" cy="1060704"/>
          </a:xfrm>
        </p:grpSpPr>
        <p:sp>
          <p:nvSpPr>
            <p:cNvPr id="4" name="Rectangle 3"/>
            <p:cNvSpPr/>
            <p:nvPr/>
          </p:nvSpPr>
          <p:spPr>
            <a:xfrm>
              <a:off x="685800" y="402336"/>
              <a:ext cx="45720" cy="27432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41248" y="411480"/>
              <a:ext cx="585216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1300" b="1" i="0" spc="200">
                  <a:solidFill>
                    <a:srgbClr val="C4A857"/>
                  </a:solidFill>
                  <a:latin typeface="Open Sans"/>
                </a:rPr>
                <a:t>PRÓXIMO PASO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85800" y="731520"/>
              <a:ext cx="10820095" cy="731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3600" b="1" i="0">
                  <a:solidFill>
                    <a:srgbClr val="FFFFFF"/>
                  </a:solidFill>
                  <a:latin typeface="Oswald"/>
                </a:rPr>
                <a:t>Un piloto con una empresa de limpieza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5800" y="6217920"/>
            <a:ext cx="7909560" cy="10972"/>
          </a:xfrm>
          <a:prstGeom prst="rect">
            <a:avLst/>
          </a:prstGeom>
          <a:solidFill>
            <a:srgbClr val="2E3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stpet-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73368"/>
            <a:ext cx="872345" cy="310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704448" y="6355080"/>
            <a:ext cx="22860" cy="347472"/>
          </a:xfrm>
          <a:prstGeom prst="rect">
            <a:avLst/>
          </a:prstGeom>
          <a:solidFill>
            <a:srgbClr val="C4A8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9897" y="6327648"/>
            <a:ext cx="673546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9C2DC"/>
                </a:solidFill>
                <a:latin typeface="Open Sans"/>
              </a:rPr>
              <a:t>Fuente: matriz P-02/P-05/P-14, A-15 y A-21. Propuestas sujetas a validación.</a:t>
            </a:r>
          </a:p>
        </p:txBody>
      </p:sp>
      <p:pic>
        <p:nvPicPr>
          <p:cNvPr id="11" name="Picture 10" descr="chillo-cuerpo-ent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48" y="2212848"/>
            <a:ext cx="1958112" cy="3931920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685800" y="1627632"/>
            <a:ext cx="3826764" cy="1499616"/>
            <a:chOff x="685800" y="1627632"/>
            <a:chExt cx="3826764" cy="1499616"/>
          </a:xfrm>
        </p:grpSpPr>
        <p:sp>
          <p:nvSpPr>
            <p:cNvPr id="13" name="Rectangle 12"/>
            <p:cNvSpPr/>
            <p:nvPr/>
          </p:nvSpPr>
          <p:spPr>
            <a:xfrm>
              <a:off x="685800" y="1627632"/>
              <a:ext cx="3826764" cy="1499616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5800" y="1627632"/>
              <a:ext cx="3826764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689604" y="1865376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01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60120" y="1920240"/>
              <a:ext cx="2638044" cy="39923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200" b="1" i="0">
                  <a:solidFill>
                    <a:srgbClr val="FFFFFF"/>
                  </a:solidFill>
                  <a:latin typeface="Oswald"/>
                </a:rPr>
                <a:t>Línea base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60120" y="2392625"/>
              <a:ext cx="3278124" cy="55174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B9C2DC"/>
                  </a:solidFill>
                  <a:latin typeface="Open Sans"/>
                </a:rPr>
                <a:t>Acordar indicadores y medir el punto de partida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768596" y="1627632"/>
            <a:ext cx="3826764" cy="1499616"/>
            <a:chOff x="4768596" y="1627632"/>
            <a:chExt cx="3826764" cy="1499616"/>
          </a:xfrm>
        </p:grpSpPr>
        <p:sp>
          <p:nvSpPr>
            <p:cNvPr id="19" name="Rectangle 18"/>
            <p:cNvSpPr/>
            <p:nvPr/>
          </p:nvSpPr>
          <p:spPr>
            <a:xfrm>
              <a:off x="4768596" y="1627632"/>
              <a:ext cx="3826764" cy="1499616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768596" y="1627632"/>
              <a:ext cx="3826764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772400" y="1865376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02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042916" y="1920240"/>
              <a:ext cx="2638044" cy="39923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200" b="1" i="0">
                  <a:solidFill>
                    <a:srgbClr val="FFFFFF"/>
                  </a:solidFill>
                  <a:latin typeface="Oswald"/>
                </a:rPr>
                <a:t>Producción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042916" y="2392625"/>
              <a:ext cx="3278124" cy="55174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B9C2DC"/>
                  </a:solidFill>
                  <a:latin typeface="Open Sans"/>
                </a:rPr>
                <a:t>Llevar la comparación propia / contratada a operación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85800" y="3236976"/>
            <a:ext cx="3826764" cy="1499616"/>
            <a:chOff x="685800" y="3236976"/>
            <a:chExt cx="3826764" cy="1499616"/>
          </a:xfrm>
        </p:grpSpPr>
        <p:sp>
          <p:nvSpPr>
            <p:cNvPr id="25" name="Rectangle 24"/>
            <p:cNvSpPr/>
            <p:nvPr/>
          </p:nvSpPr>
          <p:spPr>
            <a:xfrm>
              <a:off x="685800" y="3236976"/>
              <a:ext cx="3826764" cy="1499616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85800" y="3236976"/>
              <a:ext cx="3826764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689604" y="3474720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03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60120" y="3529584"/>
              <a:ext cx="2638044" cy="39923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200" b="1" i="0">
                  <a:solidFill>
                    <a:srgbClr val="FFFFFF"/>
                  </a:solidFill>
                  <a:latin typeface="Oswald"/>
                </a:rPr>
                <a:t>Campo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60120" y="4001969"/>
              <a:ext cx="3278124" cy="55174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B9C2DC"/>
                  </a:solidFill>
                  <a:latin typeface="Open Sans"/>
                </a:rPr>
                <a:t>Ensayar la entrega sin señal con conductores reales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768596" y="3236976"/>
            <a:ext cx="3826764" cy="1499616"/>
            <a:chOff x="4768596" y="3236976"/>
            <a:chExt cx="3826764" cy="1499616"/>
          </a:xfrm>
        </p:grpSpPr>
        <p:sp>
          <p:nvSpPr>
            <p:cNvPr id="31" name="Rectangle 30"/>
            <p:cNvSpPr/>
            <p:nvPr/>
          </p:nvSpPr>
          <p:spPr>
            <a:xfrm>
              <a:off x="4768596" y="3236976"/>
              <a:ext cx="3826764" cy="1499616"/>
            </a:xfrm>
            <a:prstGeom prst="rect">
              <a:avLst/>
            </a:prstGeom>
            <a:solidFill>
              <a:srgbClr val="2E3B6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768596" y="3236976"/>
              <a:ext cx="3826764" cy="54864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772400" y="3474720"/>
              <a:ext cx="548640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r">
                <a:spcAft>
                  <a:spcPts val="0"/>
                </a:spcAft>
              </a:pPr>
              <a:r>
                <a:rPr sz="2000" b="1" i="0">
                  <a:solidFill>
                    <a:srgbClr val="C4A857"/>
                  </a:solidFill>
                  <a:latin typeface="Oswald"/>
                </a:rPr>
                <a:t>04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042916" y="3529584"/>
              <a:ext cx="2638044" cy="39923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92000"/>
                </a:lnSpc>
                <a:spcAft>
                  <a:spcPts val="0"/>
                </a:spcAft>
              </a:pPr>
              <a:r>
                <a:rPr sz="2200" b="1" i="0">
                  <a:solidFill>
                    <a:srgbClr val="FFFFFF"/>
                  </a:solidFill>
                  <a:latin typeface="Oswald"/>
                </a:rPr>
                <a:t>Calibrar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042916" y="4001969"/>
              <a:ext cx="3278124" cy="55174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50" b="0" i="0">
                  <a:solidFill>
                    <a:srgbClr val="B9C2DC"/>
                  </a:solidFill>
                  <a:latin typeface="Open Sans"/>
                </a:rPr>
                <a:t>Pronóstico y costos con datos conciliados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85800" y="4892040"/>
            <a:ext cx="7909560" cy="1051560"/>
            <a:chOff x="685800" y="4892040"/>
            <a:chExt cx="7909560" cy="1051560"/>
          </a:xfrm>
        </p:grpSpPr>
        <p:sp>
          <p:nvSpPr>
            <p:cNvPr id="37" name="Rectangle 36"/>
            <p:cNvSpPr/>
            <p:nvPr/>
          </p:nvSpPr>
          <p:spPr>
            <a:xfrm>
              <a:off x="685800" y="4892040"/>
              <a:ext cx="7909560" cy="1051560"/>
            </a:xfrm>
            <a:prstGeom prst="rect">
              <a:avLst/>
            </a:prstGeom>
            <a:solidFill>
              <a:srgbClr val="C4A8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05840" y="4892040"/>
              <a:ext cx="7269480" cy="10515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spcAft>
                  <a:spcPts val="0"/>
                </a:spcAft>
              </a:pPr>
              <a:r>
                <a:rPr sz="2200" b="1" i="0">
                  <a:solidFill>
                    <a:srgbClr val="162451"/>
                  </a:solidFill>
                  <a:latin typeface="Oswald"/>
                </a:rPr>
                <a:t>Detectar antes, decidir con el costo real </a:t>
              </a:r>
              <a:r>
                <a:rPr sz="1800" b="1" i="0">
                  <a:solidFill>
                    <a:srgbClr val="162451"/>
                  </a:solidFill>
                  <a:latin typeface="Open Sans"/>
                </a:rPr>
                <a:t>y probar cada entrega. Buscamos ese aliado aquí.</a:t>
              </a:r>
            </a:p>
          </p:txBody>
        </p:sp>
      </p:grpSp>
      <p:sp>
        <p:nvSpPr>
          <p:cNvPr id="39" name="Rounded Rectangular Callout 38"/>
          <p:cNvSpPr/>
          <p:nvPr/>
        </p:nvSpPr>
        <p:spPr>
          <a:xfrm>
            <a:off x="8759952" y="1188720"/>
            <a:ext cx="3200400" cy="914400"/>
          </a:xfrm>
          <a:prstGeom prst="wedgeRoundRectCallout">
            <a:avLst>
              <a:gd name="adj1" fmla="val 6285"/>
              <a:gd name="adj2" fmla="val 68000"/>
              <a:gd name="adj3" fmla="val 16667"/>
            </a:avLst>
          </a:prstGeom>
          <a:solidFill>
            <a:srgbClr val="FFFFFF"/>
          </a:solidFill>
          <a:ln w="12700">
            <a:solidFill>
              <a:srgbClr val="D5DBEA"/>
            </a:solidFill>
          </a:ln>
          <a:effectLst>
            <a:outerShdw blurRad="177800" dist="50800" dir="5400000" algn="t" rotWithShape="0">
              <a:srgbClr val="162451">
                <a:alpha val="30000"/>
              </a:srgbClr>
            </a:outerShdw>
          </a:effectLst>
        </p:spPr>
        <p:txBody>
          <a:bodyPr rtlCol="0" anchor="ctr" wrap="square" lIns="146304" rIns="146304" tIns="54864" bIns="54864"/>
          <a:lstStyle/>
          <a:p>
            <a:pPr algn="ctr"/>
            <a:r>
              <a:rPr sz="1400" b="1" i="0">
                <a:solidFill>
                  <a:srgbClr val="242D57"/>
                </a:solidFill>
                <a:latin typeface="Open Sans"/>
              </a:rPr>
              <a:t>¿Lo validamos juntos en un </a:t>
            </a:r>
            <a:r>
              <a:rPr sz="1400" b="1" i="0">
                <a:solidFill>
                  <a:srgbClr val="7D6520"/>
                </a:solidFill>
                <a:latin typeface="Open Sans"/>
              </a:rPr>
              <a:t>piloto</a:t>
            </a:r>
            <a:r>
              <a:rPr sz="1400" b="1" i="0">
                <a:solidFill>
                  <a:srgbClr val="242D57"/>
                </a:solidFill>
                <a:latin typeface="Open Sans"/>
              </a:rPr>
              <a:t>? ¡Kikirikí!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IstpetDev · Pitch Expo Clean · v5</dc:title>
  <dc:subject>Guion v5 · demo visual en tres capturas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