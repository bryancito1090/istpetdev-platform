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1 ·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320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Caso sintético · SERCOP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F2937"/>
                </a:solidFill>
              </a:defRPr>
            </a:pPr>
            <a:r>
              <a:t>Reponer antes de la llamada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En contratos públicos de limpieza hospitalaria, el proveedor está obligado a mantener los químicos de desinfección y los insumos fungibles con frecuencias de reposición definidas por el hospital.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Nuestra hipótesis es que hoy la reposición empieza cuando el hospital ya avisó la falta.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Caso sintético: una caja de desinfectante que va a un hospital.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Fuente: fichas técnicas SERCOP (bóveda, 99 Fuentes). Matriz A-01, A-02.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v1 · 16-oct-2026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2 ·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320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Propuesta · flujo entregable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F2937"/>
                </a:solidFill>
              </a:defRPr>
            </a:pPr>
            <a:r>
              <a:t>Calcula, propone, una persona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334155"/>
                </a:solidFill>
              </a:defRPr>
            </a:pPr>
            <a:r>
              <a:t>• El motor calcula alertas explicables y propone rutas; una persona aprueba antes de cualquier despacho.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334155"/>
                </a:solidFill>
              </a:defRPr>
            </a:pPr>
            <a:r>
              <a:t>• Cadena integrada de 8 etapas (Entregable 2) con replanificación ante incidentes y custodia física con código QR.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64748B"/>
                </a:solidFill>
              </a:defRPr>
            </a:pPr>
            <a:r>
              <a:t>FASE 1: PREPARACIÓN DE DATOS Y CÁLCULO DE DISPONIBILIDAD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2423160" cy="9601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Aft>
                <a:spcPts val="100"/>
              </a:spcAft>
              <a:defRPr b="1" sz="1100">
                <a:solidFill>
                  <a:srgbClr val="0C4A6E"/>
                </a:solidFill>
              </a:defRPr>
            </a:pPr>
            <a:r>
              <a:t>1 · Datos</a:t>
            </a:r>
          </a:p>
          <a:p>
            <a:pPr>
              <a:spcAft>
                <a:spcPts val="200"/>
              </a:spcAft>
              <a:defRPr b="1" sz="1000">
                <a:solidFill>
                  <a:srgbClr val="0369A1"/>
                </a:solidFill>
              </a:defRPr>
            </a:pPr>
            <a:r>
              <a:t>Stock y consumo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Catálogo, puntos y bodegas desde Excel/CSV validado.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423160"/>
            <a:ext cx="411480" cy="960120"/>
          </a:xfrm>
          <a:prstGeom prst="rect">
            <a:avLst/>
          </a:prstGeom>
          <a:noFill/>
        </p:spPr>
        <p:txBody>
          <a:bodyPr wrap="none" lIns="0" rIns="0" tIns="137160" bIns="0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423160"/>
            <a:ext cx="2423160" cy="9601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Aft>
                <a:spcPts val="100"/>
              </a:spcAft>
              <a:defRPr b="1" sz="1100">
                <a:solidFill>
                  <a:srgbClr val="0C4A6E"/>
                </a:solidFill>
              </a:defRPr>
            </a:pPr>
            <a:r>
              <a:t>2 · Riesgo</a:t>
            </a:r>
          </a:p>
          <a:p>
            <a:pPr>
              <a:spcAft>
                <a:spcPts val="200"/>
              </a:spcAft>
              <a:defRPr b="1" sz="1000">
                <a:solidFill>
                  <a:srgbClr val="0369A1"/>
                </a:solidFill>
              </a:defRPr>
            </a:pPr>
            <a:r>
              <a:t>Por punto y producto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Días de cobertura vs lead time (Crítico / Alto / Vigilar).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423160"/>
            <a:ext cx="411480" cy="960120"/>
          </a:xfrm>
          <a:prstGeom prst="rect">
            <a:avLst/>
          </a:prstGeom>
          <a:noFill/>
        </p:spPr>
        <p:txBody>
          <a:bodyPr wrap="none" lIns="0" rIns="0" tIns="137160" bIns="0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23160"/>
            <a:ext cx="2423160" cy="9601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Aft>
                <a:spcPts val="100"/>
              </a:spcAft>
              <a:defRPr b="1" sz="1100">
                <a:solidFill>
                  <a:srgbClr val="0C4A6E"/>
                </a:solidFill>
              </a:defRPr>
            </a:pPr>
            <a:r>
              <a:t>3 · Bodega</a:t>
            </a:r>
          </a:p>
          <a:p>
            <a:pPr>
              <a:spcAft>
                <a:spcPts val="200"/>
              </a:spcAft>
              <a:defRPr b="1" sz="1000">
                <a:solidFill>
                  <a:srgbClr val="0369A1"/>
                </a:solidFill>
              </a:defRPr>
            </a:pPr>
            <a:r>
              <a:t>Stock por bodega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Asignación de origen respetando seguridad y FEFO.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423160"/>
            <a:ext cx="411480" cy="960120"/>
          </a:xfrm>
          <a:prstGeom prst="rect">
            <a:avLst/>
          </a:prstGeom>
          <a:noFill/>
        </p:spPr>
        <p:txBody>
          <a:bodyPr wrap="none" lIns="0" rIns="0" tIns="137160" bIns="0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423160"/>
            <a:ext cx="2423160" cy="9601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Aft>
                <a:spcPts val="100"/>
              </a:spcAft>
              <a:defRPr b="1" sz="1100">
                <a:solidFill>
                  <a:srgbClr val="0C4A6E"/>
                </a:solidFill>
              </a:defRPr>
            </a:pPr>
            <a:r>
              <a:t>4 · Vehículo</a:t>
            </a:r>
          </a:p>
          <a:p>
            <a:pPr>
              <a:spcAft>
                <a:spcPts val="200"/>
              </a:spcAft>
              <a:defRPr b="1" sz="1000">
                <a:solidFill>
                  <a:srgbClr val="0369A1"/>
                </a:solidFill>
              </a:defRPr>
            </a:pPr>
            <a:r>
              <a:t>Vehículo disponible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Elección por capacidad peso/volumen, base y costo.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9300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64748B"/>
                </a:solidFill>
              </a:defRPr>
            </a:pPr>
            <a:r>
              <a:t>FASE 2: OPTIMIZACIÓN DE RUTA, DECISIÓN HUMANA Y CUSTODIA EN CAMPO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242316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Aft>
                <a:spcPts val="100"/>
              </a:spcAft>
              <a:defRPr b="1" sz="1100">
                <a:solidFill>
                  <a:srgbClr val="78350F"/>
                </a:solidFill>
              </a:defRPr>
            </a:pPr>
            <a:r>
              <a:t>5 · Ruta priorizada</a:t>
            </a:r>
          </a:p>
          <a:p>
            <a:pPr>
              <a:spcAft>
                <a:spcPts val="200"/>
              </a:spcAft>
              <a:defRPr b="1" sz="1000">
                <a:solidFill>
                  <a:srgbClr val="B45309"/>
                </a:solidFill>
              </a:defRPr>
            </a:pPr>
            <a:r>
              <a:t>Críticos primero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Ventanas horarias, jornada y menor holgura.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749039"/>
            <a:ext cx="411480" cy="960120"/>
          </a:xfrm>
          <a:prstGeom prst="rect">
            <a:avLst/>
          </a:prstGeom>
          <a:noFill/>
        </p:spPr>
        <p:txBody>
          <a:bodyPr wrap="none" lIns="0" rIns="0" tIns="137160" bIns="0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749039"/>
            <a:ext cx="2423160" cy="96012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Aft>
                <a:spcPts val="100"/>
              </a:spcAft>
              <a:defRPr b="1" sz="1100">
                <a:solidFill>
                  <a:srgbClr val="7C2D12"/>
                </a:solidFill>
              </a:defRPr>
            </a:pPr>
            <a:r>
              <a:t>6 · Aprobación humana</a:t>
            </a:r>
          </a:p>
          <a:p>
            <a:pPr>
              <a:spcAft>
                <a:spcPts val="200"/>
              </a:spcAft>
              <a:defRPr b="1" sz="1000">
                <a:solidFill>
                  <a:srgbClr val="C2410C"/>
                </a:solidFill>
              </a:defRPr>
            </a:pPr>
            <a:r>
              <a:t>Una persona decide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Motor calcula; IA explica; persona aprueba despacho.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749039"/>
            <a:ext cx="411480" cy="960120"/>
          </a:xfrm>
          <a:prstGeom prst="rect">
            <a:avLst/>
          </a:prstGeom>
          <a:noFill/>
        </p:spPr>
        <p:txBody>
          <a:bodyPr wrap="none" lIns="0" rIns="0" tIns="137160" bIns="0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242316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Aft>
                <a:spcPts val="100"/>
              </a:spcAft>
              <a:defRPr b="1" sz="1100">
                <a:solidFill>
                  <a:srgbClr val="064E3B"/>
                </a:solidFill>
              </a:defRPr>
            </a:pPr>
            <a:r>
              <a:t>7 · Despacho con QR</a:t>
            </a:r>
          </a:p>
          <a:p>
            <a:pPr>
              <a:spcAft>
                <a:spcPts val="200"/>
              </a:spcAft>
              <a:defRPr b="1" sz="1000">
                <a:solidFill>
                  <a:srgbClr val="047857"/>
                </a:solidFill>
              </a:defRPr>
            </a:pPr>
            <a:r>
              <a:t>Custodia física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Cada caja ligada a lote, vehículo y responsable.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749039"/>
            <a:ext cx="411480" cy="960120"/>
          </a:xfrm>
          <a:prstGeom prst="rect">
            <a:avLst/>
          </a:prstGeom>
          <a:noFill/>
        </p:spPr>
        <p:txBody>
          <a:bodyPr wrap="none" lIns="0" rIns="0" tIns="137160" bIns="0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3749039"/>
            <a:ext cx="2423160" cy="9601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Aft>
                <a:spcPts val="100"/>
              </a:spcAft>
              <a:defRPr b="1" sz="1100">
                <a:solidFill>
                  <a:srgbClr val="064E3B"/>
                </a:solidFill>
              </a:defRPr>
            </a:pPr>
            <a:r>
              <a:t>8 · Recepción</a:t>
            </a:r>
          </a:p>
          <a:p>
            <a:pPr>
              <a:spcAft>
                <a:spcPts val="200"/>
              </a:spcAft>
              <a:defRPr b="1" sz="1000">
                <a:solidFill>
                  <a:srgbClr val="047857"/>
                </a:solidFill>
              </a:defRPr>
            </a:pPr>
            <a:r>
              <a:t>Con o sin señal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PWA offline en punto de entrega, firma y sin duplicar.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5303520" cy="7772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200"/>
              </a:spcAft>
              <a:defRPr b="1" sz="1000">
                <a:solidFill>
                  <a:srgbClr val="92400E"/>
                </a:solidFill>
              </a:defRPr>
            </a:pPr>
            <a:r>
              <a:t>⚠️ Replanificación ante incidente vial o retraso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Conserva paradas ya hechas y recalcula las pendientes con prioridad a puntos críticos (reingresa a Paso 5).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846320"/>
            <a:ext cx="5303520" cy="7772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200"/>
              </a:spcAft>
              <a:defRPr b="1" sz="1000">
                <a:solidFill>
                  <a:srgbClr val="065F46"/>
                </a:solidFill>
              </a:defRPr>
            </a:pPr>
            <a:r>
              <a:t>🔄 Custodia offline y cierre de ciclo de stock</a:t>
            </a:r>
          </a:p>
          <a:p>
            <a:pPr>
              <a:spcAft>
                <a:spcPts val="0"/>
              </a:spcAft>
              <a:defRPr sz="850">
                <a:solidFill>
                  <a:srgbClr val="334155"/>
                </a:solidFill>
              </a:defRPr>
            </a:pPr>
            <a:r>
              <a:t>Recepción física (con o sin señal) confirma custodia y sincroniza datos para actualizar stock (cierra ciclo en Paso 1).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Entregable 2 (Solución y propuesta de valor). Matriz A-06, A-10 (sustitución), A-11 (sustitución).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v1 · 16-oct-2026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3 · Prototipo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320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Pruebas automatizadas · hora límite en construcción (#193/#196)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F2937"/>
                </a:solidFill>
              </a:defRPr>
            </a:pPr>
            <a:r>
              <a:t>Una caja hacia el hospital norte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Escenario sintético: una bodega, 15 puntos y dos vehículos.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En nuestras pruebas, el hospital norte tiene cinco días de cobertura de desinfectante: riesgo alto.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La propuesta asigna una ruta a cada vehículo respetando capacidad, horarios de atención y jornada (hora límite para críticos en construcción #193/#196).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Ante un cierre de vía se conservan las paradas hechas y se crea una nueva versión de la ruta.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Diseño: la caja queda ligada a su lote y a la entrega.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1F2937"/>
                </a:solidFill>
              </a:defRPr>
            </a:pPr>
            <a:r>
              <a:t>• La consulta pública devuelve producto, estado e hitos sin datos privados; un token alterado recibe 404 en la prueba de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A-03 (sust.), A-04, A-07, A-09, A-13 (propuesta), A-16 (sust.). Issues #193, #196.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v1 · 16-oct-2026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4 ·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320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Simulación 90 días · resultado pendiente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F2937"/>
                </a:solidFill>
              </a:defRPr>
            </a:pPr>
            <a:r>
              <a:t>Cómo mediremos el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Diseñamos la comparación antes de ver resultados: 90 días sintéticos, tres semillas y un escenario adverso aparte.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Contra reposición reactiva y calendario fijo.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Contamos los quiebres evitados y también los nuevos, sin restar unos de otros.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El resultado solo lo mostraremos con su archivo verificable.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A-19 (sustitución), A-20. A-21 retirada: sin corrida oficial de 005.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v1 · 16-oct-2026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5 · Viabilidad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320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Prueba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F2937"/>
                </a:solidFill>
              </a:defRPr>
            </a:pPr>
            <a:r>
              <a:t>Qué ya funciona y qué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Cargamos archivos de otro formato escribiendo solo un perfil, sin programar.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En prueba local, la ruta de 80 puntos se calcula en menos de cinco segundos.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Límite: es una heurística; no prometemos la ruta óptima.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A-22, A-24, A-33.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v1 · 16-oct-2026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6 · Modelo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320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F2937"/>
                </a:solidFill>
              </a:defRPr>
            </a:pPr>
            <a:r>
              <a:t>Quién paga y por qué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Nuestro cliente por validar es la empresa de limpieza.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Cobraríamos implementación y una suscripción.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El precio lo definiremos con costos reales del piloto.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• El costo de operación lo mediremos en el piloto.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A-31 (propuesta), A-30 y A-26 (sustitución).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v1 · 16-oct-2026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7 · Próximo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320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F2937"/>
                </a:solidFill>
              </a:defRPr>
            </a:pPr>
            <a:r>
              <a:t>Piloto de cuatro semanas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• Semana 1: acordar bodega, puntos y productos; medir la operación actual sin cambiarla.</a:t>
            </a:r>
          </a:p>
          <a:p>
            <a:pPr algn="l"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• Semana 2: recomendaciones en paralelo, con aprobación humana.</a:t>
            </a:r>
          </a:p>
          <a:p>
            <a:pPr algn="l"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• Semana 3: operar un grupo pequeño con caja y QR.</a:t>
            </a:r>
          </a:p>
          <a:p>
            <a:pPr algn="l"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• Semana 4: comparar contra la operación actual y decidir si seguir.</a:t>
            </a:r>
          </a:p>
          <a:p>
            <a:pPr algn="l"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• Buscamos una empresa que quiera medirlo con nosotros.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A-32; ficha de piloto del plan 006.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v1 · 16-oct-2026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