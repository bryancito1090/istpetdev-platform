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gif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3078866" cy="109728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685800" y="2121408"/>
            <a:ext cx="7863840" cy="2651760"/>
            <a:chOff x="685800" y="2121408"/>
            <a:chExt cx="7863840" cy="2651760"/>
          </a:xfrm>
        </p:grpSpPr>
        <p:sp>
          <p:nvSpPr>
            <p:cNvPr id="4" name="Rectangle 3"/>
            <p:cNvSpPr/>
            <p:nvPr/>
          </p:nvSpPr>
          <p:spPr>
            <a:xfrm>
              <a:off x="685800" y="2121408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2130552"/>
              <a:ext cx="67665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 spc="200">
                  <a:solidFill>
                    <a:srgbClr val="C4A857"/>
                  </a:solidFill>
                  <a:latin typeface="Open Sans"/>
                </a:rPr>
                <a:t>ABASTECIMIENTO, RUTAS Y CUSTODIA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2487168"/>
              <a:ext cx="7863840" cy="228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4000" b="1" i="0">
                  <a:solidFill>
                    <a:srgbClr val="FFFFFF"/>
                  </a:solidFill>
                  <a:latin typeface="Oswald"/>
                </a:rPr>
                <a:t>¿Cómo se entera una empresa de limpieza de que a un hospital le falta desinfectante?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85800" y="484632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B9C2DC"/>
                </a:solidFill>
                <a:latin typeface="Open Sans"/>
              </a:rPr>
              <a:t>Cuando el hospital llama. </a:t>
            </a:r>
            <a:r>
              <a:rPr sz="2200" b="1" i="0">
                <a:solidFill>
                  <a:srgbClr val="E6D7A3"/>
                </a:solidFill>
                <a:latin typeface="Open Sans"/>
              </a:rPr>
              <a:t>Ese día ya es tarde.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85800" y="5669280"/>
            <a:ext cx="8229600" cy="841248"/>
            <a:chOff x="685800" y="5669280"/>
            <a:chExt cx="8229600" cy="841248"/>
          </a:xfrm>
        </p:grpSpPr>
        <p:sp>
          <p:nvSpPr>
            <p:cNvPr id="9" name="Rectangle 8"/>
            <p:cNvSpPr/>
            <p:nvPr/>
          </p:nvSpPr>
          <p:spPr>
            <a:xfrm>
              <a:off x="685800" y="5669280"/>
              <a:ext cx="1005840" cy="228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5800" y="5852160"/>
              <a:ext cx="8229600" cy="320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0" i="0">
                  <a:solidFill>
                    <a:srgbClr val="FFFFFF"/>
                  </a:solidFill>
                  <a:latin typeface="Open Sans"/>
                </a:rPr>
                <a:t>Equipo IstpetDev · Instituto Superior Tecnológico Traversari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800" y="6236208"/>
              <a:ext cx="82296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200" b="0" i="0" spc="150">
                  <a:solidFill>
                    <a:srgbClr val="B9C2DC"/>
                  </a:solidFill>
                  <a:latin typeface="Open Sans"/>
                </a:rPr>
                <a:t>HACKATHON EXPO CLEAN 2026 · RETO 1</a:t>
              </a:r>
            </a:p>
          </p:txBody>
        </p:sp>
      </p:grpSp>
      <p:pic>
        <p:nvPicPr>
          <p:cNvPr id="12" name="Picture 11" descr="chillo-cuerpo-ent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075688"/>
            <a:ext cx="2299643" cy="4617720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7818120" y="658368"/>
            <a:ext cx="4114800" cy="914400"/>
          </a:xfrm>
          <a:prstGeom prst="wedgeRoundRectCallout">
            <a:avLst>
              <a:gd name="adj1" fmla="val 8888"/>
              <a:gd name="adj2" fmla="val 113000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550" b="1" i="0">
                <a:solidFill>
                  <a:srgbClr val="242D57"/>
                </a:solidFill>
                <a:latin typeface="Open Sans"/>
              </a:rPr>
              <a:t>¡Hola! Soy Chillo y hoy les cuento cómo </a:t>
            </a:r>
            <a:r>
              <a:rPr sz="1550" b="1" i="0">
                <a:solidFill>
                  <a:srgbClr val="7D6520"/>
                </a:solidFill>
                <a:latin typeface="Open Sans"/>
              </a:rPr>
              <a:t>llegar antes</a:t>
            </a:r>
            <a:r>
              <a:rPr sz="1550" b="1" i="0">
                <a:solidFill>
                  <a:srgbClr val="242D57"/>
                </a:solidFill>
                <a:latin typeface="Open Sans"/>
              </a:rPr>
              <a:t> que la llamada.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5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02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EL CASO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Los mismos pedidos, tres maneras de atenderlos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ensayo técnico #285 (demo-quito-planificacion): 4 pedidos, 6 entregas críticas; opciones A, B y C de 02-suggest-pitch-abc.json · matriz P-02, P-04, P-05. Escenario sintético: no son clientes ni operaciones medidas.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2221992"/>
            <a:ext cx="3017520" cy="2011680"/>
            <a:chOff x="685800" y="2221992"/>
            <a:chExt cx="3017520" cy="2011680"/>
          </a:xfrm>
        </p:grpSpPr>
        <p:sp>
          <p:nvSpPr>
            <p:cNvPr id="12" name="Rectangle 11"/>
            <p:cNvSpPr/>
            <p:nvPr/>
          </p:nvSpPr>
          <p:spPr>
            <a:xfrm>
              <a:off x="685800" y="2221992"/>
              <a:ext cx="3017520" cy="2011680"/>
            </a:xfrm>
            <a:prstGeom prst="rect">
              <a:avLst/>
            </a:prstGeom>
            <a:solidFill>
              <a:srgbClr val="2E3B6E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2221992"/>
              <a:ext cx="30175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" y="2404872"/>
              <a:ext cx="2560320" cy="56692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800" b="1" i="0">
                  <a:solidFill>
                    <a:srgbClr val="C4A857"/>
                  </a:solidFill>
                  <a:latin typeface="Oswald"/>
                </a:rPr>
                <a:t>4 pedidos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4400" y="2999232"/>
              <a:ext cx="2560320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 i="0">
                  <a:solidFill>
                    <a:srgbClr val="B9C2DC"/>
                  </a:solidFill>
                  <a:latin typeface="Open Sans"/>
                </a:rPr>
                <a:t>6 entregas críticas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 i="0">
                  <a:solidFill>
                    <a:srgbClr val="B9C2DC"/>
                  </a:solidFill>
                  <a:latin typeface="Open Sans"/>
                </a:rPr>
                <a:t>Hospitales y otros clientes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 i="0">
                  <a:solidFill>
                    <a:srgbClr val="B9C2DC"/>
                  </a:solidFill>
                  <a:latin typeface="Open Sans"/>
                </a:rPr>
                <a:t>Quito, datos sintéticos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703320" y="2135124"/>
            <a:ext cx="1188719" cy="2185416"/>
            <a:chOff x="3703320" y="2135124"/>
            <a:chExt cx="1188719" cy="2185416"/>
          </a:xfrm>
        </p:grpSpPr>
        <p:sp>
          <p:nvSpPr>
            <p:cNvPr id="17" name="Rectangle 16"/>
            <p:cNvSpPr/>
            <p:nvPr/>
          </p:nvSpPr>
          <p:spPr>
            <a:xfrm>
              <a:off x="3703320" y="3214116"/>
              <a:ext cx="594359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283964" y="2148840"/>
              <a:ext cx="27432" cy="215798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297679" y="2135124"/>
              <a:ext cx="594360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297679" y="3214116"/>
              <a:ext cx="594360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297679" y="4293108"/>
              <a:ext cx="594360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92040" y="1691640"/>
            <a:ext cx="6613855" cy="914400"/>
            <a:chOff x="4892040" y="1691640"/>
            <a:chExt cx="6613855" cy="914400"/>
          </a:xfrm>
        </p:grpSpPr>
        <p:sp>
          <p:nvSpPr>
            <p:cNvPr id="23" name="Rectangle 22"/>
            <p:cNvSpPr/>
            <p:nvPr/>
          </p:nvSpPr>
          <p:spPr>
            <a:xfrm>
              <a:off x="4892040" y="1691640"/>
              <a:ext cx="6613855" cy="91440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892040" y="1691640"/>
              <a:ext cx="64008" cy="91440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5166359" y="1837944"/>
              <a:ext cx="621792" cy="621792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166359" y="1837944"/>
              <a:ext cx="621792" cy="62179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C4A857"/>
                  </a:solidFill>
                  <a:latin typeface="Oswald"/>
                </a:rPr>
                <a:t>A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035040" y="1801368"/>
              <a:ext cx="5287975" cy="43891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Un solo viaje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035040" y="2240280"/>
              <a:ext cx="5287975" cy="31089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0" i="0">
                  <a:solidFill>
                    <a:srgbClr val="B9C2DC"/>
                  </a:solidFill>
                  <a:latin typeface="Open Sans"/>
                </a:rPr>
                <a:t>Flota propia: todo en un recorrido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892040" y="2770632"/>
            <a:ext cx="6613855" cy="914400"/>
            <a:chOff x="4892040" y="2770632"/>
            <a:chExt cx="6613855" cy="914400"/>
          </a:xfrm>
        </p:grpSpPr>
        <p:sp>
          <p:nvSpPr>
            <p:cNvPr id="30" name="Rectangle 29"/>
            <p:cNvSpPr/>
            <p:nvPr/>
          </p:nvSpPr>
          <p:spPr>
            <a:xfrm>
              <a:off x="4892040" y="2770632"/>
              <a:ext cx="6613855" cy="91440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892040" y="2770632"/>
              <a:ext cx="64008" cy="91440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5166359" y="2916936"/>
              <a:ext cx="621792" cy="621792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166359" y="2916936"/>
              <a:ext cx="621792" cy="62179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C4A857"/>
                  </a:solidFill>
                  <a:latin typeface="Oswald"/>
                </a:rPr>
                <a:t>B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035040" y="2880360"/>
              <a:ext cx="5287975" cy="43891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Los críticos primero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35040" y="3319272"/>
              <a:ext cx="5287975" cy="31089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0" i="0">
                  <a:solidFill>
                    <a:srgbClr val="B9C2DC"/>
                  </a:solidFill>
                  <a:latin typeface="Open Sans"/>
                </a:rPr>
                <a:t>Flota propia: lo crítico sale en el primer turno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892040" y="3849624"/>
            <a:ext cx="6613855" cy="914400"/>
            <a:chOff x="4892040" y="3849624"/>
            <a:chExt cx="6613855" cy="914400"/>
          </a:xfrm>
        </p:grpSpPr>
        <p:sp>
          <p:nvSpPr>
            <p:cNvPr id="37" name="Rectangle 36"/>
            <p:cNvSpPr/>
            <p:nvPr/>
          </p:nvSpPr>
          <p:spPr>
            <a:xfrm>
              <a:off x="4892040" y="3849624"/>
              <a:ext cx="6613855" cy="91440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892040" y="3849624"/>
              <a:ext cx="64008" cy="91440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5166359" y="3995928"/>
              <a:ext cx="621792" cy="621792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166359" y="3995928"/>
              <a:ext cx="621792" cy="62179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C4A857"/>
                  </a:solidFill>
                  <a:latin typeface="Oswald"/>
                </a:rPr>
                <a:t>C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35040" y="3959352"/>
              <a:ext cx="5287975" cy="43891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Operador contratado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035040" y="4398264"/>
              <a:ext cx="5287975" cy="31089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0" i="0">
                  <a:solidFill>
                    <a:srgbClr val="B9C2DC"/>
                  </a:solidFill>
                  <a:latin typeface="Open Sans"/>
                </a:rPr>
                <a:t>Un transportista externo cubre todo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85800" y="5138928"/>
            <a:ext cx="10820095" cy="877824"/>
            <a:chOff x="685800" y="5138928"/>
            <a:chExt cx="10820095" cy="877824"/>
          </a:xfrm>
        </p:grpSpPr>
        <p:sp>
          <p:nvSpPr>
            <p:cNvPr id="44" name="Rectangle 43"/>
            <p:cNvSpPr/>
            <p:nvPr/>
          </p:nvSpPr>
          <p:spPr>
            <a:xfrm>
              <a:off x="685800" y="5138928"/>
              <a:ext cx="10820095" cy="87782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05840" y="5138928"/>
              <a:ext cx="6583680" cy="87782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1" i="0">
                  <a:solidFill>
                    <a:srgbClr val="162451"/>
                  </a:solidFill>
                  <a:latin typeface="Open Sans"/>
                </a:rPr>
                <a:t>Hoy se decide mirando kilómetros. </a:t>
              </a:r>
              <a:r>
                <a:rPr sz="1600" b="0" i="0">
                  <a:solidFill>
                    <a:srgbClr val="162451"/>
                  </a:solidFill>
                  <a:latin typeface="Open Sans"/>
                </a:rPr>
                <a:t>Lo que cuesta de verdad: personal, combustible, descarga y producto que se daña.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818120" y="5138928"/>
              <a:ext cx="3413455" cy="87782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3400" b="1" i="0">
                  <a:solidFill>
                    <a:srgbClr val="162451"/>
                  </a:solidFill>
                  <a:latin typeface="Oswald"/>
                </a:rPr>
                <a:t>¿Cuál conviene?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5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03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PROTOTIPO / DEMO · DETECTAR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El aviso llega antes que la llamada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pantalla Monitoreo de cobertura de stock (captura del 17-oct); cálculo de cobertura A-04. Datos sintéticos.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12648" y="1724621"/>
            <a:ext cx="7735824" cy="4094557"/>
            <a:chOff x="612648" y="1724621"/>
            <a:chExt cx="7735824" cy="4094557"/>
          </a:xfrm>
        </p:grpSpPr>
        <p:sp>
          <p:nvSpPr>
            <p:cNvPr id="12" name="Rectangle 11"/>
            <p:cNvSpPr/>
            <p:nvPr/>
          </p:nvSpPr>
          <p:spPr>
            <a:xfrm>
              <a:off x="612648" y="1724621"/>
              <a:ext cx="7735824" cy="40488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BEA"/>
              </a:solidFill>
            </a:ln>
            <a:effectLst>
              <a:outerShdw blurRad="152400" dist="50800" dir="5400000" algn="t" rotWithShape="0">
                <a:srgbClr val="162451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" name="Picture 12" descr="alertas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1797773"/>
              <a:ext cx="7589520" cy="3902533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612648" y="5773458"/>
              <a:ext cx="7735824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641080" y="1691640"/>
            <a:ext cx="2864815" cy="2880360"/>
            <a:chOff x="8641080" y="1691640"/>
            <a:chExt cx="2864815" cy="2880360"/>
          </a:xfrm>
        </p:grpSpPr>
        <p:sp>
          <p:nvSpPr>
            <p:cNvPr id="16" name="Rectangle 15"/>
            <p:cNvSpPr/>
            <p:nvPr/>
          </p:nvSpPr>
          <p:spPr>
            <a:xfrm>
              <a:off x="8641080" y="1691640"/>
              <a:ext cx="2864815" cy="288036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641080" y="1691640"/>
              <a:ext cx="2864815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15400" y="1984248"/>
              <a:ext cx="2316175" cy="78017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242D57"/>
                  </a:solidFill>
                  <a:latin typeface="Oswald"/>
                </a:rPr>
                <a:t>Monitoreo de cobertura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915400" y="2837578"/>
              <a:ext cx="2316175" cy="155154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5B6585"/>
                  </a:solidFill>
                  <a:latin typeface="Open Sans"/>
                </a:rPr>
                <a:t>Cada punto con sus días de cobertura, su nivel de riesgo y la cantidad sugerida para reponer.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641080" y="4754880"/>
            <a:ext cx="2864815" cy="1051560"/>
            <a:chOff x="8641080" y="4754880"/>
            <a:chExt cx="2864815" cy="1051560"/>
          </a:xfrm>
        </p:grpSpPr>
        <p:sp>
          <p:nvSpPr>
            <p:cNvPr id="21" name="Rectangle 20"/>
            <p:cNvSpPr/>
            <p:nvPr/>
          </p:nvSpPr>
          <p:spPr>
            <a:xfrm>
              <a:off x="8641080" y="4754880"/>
              <a:ext cx="2864815" cy="105156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41080" y="4754880"/>
              <a:ext cx="64008" cy="10515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915400" y="4754880"/>
              <a:ext cx="2453335" cy="10515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Open Sans"/>
                </a:rPr>
                <a:t>El planificador sabe qué punto atender primero.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04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ANEXO 5.7 · PROTOTIPO / DEMO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La más barata no fue la mejor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ensayo técnico #285 (PR #295, 1585ab7), 02-suggest-pitch-abc.json · demo-quito-planificacion, corrida local 17-oct · 4 pedidos, 6 entregas críticas, 55,9 km · diésel USD 3,11/gal (Primicias, 12-oct) · matriz P-02.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536192"/>
            <a:ext cx="7909559" cy="310896"/>
            <a:chOff x="685800" y="1536192"/>
            <a:chExt cx="7909559" cy="310896"/>
          </a:xfrm>
        </p:grpSpPr>
        <p:sp>
          <p:nvSpPr>
            <p:cNvPr id="12" name="Rounded Rectangle 11"/>
            <p:cNvSpPr/>
            <p:nvPr/>
          </p:nvSpPr>
          <p:spPr>
            <a:xfrm>
              <a:off x="685800" y="1536192"/>
              <a:ext cx="1992954" cy="310896"/>
            </a:xfrm>
            <a:prstGeom prst="roundRect">
              <a:avLst>
                <a:gd name="adj" fmla="val 50000"/>
              </a:avLst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5800" y="1536192"/>
              <a:ext cx="1992954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1" i="0" spc="100">
                  <a:solidFill>
                    <a:srgbClr val="162451"/>
                  </a:solidFill>
                  <a:latin typeface="Open Sans"/>
                </a:rPr>
                <a:t>DATOS SINTÉTICOS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61634" y="1536192"/>
              <a:ext cx="5733725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>
                  <a:solidFill>
                    <a:srgbClr val="5B6585"/>
                  </a:solidFill>
                  <a:latin typeface="Open Sans"/>
                </a:rPr>
                <a:t>Ensayo técnico del motor · escenario sintético de Quito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85800" y="2011680"/>
            <a:ext cx="7772400" cy="603504"/>
            <a:chOff x="685800" y="2011680"/>
            <a:chExt cx="7772400" cy="603504"/>
          </a:xfrm>
        </p:grpSpPr>
        <p:sp>
          <p:nvSpPr>
            <p:cNvPr id="16" name="Rectangle 15"/>
            <p:cNvSpPr/>
            <p:nvPr/>
          </p:nvSpPr>
          <p:spPr>
            <a:xfrm>
              <a:off x="685800" y="2011680"/>
              <a:ext cx="2240280" cy="603504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77240" y="2011680"/>
              <a:ext cx="20574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242D57"/>
                  </a:solidFill>
                  <a:latin typeface="Oswald"/>
                </a:rPr>
                <a:t/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926080" y="2011680"/>
              <a:ext cx="1783080" cy="603504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017520" y="2011680"/>
              <a:ext cx="16002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FFFFFF"/>
                  </a:solidFill>
                  <a:latin typeface="Oswald"/>
                </a:rPr>
                <a:t>A · Flota propia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709160" y="2011680"/>
              <a:ext cx="1783080" cy="603504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800600" y="2011680"/>
              <a:ext cx="16002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FFFFFF"/>
                  </a:solidFill>
                  <a:latin typeface="Oswald"/>
                </a:rPr>
                <a:t>B · Propia, críticos primero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492240" y="2011680"/>
              <a:ext cx="1965960" cy="60350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583680" y="2011680"/>
              <a:ext cx="178308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162451"/>
                  </a:solidFill>
                  <a:latin typeface="Oswald"/>
                </a:rPr>
                <a:t>C · Operador contratado</a:t>
              </a:r>
            </a:p>
          </p:txBody>
        </p:sp>
      </p:grpSp>
      <p:pic>
        <p:nvPicPr>
          <p:cNvPr id="24" name="Picture 23" descr="chillo-medio-cuer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804013"/>
            <a:ext cx="2377440" cy="305398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685800" y="2615184"/>
            <a:ext cx="7772400" cy="457200"/>
            <a:chOff x="685800" y="2615184"/>
            <a:chExt cx="7772400" cy="457200"/>
          </a:xfrm>
        </p:grpSpPr>
        <p:sp>
          <p:nvSpPr>
            <p:cNvPr id="26" name="Rectangle 25"/>
            <p:cNvSpPr/>
            <p:nvPr/>
          </p:nvSpPr>
          <p:spPr>
            <a:xfrm>
              <a:off x="685800" y="2615184"/>
              <a:ext cx="22402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68680" y="2615184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Críticos a tiempo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926080" y="26151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17520" y="26151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83 % (5 de 6)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709160" y="26151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800600" y="26151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100 % (6 de 6)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492240" y="2615184"/>
              <a:ext cx="1965960" cy="457200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583680" y="2615184"/>
              <a:ext cx="17830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7D6520"/>
                  </a:solidFill>
                  <a:latin typeface="Oswald"/>
                </a:rPr>
                <a:t>100 % (6 de 6)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85800" y="3061411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85800" y="3072384"/>
            <a:ext cx="7772400" cy="457200"/>
            <a:chOff x="685800" y="3072384"/>
            <a:chExt cx="7772400" cy="457200"/>
          </a:xfrm>
        </p:grpSpPr>
        <p:sp>
          <p:nvSpPr>
            <p:cNvPr id="36" name="Rectangle 35"/>
            <p:cNvSpPr/>
            <p:nvPr/>
          </p:nvSpPr>
          <p:spPr>
            <a:xfrm>
              <a:off x="685800" y="3072384"/>
              <a:ext cx="2240280" cy="457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68680" y="3072384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Costo frente a A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926080" y="3072384"/>
              <a:ext cx="1783080" cy="457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17520" y="30723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base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709160" y="3072384"/>
              <a:ext cx="1783080" cy="457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800600" y="30723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+20,7 %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492240" y="3072384"/>
              <a:ext cx="1965960" cy="457200"/>
            </a:xfrm>
            <a:prstGeom prst="rect">
              <a:avLst/>
            </a:prstGeom>
            <a:solidFill>
              <a:srgbClr val="F1E8C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583680" y="3072384"/>
              <a:ext cx="17830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7D6520"/>
                  </a:solidFill>
                  <a:latin typeface="Oswald"/>
                </a:rPr>
                <a:t>+15,6 %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85800" y="3518611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85800" y="3529584"/>
            <a:ext cx="7772400" cy="457200"/>
            <a:chOff x="685800" y="3529584"/>
            <a:chExt cx="7772400" cy="457200"/>
          </a:xfrm>
        </p:grpSpPr>
        <p:sp>
          <p:nvSpPr>
            <p:cNvPr id="46" name="Rectangle 45"/>
            <p:cNvSpPr/>
            <p:nvPr/>
          </p:nvSpPr>
          <p:spPr>
            <a:xfrm>
              <a:off x="685800" y="3529584"/>
              <a:ext cx="22402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68680" y="3529584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Puntaje del motor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926080" y="35295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017520" y="35295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81,7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709160" y="35295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800600" y="35295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89,1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492240" y="3529584"/>
              <a:ext cx="1965960" cy="457200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583680" y="3529584"/>
              <a:ext cx="17830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7D6520"/>
                  </a:solidFill>
                  <a:latin typeface="Oswald"/>
                </a:rPr>
                <a:t>90,8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85800" y="3975811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685800" y="3986784"/>
            <a:ext cx="7772400" cy="585216"/>
            <a:chOff x="685800" y="3986784"/>
            <a:chExt cx="7772400" cy="585216"/>
          </a:xfrm>
        </p:grpSpPr>
        <p:sp>
          <p:nvSpPr>
            <p:cNvPr id="56" name="Rectangle 55"/>
            <p:cNvSpPr/>
            <p:nvPr/>
          </p:nvSpPr>
          <p:spPr>
            <a:xfrm>
              <a:off x="685800" y="3986784"/>
              <a:ext cx="224028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68680" y="3986784"/>
              <a:ext cx="201168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Costo total estimado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2926080" y="3986784"/>
              <a:ext cx="178308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017520" y="3986784"/>
              <a:ext cx="160020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USD 57,89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709160" y="3986784"/>
              <a:ext cx="178308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800600" y="3986784"/>
              <a:ext cx="160020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USD 69,89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492240" y="3986784"/>
              <a:ext cx="196596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583680" y="3986784"/>
              <a:ext cx="178308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7D6520"/>
                  </a:solidFill>
                  <a:latin typeface="Oswald"/>
                </a:rPr>
                <a:t>USD 66,90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85800" y="4561027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85800" y="3986784"/>
              <a:ext cx="7772400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492240" y="2011680"/>
            <a:ext cx="1965960" cy="2560320"/>
          </a:xfrm>
          <a:prstGeom prst="rect">
            <a:avLst/>
          </a:prstGeom>
          <a:noFill/>
          <a:ln w="38100">
            <a:solidFill>
              <a:srgbClr val="C4A857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7" name="Group 66"/>
          <p:cNvGrpSpPr/>
          <p:nvPr/>
        </p:nvGrpSpPr>
        <p:grpSpPr>
          <a:xfrm>
            <a:off x="685800" y="4773168"/>
            <a:ext cx="7909560" cy="658368"/>
            <a:chOff x="685800" y="4773168"/>
            <a:chExt cx="7909560" cy="658368"/>
          </a:xfrm>
        </p:grpSpPr>
        <p:sp>
          <p:nvSpPr>
            <p:cNvPr id="68" name="Rectangle 67"/>
            <p:cNvSpPr/>
            <p:nvPr/>
          </p:nvSpPr>
          <p:spPr>
            <a:xfrm>
              <a:off x="685800" y="4773168"/>
              <a:ext cx="7909560" cy="658368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85800" y="4773168"/>
              <a:ext cx="54864" cy="658368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86968" y="4773168"/>
              <a:ext cx="7589520" cy="6583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250" b="1" i="0">
                  <a:solidFill>
                    <a:srgbClr val="242D57"/>
                  </a:solidFill>
                  <a:latin typeface="Open Sans"/>
                </a:rPr>
                <a:t>Recomendación del motor: C. Por un 15,6 % más que A, cumple el 100 % de los críticos; frente a B, que también cumple, cuesta un 4,3 % menos. </a:t>
              </a:r>
              <a:r>
                <a:rPr sz="1250" b="0" i="0">
                  <a:solidFill>
                    <a:srgbClr val="242D57"/>
                  </a:solidFill>
                  <a:latin typeface="Open Sans"/>
                </a:rPr>
                <a:t>La más barata no siempre es la mejor. El planificador decide.</a:t>
              </a:r>
            </a:p>
          </p:txBody>
        </p:sp>
      </p:grpSp>
      <p:sp>
        <p:nvSpPr>
          <p:cNvPr id="71" name="Rounded Rectangular Callout 70"/>
          <p:cNvSpPr/>
          <p:nvPr/>
        </p:nvSpPr>
        <p:spPr>
          <a:xfrm>
            <a:off x="8759952" y="2395728"/>
            <a:ext cx="3200400" cy="914400"/>
          </a:xfrm>
          <a:prstGeom prst="wedgeRoundRectCallout">
            <a:avLst>
              <a:gd name="adj1" fmla="val 11999"/>
              <a:gd name="adj2" fmla="val 97999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Una ruta no es solo kilómetros: también es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quien descarga</a:t>
            </a:r>
            <a:r>
              <a:rPr sz="1400" b="1" i="0">
                <a:solidFill>
                  <a:srgbClr val="242D57"/>
                </a:solidFill>
                <a:latin typeface="Open Sans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71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05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PROTOTIPO / DEMO · ENTREGAR Y PROBAR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Elegida la opción: ruta aprobada y entrega con prueba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pantallas Planificar rutas, Rutas y Novedades de campo (capturas del 17-oct); escenario sintético de Quito, Bodega Sur · VEH-02. Sin tráfico en vivo; el impacto de reentrada es una estimación del sistema.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12648" y="1618488"/>
            <a:ext cx="5266944" cy="3268772"/>
            <a:chOff x="612648" y="1618488"/>
            <a:chExt cx="5266944" cy="3268772"/>
          </a:xfrm>
        </p:grpSpPr>
        <p:sp>
          <p:nvSpPr>
            <p:cNvPr id="12" name="Rectangle 11"/>
            <p:cNvSpPr/>
            <p:nvPr/>
          </p:nvSpPr>
          <p:spPr>
            <a:xfrm>
              <a:off x="612648" y="1618488"/>
              <a:ext cx="5266944" cy="32230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BEA"/>
              </a:solidFill>
            </a:ln>
            <a:effectLst>
              <a:outerShdw blurRad="152400" dist="50800" dir="5400000" algn="t" rotWithShape="0">
                <a:srgbClr val="162451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" name="Picture 12" descr="ruta-paso2.gi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1691640"/>
              <a:ext cx="5120640" cy="3076748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612648" y="4841540"/>
              <a:ext cx="5266944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344164" y="1618488"/>
            <a:ext cx="4989766" cy="1563624"/>
            <a:chOff x="6344164" y="1618488"/>
            <a:chExt cx="4989766" cy="1563624"/>
          </a:xfrm>
        </p:grpSpPr>
        <p:sp>
          <p:nvSpPr>
            <p:cNvPr id="16" name="Rectangle 15"/>
            <p:cNvSpPr/>
            <p:nvPr/>
          </p:nvSpPr>
          <p:spPr>
            <a:xfrm>
              <a:off x="6344164" y="1618488"/>
              <a:ext cx="4989766" cy="15179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BEA"/>
              </a:solidFill>
            </a:ln>
            <a:effectLst>
              <a:outerShdw blurRad="152400" dist="50800" dir="5400000" algn="t" rotWithShape="0">
                <a:srgbClr val="162451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7" name="Picture 16" descr="ruta-seguimiento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17316" y="1691640"/>
              <a:ext cx="4843462" cy="137160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6344164" y="3136392"/>
              <a:ext cx="4989766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776406" y="3172968"/>
            <a:ext cx="4125283" cy="2020824"/>
            <a:chOff x="6776406" y="3172968"/>
            <a:chExt cx="4125283" cy="2020824"/>
          </a:xfrm>
        </p:grpSpPr>
        <p:sp>
          <p:nvSpPr>
            <p:cNvPr id="20" name="Rectangle 19"/>
            <p:cNvSpPr/>
            <p:nvPr/>
          </p:nvSpPr>
          <p:spPr>
            <a:xfrm>
              <a:off x="6776406" y="3172968"/>
              <a:ext cx="4125283" cy="19751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BEA"/>
              </a:solidFill>
            </a:ln>
            <a:effectLst>
              <a:outerShdw blurRad="152400" dist="50800" dir="5400000" algn="t" rotWithShape="0">
                <a:srgbClr val="162451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1" name="Picture 20" descr="novedades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49558" y="3246120"/>
              <a:ext cx="3978979" cy="1828800"/>
            </a:xfrm>
            <a:prstGeom prst="rect">
              <a:avLst/>
            </a:prstGeom>
          </p:spPr>
        </p:pic>
        <p:sp>
          <p:nvSpPr>
            <p:cNvPr id="22" name="Rectangle 21"/>
            <p:cNvSpPr/>
            <p:nvPr/>
          </p:nvSpPr>
          <p:spPr>
            <a:xfrm>
              <a:off x="6776406" y="5148072"/>
              <a:ext cx="4125283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85800" y="5486400"/>
            <a:ext cx="10820095" cy="566928"/>
            <a:chOff x="685800" y="5486400"/>
            <a:chExt cx="10820095" cy="566928"/>
          </a:xfrm>
        </p:grpSpPr>
        <p:sp>
          <p:nvSpPr>
            <p:cNvPr id="24" name="Rectangle 23"/>
            <p:cNvSpPr/>
            <p:nvPr/>
          </p:nvSpPr>
          <p:spPr>
            <a:xfrm>
              <a:off x="685800" y="5486400"/>
              <a:ext cx="10820095" cy="566928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85800" y="5486400"/>
              <a:ext cx="64008" cy="566928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60120" y="5486400"/>
              <a:ext cx="10408615" cy="56692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Open Sans"/>
                </a:rPr>
                <a:t>Cada caja viaja con QR y cada rechazo queda con su motivo.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06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INNOVACIÓN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A la entrega le ponemos costo completo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matriz A-02 (hipótesis del sector), A-06, A-08, A-10, A-11 y A-12 (run n8n 292, respaldo sin IA). Lo del sector es lo que escuchamos, no una medición.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645920"/>
            <a:ext cx="5227167" cy="2514600"/>
            <a:chOff x="685800" y="1645920"/>
            <a:chExt cx="5227167" cy="2514600"/>
          </a:xfrm>
        </p:grpSpPr>
        <p:sp>
          <p:nvSpPr>
            <p:cNvPr id="12" name="Rectangle 11"/>
            <p:cNvSpPr/>
            <p:nvPr/>
          </p:nvSpPr>
          <p:spPr>
            <a:xfrm>
              <a:off x="685800" y="1645920"/>
              <a:ext cx="5227167" cy="25146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1645920"/>
              <a:ext cx="522716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0120" y="1938528"/>
              <a:ext cx="4678527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242D57"/>
                  </a:solidFill>
                  <a:latin typeface="Oswald"/>
                </a:rPr>
                <a:t>Lo que escuchamos en el sector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2410913"/>
              <a:ext cx="4678527" cy="156672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5B6585"/>
                  </a:solidFill>
                  <a:latin typeface="Open Sans"/>
                </a:rPr>
                <a:t>Se repone por calendario o por urgencia.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5B6585"/>
                  </a:solidFill>
                  <a:latin typeface="Open Sans"/>
                </a:rPr>
                <a:t>La entrega se decide mirando kilómetros.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5B6585"/>
                  </a:solidFill>
                  <a:latin typeface="Open Sans"/>
                </a:rPr>
                <a:t>Nadie puede probar qué se entregó.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278727" y="1645920"/>
            <a:ext cx="5227167" cy="2514600"/>
            <a:chOff x="6278727" y="1645920"/>
            <a:chExt cx="5227167" cy="2514600"/>
          </a:xfrm>
        </p:grpSpPr>
        <p:sp>
          <p:nvSpPr>
            <p:cNvPr id="17" name="Rectangle 16"/>
            <p:cNvSpPr/>
            <p:nvPr/>
          </p:nvSpPr>
          <p:spPr>
            <a:xfrm>
              <a:off x="6278727" y="1645920"/>
              <a:ext cx="5227167" cy="251460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278727" y="1645920"/>
              <a:ext cx="522716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53047" y="1938528"/>
              <a:ext cx="4678527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Con IstpetDev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53047" y="2410913"/>
              <a:ext cx="4678527" cy="156672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B9C2DC"/>
                  </a:solidFill>
                  <a:latin typeface="Open Sans"/>
                </a:rPr>
                <a:t>Avisa antes de que el cliente llame.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B9C2DC"/>
                  </a:solidFill>
                  <a:latin typeface="Open Sans"/>
                </a:rPr>
                <a:t>Decide con costo completo: personal, combustible, descarga y merma.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B9C2DC"/>
                  </a:solidFill>
                  <a:latin typeface="Open Sans"/>
                </a:rPr>
                <a:t>Deja la entrega comprobable, caja por caja.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85800" y="4434840"/>
            <a:ext cx="10820095" cy="1417320"/>
            <a:chOff x="685800" y="4434840"/>
            <a:chExt cx="10820095" cy="1417320"/>
          </a:xfrm>
        </p:grpSpPr>
        <p:sp>
          <p:nvSpPr>
            <p:cNvPr id="22" name="Rectangle 21"/>
            <p:cNvSpPr/>
            <p:nvPr/>
          </p:nvSpPr>
          <p:spPr>
            <a:xfrm>
              <a:off x="685800" y="4434840"/>
              <a:ext cx="10820095" cy="141732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85800" y="4434840"/>
              <a:ext cx="64008" cy="1417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51560" y="4617720"/>
              <a:ext cx="10088575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800" b="1" i="0">
                  <a:solidFill>
                    <a:srgbClr val="FFFFFF"/>
                  </a:solidFill>
                  <a:latin typeface="Oswald"/>
                </a:rPr>
                <a:t>El motor calcula, </a:t>
              </a:r>
              <a:r>
                <a:rPr sz="2800" b="1" i="0">
                  <a:solidFill>
                    <a:srgbClr val="E6D7A3"/>
                  </a:solidFill>
                  <a:latin typeface="Oswald"/>
                </a:rPr>
                <a:t>la IA explica, </a:t>
              </a:r>
              <a:r>
                <a:rPr sz="2800" b="1" i="0">
                  <a:solidFill>
                    <a:srgbClr val="FFFFFF"/>
                  </a:solidFill>
                  <a:latin typeface="Oswald"/>
                </a:rPr>
                <a:t>la persona decide.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51560" y="5212079"/>
              <a:ext cx="10088575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Mismos datos, mismo resultado. La IA no inventa cifras y, si falla, hay una explicación de respaldo.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07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VALIDACIÓN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Lo que hay, sin humo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matriz de afirmaciones P-02, P-04, P-05, A-03, A-11, A-12, A-13, A-15, A-21 y #198. Escenario sintético de Quito: 40 puntos, no son clientes.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691640"/>
            <a:ext cx="3423818" cy="3383280"/>
            <a:chOff x="685800" y="1691640"/>
            <a:chExt cx="3423818" cy="3383280"/>
          </a:xfrm>
        </p:grpSpPr>
        <p:sp>
          <p:nvSpPr>
            <p:cNvPr id="12" name="Rectangle 11"/>
            <p:cNvSpPr/>
            <p:nvPr/>
          </p:nvSpPr>
          <p:spPr>
            <a:xfrm>
              <a:off x="685800" y="1691640"/>
              <a:ext cx="3423818" cy="338328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1691640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0120" y="1920240"/>
              <a:ext cx="2875178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 i="0" spc="120">
                  <a:solidFill>
                    <a:srgbClr val="C4A857"/>
                  </a:solidFill>
                  <a:latin typeface="Oswald"/>
                </a:rPr>
                <a:t>CONSTRUIDO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2560320"/>
              <a:ext cx="2875178" cy="24231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Inventario con alertas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Motor de rutas y costo de servir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Agente IA con n8n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Custodia con QR y captura sin señal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383938" y="1691640"/>
            <a:ext cx="3423818" cy="3383280"/>
            <a:chOff x="4383938" y="1691640"/>
            <a:chExt cx="3423818" cy="3383280"/>
          </a:xfrm>
        </p:grpSpPr>
        <p:sp>
          <p:nvSpPr>
            <p:cNvPr id="17" name="Rectangle 16"/>
            <p:cNvSpPr/>
            <p:nvPr/>
          </p:nvSpPr>
          <p:spPr>
            <a:xfrm>
              <a:off x="4383938" y="1691640"/>
              <a:ext cx="3423818" cy="338328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383938" y="1691640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58258" y="1920240"/>
              <a:ext cx="2875178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 i="0" spc="120">
                  <a:solidFill>
                    <a:srgbClr val="C4A857"/>
                  </a:solidFill>
                  <a:latin typeface="Oswald"/>
                </a:rPr>
                <a:t>PROBADO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58258" y="2560320"/>
              <a:ext cx="2875178" cy="24231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Motor y comparación A/B/C en un ensayo técnico con escenario sintético de Quito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Corrida registrada del agente, incluida su caída al respaldo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8082076" y="1691640"/>
            <a:ext cx="3423818" cy="3383280"/>
            <a:chOff x="8082076" y="1691640"/>
            <a:chExt cx="3423818" cy="3383280"/>
          </a:xfrm>
        </p:grpSpPr>
        <p:sp>
          <p:nvSpPr>
            <p:cNvPr id="22" name="Rectangle 21"/>
            <p:cNvSpPr/>
            <p:nvPr/>
          </p:nvSpPr>
          <p:spPr>
            <a:xfrm>
              <a:off x="8082076" y="1691640"/>
              <a:ext cx="3423818" cy="3383280"/>
            </a:xfrm>
            <a:prstGeom prst="rect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082076" y="1691640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356396" y="1920240"/>
              <a:ext cx="2875178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 i="0" spc="120">
                  <a:solidFill>
                    <a:srgbClr val="E6D7A3"/>
                  </a:solidFill>
                  <a:latin typeface="Oswald"/>
                </a:rPr>
                <a:t>FALTA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356396" y="2560320"/>
              <a:ext cx="2875178" cy="24231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Ensayar el recorrido en teléfono sin señal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Llevar la comparación A/B/C a producción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Medir con datos de una empresa real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85800" y="530352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1">
                <a:solidFill>
                  <a:srgbClr val="E6D7A3"/>
                </a:solidFill>
                <a:latin typeface="Open Sans"/>
              </a:rPr>
              <a:t>Preferimos mostrar lo que funciona de verdad que prometer lo que no hemos medido.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08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IMPACTO Y MODELO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Lo medimos en un piloto, contra una línea base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matriz A-21 (sin ahorro prometido), A-26 y A-30 (costo y precio por validar), A-31 (modelo), P-07 (indicadores en curso). Propuestas sujetas a validación.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645920"/>
            <a:ext cx="6583680" cy="1261872"/>
            <a:chOff x="685800" y="1645920"/>
            <a:chExt cx="6583680" cy="1261872"/>
          </a:xfrm>
        </p:grpSpPr>
        <p:sp>
          <p:nvSpPr>
            <p:cNvPr id="12" name="Rectangle 11"/>
            <p:cNvSpPr/>
            <p:nvPr/>
          </p:nvSpPr>
          <p:spPr>
            <a:xfrm>
              <a:off x="685800" y="1645920"/>
              <a:ext cx="6583680" cy="1261872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1645920"/>
              <a:ext cx="658368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46520" y="188366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7D6520"/>
                  </a:solidFill>
                  <a:latin typeface="Oswald"/>
                </a:rPr>
                <a:t>01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1938528"/>
              <a:ext cx="5394960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242D57"/>
                  </a:solidFill>
                  <a:latin typeface="Oswald"/>
                </a:rPr>
                <a:t>Faltantes que se descubren tarde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0120" y="2393597"/>
              <a:ext cx="6035040" cy="33131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5B6585"/>
                  </a:solidFill>
                  <a:latin typeface="Open Sans"/>
                </a:rPr>
                <a:t>Menos quiebres que llegan por llamada del cliente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85800" y="3063239"/>
            <a:ext cx="6583680" cy="1261872"/>
            <a:chOff x="685800" y="3063239"/>
            <a:chExt cx="6583680" cy="1261872"/>
          </a:xfrm>
        </p:grpSpPr>
        <p:sp>
          <p:nvSpPr>
            <p:cNvPr id="18" name="Rectangle 17"/>
            <p:cNvSpPr/>
            <p:nvPr/>
          </p:nvSpPr>
          <p:spPr>
            <a:xfrm>
              <a:off x="685800" y="3063239"/>
              <a:ext cx="6583680" cy="1261872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5800" y="3063239"/>
              <a:ext cx="658368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46520" y="3300983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7D6520"/>
                  </a:solidFill>
                  <a:latin typeface="Oswald"/>
                </a:rPr>
                <a:t>02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60120" y="3355847"/>
              <a:ext cx="5394960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242D57"/>
                  </a:solidFill>
                  <a:latin typeface="Oswald"/>
                </a:rPr>
                <a:t>Entregas críticas a tiempo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60120" y="3810917"/>
              <a:ext cx="6035040" cy="33131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5B6585"/>
                  </a:solidFill>
                  <a:latin typeface="Open Sans"/>
                </a:rPr>
                <a:t>Cuántas llegan dentro de la ventana acordada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85800" y="4480559"/>
            <a:ext cx="6583680" cy="1261872"/>
            <a:chOff x="685800" y="4480559"/>
            <a:chExt cx="6583680" cy="1261872"/>
          </a:xfrm>
        </p:grpSpPr>
        <p:sp>
          <p:nvSpPr>
            <p:cNvPr id="24" name="Rectangle 23"/>
            <p:cNvSpPr/>
            <p:nvPr/>
          </p:nvSpPr>
          <p:spPr>
            <a:xfrm>
              <a:off x="685800" y="4480559"/>
              <a:ext cx="6583680" cy="1261872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85800" y="4480559"/>
              <a:ext cx="658368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46520" y="471830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7D6520"/>
                  </a:solidFill>
                  <a:latin typeface="Oswald"/>
                </a:rPr>
                <a:t>03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60120" y="4773168"/>
              <a:ext cx="5394960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242D57"/>
                  </a:solidFill>
                  <a:latin typeface="Oswald"/>
                </a:rPr>
                <a:t>Costo real de cada entrega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60120" y="5228237"/>
              <a:ext cx="6035040" cy="33131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5B6585"/>
                  </a:solidFill>
                  <a:latin typeface="Open Sans"/>
                </a:rPr>
                <a:t>Con su desglose, antes y después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7635240" y="1645920"/>
            <a:ext cx="3870655" cy="4151376"/>
            <a:chOff x="7635240" y="1645920"/>
            <a:chExt cx="3870655" cy="4151376"/>
          </a:xfrm>
        </p:grpSpPr>
        <p:sp>
          <p:nvSpPr>
            <p:cNvPr id="30" name="Rectangle 29"/>
            <p:cNvSpPr/>
            <p:nvPr/>
          </p:nvSpPr>
          <p:spPr>
            <a:xfrm>
              <a:off x="7635240" y="1645920"/>
              <a:ext cx="3870655" cy="4151376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635240" y="1645920"/>
              <a:ext cx="3870655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909560" y="1938528"/>
              <a:ext cx="3322015" cy="46849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Cómo llega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909560" y="2480175"/>
              <a:ext cx="3322015" cy="3134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Sin hardware nuevo: web y el teléfono del conductor.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Implementación inicial más suscripción; el precio se valida en el piloto.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Si falta un dato, dice «sin dato».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09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PRÓXIMO PASO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Un piloto con una empresa de limpieza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matriz A-21, A-32 y P-02. Propuesta sin contraparte confirmada; sujeta a validación.</a:t>
            </a:r>
          </a:p>
        </p:txBody>
      </p:sp>
      <p:pic>
        <p:nvPicPr>
          <p:cNvPr id="11" name="Picture 10" descr="chillo-cuerpo-ent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2212848"/>
            <a:ext cx="1958112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1691640"/>
            <a:ext cx="79095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B9C2DC"/>
                </a:solidFill>
                <a:latin typeface="Oswald"/>
              </a:rPr>
              <a:t>Una buena cotización suma el costo completo. </a:t>
            </a:r>
            <a:r>
              <a:rPr sz="3200" b="1" i="0">
                <a:solidFill>
                  <a:srgbClr val="C4A857"/>
                </a:solidFill>
                <a:latin typeface="Oswald"/>
              </a:rPr>
              <a:t>Nosotros se lo ponemos a la entrega.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685800" y="3520440"/>
            <a:ext cx="2484120" cy="1463040"/>
            <a:chOff x="685800" y="3520440"/>
            <a:chExt cx="2484120" cy="1463040"/>
          </a:xfrm>
        </p:grpSpPr>
        <p:sp>
          <p:nvSpPr>
            <p:cNvPr id="14" name="Rectangle 13"/>
            <p:cNvSpPr/>
            <p:nvPr/>
          </p:nvSpPr>
          <p:spPr>
            <a:xfrm>
              <a:off x="685800" y="3520440"/>
              <a:ext cx="2484120" cy="14630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85800" y="3520440"/>
              <a:ext cx="24841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46960" y="375818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0120" y="3813048"/>
              <a:ext cx="1295400" cy="36460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000" b="1" i="0">
                  <a:solidFill>
                    <a:srgbClr val="FFFFFF"/>
                  </a:solidFill>
                  <a:latin typeface="Oswald"/>
                </a:rPr>
                <a:t>Línea base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60120" y="4250801"/>
              <a:ext cx="1935480" cy="54979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 i="0">
                  <a:solidFill>
                    <a:srgbClr val="B9C2DC"/>
                  </a:solidFill>
                  <a:latin typeface="Open Sans"/>
                </a:rPr>
                <a:t>Medir el punto de partida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398520" y="3520440"/>
            <a:ext cx="2484120" cy="1463040"/>
            <a:chOff x="3398520" y="3520440"/>
            <a:chExt cx="2484120" cy="1463040"/>
          </a:xfrm>
        </p:grpSpPr>
        <p:sp>
          <p:nvSpPr>
            <p:cNvPr id="20" name="Rectangle 19"/>
            <p:cNvSpPr/>
            <p:nvPr/>
          </p:nvSpPr>
          <p:spPr>
            <a:xfrm>
              <a:off x="3398520" y="3520440"/>
              <a:ext cx="2484120" cy="14630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398520" y="3520440"/>
              <a:ext cx="24841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59680" y="375818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02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672840" y="3813048"/>
              <a:ext cx="1295400" cy="36460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000" b="1" i="0">
                  <a:solidFill>
                    <a:srgbClr val="FFFFFF"/>
                  </a:solidFill>
                  <a:latin typeface="Oswald"/>
                </a:rPr>
                <a:t>Indicadores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72840" y="4250801"/>
              <a:ext cx="1935480" cy="54979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 i="0">
                  <a:solidFill>
                    <a:srgbClr val="B9C2DC"/>
                  </a:solidFill>
                  <a:latin typeface="Open Sans"/>
                </a:rPr>
                <a:t>Acordados con la empresa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111240" y="3520440"/>
            <a:ext cx="2484120" cy="1463040"/>
            <a:chOff x="6111240" y="3520440"/>
            <a:chExt cx="2484120" cy="1463040"/>
          </a:xfrm>
        </p:grpSpPr>
        <p:sp>
          <p:nvSpPr>
            <p:cNvPr id="26" name="Rectangle 25"/>
            <p:cNvSpPr/>
            <p:nvPr/>
          </p:nvSpPr>
          <p:spPr>
            <a:xfrm>
              <a:off x="6111240" y="3520440"/>
              <a:ext cx="2484120" cy="14630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111240" y="3520440"/>
              <a:ext cx="24841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772400" y="375818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85560" y="3813048"/>
              <a:ext cx="1295400" cy="36460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000" b="1" i="0">
                  <a:solidFill>
                    <a:srgbClr val="FFFFFF"/>
                  </a:solidFill>
                  <a:latin typeface="Oswald"/>
                </a:rPr>
                <a:t>Producción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385560" y="4250801"/>
              <a:ext cx="1935480" cy="54979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 i="0">
                  <a:solidFill>
                    <a:srgbClr val="B9C2DC"/>
                  </a:solidFill>
                  <a:latin typeface="Open Sans"/>
                </a:rPr>
                <a:t>Llevar la comparación A/B/C a operación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85800" y="5120640"/>
            <a:ext cx="7909560" cy="868680"/>
            <a:chOff x="685800" y="5120640"/>
            <a:chExt cx="7909560" cy="868680"/>
          </a:xfrm>
        </p:grpSpPr>
        <p:sp>
          <p:nvSpPr>
            <p:cNvPr id="32" name="Rectangle 31"/>
            <p:cNvSpPr/>
            <p:nvPr/>
          </p:nvSpPr>
          <p:spPr>
            <a:xfrm>
              <a:off x="685800" y="5120640"/>
              <a:ext cx="7909560" cy="86868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05840" y="5120640"/>
              <a:ext cx="7269480" cy="86868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000" b="1" i="0">
                  <a:solidFill>
                    <a:srgbClr val="162451"/>
                  </a:solidFill>
                  <a:latin typeface="Open Sans"/>
                </a:rPr>
                <a:t>Buscamos una empresa de limpieza para ese piloto.</a:t>
              </a:r>
            </a:p>
          </p:txBody>
        </p:sp>
      </p:grpSp>
      <p:sp>
        <p:nvSpPr>
          <p:cNvPr id="34" name="Rounded Rectangular Callout 33"/>
          <p:cNvSpPr/>
          <p:nvPr/>
        </p:nvSpPr>
        <p:spPr>
          <a:xfrm>
            <a:off x="8759952" y="1188720"/>
            <a:ext cx="3200400" cy="914400"/>
          </a:xfrm>
          <a:prstGeom prst="wedgeRoundRectCallout">
            <a:avLst>
              <a:gd name="adj1" fmla="val 6285"/>
              <a:gd name="adj2" fmla="val 68000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¿Lo validamos juntos?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¡Kikirikí!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9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IstpetDev · Pitch Expo Clean · v6</dc:title>
  <dc:subject>Un caso, de la alerta a la decisión; guion v6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