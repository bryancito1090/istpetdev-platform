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.gif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45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tpet-log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66928"/>
            <a:ext cx="3078866" cy="1097280"/>
          </a:xfrm>
          <a:prstGeom prst="rect">
            <a:avLst/>
          </a:prstGeom>
        </p:spPr>
      </p:pic>
      <p:grpSp>
        <p:nvGrpSpPr>
          <p:cNvPr id="3" name="Group 2"/>
          <p:cNvGrpSpPr/>
          <p:nvPr/>
        </p:nvGrpSpPr>
        <p:grpSpPr>
          <a:xfrm>
            <a:off x="685800" y="2121408"/>
            <a:ext cx="7863840" cy="2651760"/>
            <a:chOff x="685800" y="2121408"/>
            <a:chExt cx="7863840" cy="2651760"/>
          </a:xfrm>
        </p:grpSpPr>
        <p:sp>
          <p:nvSpPr>
            <p:cNvPr id="4" name="Rectangle 3"/>
            <p:cNvSpPr/>
            <p:nvPr/>
          </p:nvSpPr>
          <p:spPr>
            <a:xfrm>
              <a:off x="685800" y="2121408"/>
              <a:ext cx="45720" cy="2743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41248" y="2130552"/>
              <a:ext cx="7315200" cy="2743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400" b="1" i="0" spc="200">
                  <a:solidFill>
                    <a:srgbClr val="C4A857"/>
                  </a:solidFill>
                  <a:latin typeface="Open Sans"/>
                </a:rPr>
                <a:t>OPTIMIZACIÓN Y TRAZABILIDAD LOGÍSTICA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85800" y="2487168"/>
              <a:ext cx="7863840" cy="2286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5000"/>
                </a:lnSpc>
                <a:spcAft>
                  <a:spcPts val="0"/>
                </a:spcAft>
              </a:pPr>
              <a:r>
                <a:rPr sz="4000" b="1" i="0">
                  <a:solidFill>
                    <a:srgbClr val="FFFFFF"/>
                  </a:solidFill>
                  <a:latin typeface="Oswald"/>
                </a:rPr>
                <a:t>¿Cómo se entera una empresa de limpieza de que a un hospital le falta desinfectante?</a:t>
              </a:r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685800" y="4846320"/>
            <a:ext cx="7863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0" i="0">
                <a:solidFill>
                  <a:srgbClr val="B9C2DC"/>
                </a:solidFill>
                <a:latin typeface="Open Sans"/>
              </a:rPr>
              <a:t>Cuando el hospital llama. </a:t>
            </a:r>
            <a:r>
              <a:rPr sz="2200" b="1" i="0">
                <a:solidFill>
                  <a:srgbClr val="E6D7A3"/>
                </a:solidFill>
                <a:latin typeface="Open Sans"/>
              </a:rPr>
              <a:t>Ese día ya es tarde.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685800" y="5669280"/>
            <a:ext cx="8229600" cy="841248"/>
            <a:chOff x="685800" y="5669280"/>
            <a:chExt cx="8229600" cy="841248"/>
          </a:xfrm>
        </p:grpSpPr>
        <p:sp>
          <p:nvSpPr>
            <p:cNvPr id="9" name="Rectangle 8"/>
            <p:cNvSpPr/>
            <p:nvPr/>
          </p:nvSpPr>
          <p:spPr>
            <a:xfrm>
              <a:off x="685800" y="5669280"/>
              <a:ext cx="1005840" cy="2286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85800" y="5852160"/>
              <a:ext cx="8229600" cy="32004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500" b="0" i="0">
                  <a:solidFill>
                    <a:srgbClr val="FFFFFF"/>
                  </a:solidFill>
                  <a:latin typeface="Open Sans"/>
                </a:rPr>
                <a:t>Equipo IstpetDev · Instituto Superior Tecnológico Traversari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85800" y="6236208"/>
              <a:ext cx="8229600" cy="2743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200" b="0" i="0" spc="150">
                  <a:solidFill>
                    <a:srgbClr val="B9C2DC"/>
                  </a:solidFill>
                  <a:latin typeface="Open Sans"/>
                </a:rPr>
                <a:t>HACKATHON EXPO CLEAN 2026 · RETO 1</a:t>
              </a:r>
            </a:p>
          </p:txBody>
        </p:sp>
      </p:grpSp>
      <p:pic>
        <p:nvPicPr>
          <p:cNvPr id="12" name="Picture 11" descr="chillo-cuerpo-ent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2075688"/>
            <a:ext cx="2299643" cy="4617720"/>
          </a:xfrm>
          <a:prstGeom prst="rect">
            <a:avLst/>
          </a:prstGeom>
        </p:spPr>
      </p:pic>
      <p:sp>
        <p:nvSpPr>
          <p:cNvPr id="13" name="Rounded Rectangular Callout 12"/>
          <p:cNvSpPr/>
          <p:nvPr/>
        </p:nvSpPr>
        <p:spPr>
          <a:xfrm>
            <a:off x="7315200" y="502920"/>
            <a:ext cx="4617720" cy="1097280"/>
          </a:xfrm>
          <a:prstGeom prst="wedgeRoundRectCallout">
            <a:avLst>
              <a:gd name="adj1" fmla="val 13366"/>
              <a:gd name="adj2" fmla="val 104166"/>
              <a:gd name="adj3" fmla="val 16667"/>
            </a:avLst>
          </a:prstGeom>
          <a:solidFill>
            <a:srgbClr val="FFFFFF"/>
          </a:solidFill>
          <a:ln w="12700">
            <a:solidFill>
              <a:srgbClr val="D5DBEA"/>
            </a:solidFill>
          </a:ln>
          <a:effectLst>
            <a:outerShdw blurRad="177800" dist="50800" dir="5400000" algn="t" rotWithShape="0">
              <a:srgbClr val="162451">
                <a:alpha val="30000"/>
              </a:srgbClr>
            </a:outerShdw>
          </a:effectLst>
        </p:spPr>
        <p:txBody>
          <a:bodyPr rtlCol="0" anchor="ctr" wrap="square" lIns="146304" rIns="146304" tIns="54864" bIns="54864"/>
          <a:lstStyle/>
          <a:p>
            <a:pPr algn="ctr"/>
            <a:r>
              <a:rPr sz="1500" b="1" i="0">
                <a:solidFill>
                  <a:srgbClr val="242D57"/>
                </a:solidFill>
                <a:latin typeface="Open Sans"/>
              </a:rPr>
              <a:t>¡Hola! Soy Chillo: el motor </a:t>
            </a:r>
            <a:r>
              <a:rPr sz="1500" b="1" i="0">
                <a:solidFill>
                  <a:srgbClr val="7D6520"/>
                </a:solidFill>
                <a:latin typeface="Open Sans"/>
              </a:rPr>
              <a:t>calcula y la IA explica</a:t>
            </a:r>
            <a:r>
              <a:rPr sz="1500" b="1" i="0">
                <a:solidFill>
                  <a:srgbClr val="242D57"/>
                </a:solidFill>
                <a:latin typeface="Open Sans"/>
              </a:rPr>
              <a:t> para llegar antes que la llamada.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1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50"/>
                            </p:stCondLst>
                            <p:childTnLst>
                              <p:par>
                                <p:cTn id="2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3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4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85255" y="411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 spc="100">
                <a:solidFill>
                  <a:srgbClr val="B9C2DC"/>
                </a:solidFill>
                <a:latin typeface="Open Sans"/>
              </a:rPr>
              <a:t>HACKATHON EXPO CLEAN 2026 · RETO 1 · 02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685800" y="402336"/>
            <a:ext cx="10820095" cy="1060704"/>
            <a:chOff x="685800" y="402336"/>
            <a:chExt cx="10820095" cy="1060704"/>
          </a:xfrm>
        </p:grpSpPr>
        <p:sp>
          <p:nvSpPr>
            <p:cNvPr id="4" name="Rectangle 3"/>
            <p:cNvSpPr/>
            <p:nvPr/>
          </p:nvSpPr>
          <p:spPr>
            <a:xfrm>
              <a:off x="685800" y="402336"/>
              <a:ext cx="45720" cy="2743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41248" y="411480"/>
              <a:ext cx="5852160" cy="2743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300" b="1" i="0" spc="200">
                  <a:solidFill>
                    <a:srgbClr val="C4A857"/>
                  </a:solidFill>
                  <a:latin typeface="Open Sans"/>
                </a:rPr>
                <a:t>EL CASO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85800" y="731520"/>
              <a:ext cx="10820095" cy="7315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3600" b="1" i="0">
                  <a:solidFill>
                    <a:srgbClr val="FFFFFF"/>
                  </a:solidFill>
                  <a:latin typeface="Oswald"/>
                </a:rPr>
                <a:t>Los mismos pedidos, tres maneras de atenderlos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685800" y="6217920"/>
            <a:ext cx="10820095" cy="10972"/>
          </a:xfrm>
          <a:prstGeom prst="rect">
            <a:avLst/>
          </a:prstGeom>
          <a:solidFill>
            <a:srgbClr val="2E3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istpet-log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73368"/>
            <a:ext cx="872345" cy="3108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704448" y="6355080"/>
            <a:ext cx="22860" cy="347472"/>
          </a:xfrm>
          <a:prstGeom prst="rect">
            <a:avLst/>
          </a:prstGeom>
          <a:solidFill>
            <a:srgbClr val="C4A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59897" y="6327648"/>
            <a:ext cx="964599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9C2DC"/>
                </a:solidFill>
                <a:latin typeface="Open Sans"/>
              </a:rPr>
              <a:t>Fuente: ensayo técnico del motor sobre un escenario sintético de Quito: 4 pedidos, 6 entregas críticas, opciones A, B y C. No son clientes ni operaciones medidas.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685800" y="2221992"/>
            <a:ext cx="3017520" cy="2011680"/>
            <a:chOff x="685800" y="2221992"/>
            <a:chExt cx="3017520" cy="2011680"/>
          </a:xfrm>
        </p:grpSpPr>
        <p:sp>
          <p:nvSpPr>
            <p:cNvPr id="12" name="Rectangle 11"/>
            <p:cNvSpPr/>
            <p:nvPr/>
          </p:nvSpPr>
          <p:spPr>
            <a:xfrm>
              <a:off x="685800" y="2221992"/>
              <a:ext cx="3017520" cy="2011680"/>
            </a:xfrm>
            <a:prstGeom prst="rect">
              <a:avLst/>
            </a:prstGeom>
            <a:solidFill>
              <a:srgbClr val="2E3B6E"/>
            </a:solidFill>
            <a:ln w="19050">
              <a:solidFill>
                <a:srgbClr val="C4A857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85800" y="2221992"/>
              <a:ext cx="3017520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914400" y="2404872"/>
              <a:ext cx="2560320" cy="566928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2800" b="1" i="0">
                  <a:solidFill>
                    <a:srgbClr val="C4A857"/>
                  </a:solidFill>
                  <a:latin typeface="Oswald"/>
                </a:rPr>
                <a:t>4 pedidos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914400" y="2999232"/>
              <a:ext cx="2560320" cy="109728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300"/>
                </a:spcAft>
              </a:pPr>
              <a:r>
                <a:rPr sz="1450" b="1" i="0">
                  <a:solidFill>
                    <a:srgbClr val="FF9A8B"/>
                  </a:solidFill>
                  <a:latin typeface="Open Sans"/>
                </a:rPr>
                <a:t>6 entregas críticas</a:t>
              </a:r>
            </a:p>
            <a:p>
              <a:pPr algn="l">
                <a:lnSpc>
                  <a:spcPct val="105000"/>
                </a:lnSpc>
                <a:spcAft>
                  <a:spcPts val="300"/>
                </a:spcAft>
              </a:pPr>
              <a:r>
                <a:rPr sz="1450" b="0" i="0">
                  <a:solidFill>
                    <a:srgbClr val="B9C2DC"/>
                  </a:solidFill>
                  <a:latin typeface="Open Sans"/>
                </a:rPr>
                <a:t>Hospitales y otros clientes</a:t>
              </a:r>
            </a:p>
            <a:p>
              <a:pPr algn="l">
                <a:lnSpc>
                  <a:spcPct val="105000"/>
                </a:lnSpc>
                <a:spcAft>
                  <a:spcPts val="300"/>
                </a:spcAft>
              </a:pPr>
              <a:r>
                <a:rPr sz="1450" b="0" i="0">
                  <a:solidFill>
                    <a:srgbClr val="B9C2DC"/>
                  </a:solidFill>
                  <a:latin typeface="Open Sans"/>
                </a:rPr>
                <a:t>Quito, datos sintéticos</a:t>
              </a:r>
            </a:p>
          </p:txBody>
        </p:sp>
      </p:grpSp>
      <p:grpSp>
        <p:nvGrpSpPr>
          <p:cNvPr id="16" name="Group 15"/>
          <p:cNvGrpSpPr/>
          <p:nvPr/>
        </p:nvGrpSpPr>
        <p:grpSpPr>
          <a:xfrm>
            <a:off x="3703320" y="2135124"/>
            <a:ext cx="1188719" cy="2185416"/>
            <a:chOff x="3703320" y="2135124"/>
            <a:chExt cx="1188719" cy="2185416"/>
          </a:xfrm>
        </p:grpSpPr>
        <p:sp>
          <p:nvSpPr>
            <p:cNvPr id="17" name="Rectangle 16"/>
            <p:cNvSpPr/>
            <p:nvPr/>
          </p:nvSpPr>
          <p:spPr>
            <a:xfrm>
              <a:off x="3703320" y="3214116"/>
              <a:ext cx="594359" cy="27432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4283964" y="2148840"/>
              <a:ext cx="27432" cy="215798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4297679" y="2135124"/>
              <a:ext cx="594360" cy="27432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297679" y="3214116"/>
              <a:ext cx="594360" cy="27432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4297679" y="4293108"/>
              <a:ext cx="594360" cy="27432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4892040" y="1691640"/>
            <a:ext cx="6613855" cy="914400"/>
            <a:chOff x="4892040" y="1691640"/>
            <a:chExt cx="6613855" cy="914400"/>
          </a:xfrm>
        </p:grpSpPr>
        <p:sp>
          <p:nvSpPr>
            <p:cNvPr id="23" name="Rectangle 22"/>
            <p:cNvSpPr/>
            <p:nvPr/>
          </p:nvSpPr>
          <p:spPr>
            <a:xfrm>
              <a:off x="4892040" y="1691640"/>
              <a:ext cx="6613855" cy="914400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4892040" y="1691640"/>
              <a:ext cx="64008" cy="91440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>
              <a:off x="5166359" y="1837944"/>
              <a:ext cx="621792" cy="621792"/>
            </a:xfrm>
            <a:prstGeom prst="ellipse">
              <a:avLst/>
            </a:prstGeom>
            <a:solidFill>
              <a:srgbClr val="162451"/>
            </a:solidFill>
            <a:ln w="19050">
              <a:solidFill>
                <a:srgbClr val="C4A857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5166359" y="1837944"/>
              <a:ext cx="621792" cy="621792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2600" b="1" i="0">
                  <a:solidFill>
                    <a:srgbClr val="C4A857"/>
                  </a:solidFill>
                  <a:latin typeface="Oswald"/>
                </a:rPr>
                <a:t>A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6035040" y="1801368"/>
              <a:ext cx="5287975" cy="438912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2200" b="1" i="0">
                  <a:solidFill>
                    <a:srgbClr val="FFFFFF"/>
                  </a:solidFill>
                  <a:latin typeface="Oswald"/>
                </a:rPr>
                <a:t>Un solo viaje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6035040" y="2240280"/>
              <a:ext cx="5287975" cy="310896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500" b="0" i="0">
                  <a:solidFill>
                    <a:srgbClr val="B9C2DC"/>
                  </a:solidFill>
                  <a:latin typeface="Open Sans"/>
                </a:rPr>
                <a:t>Flota propia: todo en un recorrido</a:t>
              </a:r>
            </a:p>
          </p:txBody>
        </p:sp>
      </p:grpSp>
      <p:grpSp>
        <p:nvGrpSpPr>
          <p:cNvPr id="29" name="Group 28"/>
          <p:cNvGrpSpPr/>
          <p:nvPr/>
        </p:nvGrpSpPr>
        <p:grpSpPr>
          <a:xfrm>
            <a:off x="4892040" y="2770632"/>
            <a:ext cx="6613855" cy="914400"/>
            <a:chOff x="4892040" y="2770632"/>
            <a:chExt cx="6613855" cy="914400"/>
          </a:xfrm>
        </p:grpSpPr>
        <p:sp>
          <p:nvSpPr>
            <p:cNvPr id="30" name="Rectangle 29"/>
            <p:cNvSpPr/>
            <p:nvPr/>
          </p:nvSpPr>
          <p:spPr>
            <a:xfrm>
              <a:off x="4892040" y="2770632"/>
              <a:ext cx="6613855" cy="914400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4892040" y="2770632"/>
              <a:ext cx="64008" cy="91440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Oval 31"/>
            <p:cNvSpPr/>
            <p:nvPr/>
          </p:nvSpPr>
          <p:spPr>
            <a:xfrm>
              <a:off x="5166359" y="2916936"/>
              <a:ext cx="621792" cy="621792"/>
            </a:xfrm>
            <a:prstGeom prst="ellipse">
              <a:avLst/>
            </a:prstGeom>
            <a:solidFill>
              <a:srgbClr val="162451"/>
            </a:solidFill>
            <a:ln w="19050">
              <a:solidFill>
                <a:srgbClr val="C4A857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5166359" y="2916936"/>
              <a:ext cx="621792" cy="621792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2600" b="1" i="0">
                  <a:solidFill>
                    <a:srgbClr val="C4A857"/>
                  </a:solidFill>
                  <a:latin typeface="Oswald"/>
                </a:rPr>
                <a:t>B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6035040" y="2880360"/>
              <a:ext cx="5287975" cy="438912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2200" b="1" i="0">
                  <a:solidFill>
                    <a:srgbClr val="FFFFFF"/>
                  </a:solidFill>
                  <a:latin typeface="Oswald"/>
                </a:rPr>
                <a:t>Los críticos primero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6035040" y="3319272"/>
              <a:ext cx="5287975" cy="310896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500" b="0" i="0">
                  <a:solidFill>
                    <a:srgbClr val="B9C2DC"/>
                  </a:solidFill>
                  <a:latin typeface="Open Sans"/>
                </a:rPr>
                <a:t>Flota propia: lo crítico sale en el primer turno</a:t>
              </a:r>
            </a:p>
          </p:txBody>
        </p:sp>
      </p:grpSp>
      <p:grpSp>
        <p:nvGrpSpPr>
          <p:cNvPr id="36" name="Group 35"/>
          <p:cNvGrpSpPr/>
          <p:nvPr/>
        </p:nvGrpSpPr>
        <p:grpSpPr>
          <a:xfrm>
            <a:off x="4892040" y="3849624"/>
            <a:ext cx="6613855" cy="914400"/>
            <a:chOff x="4892040" y="3849624"/>
            <a:chExt cx="6613855" cy="914400"/>
          </a:xfrm>
        </p:grpSpPr>
        <p:sp>
          <p:nvSpPr>
            <p:cNvPr id="37" name="Rectangle 36"/>
            <p:cNvSpPr/>
            <p:nvPr/>
          </p:nvSpPr>
          <p:spPr>
            <a:xfrm>
              <a:off x="4892040" y="3849624"/>
              <a:ext cx="6613855" cy="914400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4892040" y="3849624"/>
              <a:ext cx="64008" cy="91440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Oval 38"/>
            <p:cNvSpPr/>
            <p:nvPr/>
          </p:nvSpPr>
          <p:spPr>
            <a:xfrm>
              <a:off x="5166359" y="3995928"/>
              <a:ext cx="621792" cy="621792"/>
            </a:xfrm>
            <a:prstGeom prst="ellipse">
              <a:avLst/>
            </a:prstGeom>
            <a:solidFill>
              <a:srgbClr val="162451"/>
            </a:solidFill>
            <a:ln w="19050">
              <a:solidFill>
                <a:srgbClr val="C4A857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5166359" y="3995928"/>
              <a:ext cx="621792" cy="621792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2600" b="1" i="0">
                  <a:solidFill>
                    <a:srgbClr val="C4A857"/>
                  </a:solidFill>
                  <a:latin typeface="Oswald"/>
                </a:rPr>
                <a:t>C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6035040" y="3959352"/>
              <a:ext cx="5287975" cy="438912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2200" b="1" i="0">
                  <a:solidFill>
                    <a:srgbClr val="FFFFFF"/>
                  </a:solidFill>
                  <a:latin typeface="Oswald"/>
                </a:rPr>
                <a:t>Operador contratado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6035040" y="4398264"/>
              <a:ext cx="5287975" cy="310896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500" b="0" i="0">
                  <a:solidFill>
                    <a:srgbClr val="B9C2DC"/>
                  </a:solidFill>
                  <a:latin typeface="Open Sans"/>
                </a:rPr>
                <a:t>Un transportista externo cubre todo</a:t>
              </a:r>
            </a:p>
          </p:txBody>
        </p:sp>
      </p:grpSp>
      <p:grpSp>
        <p:nvGrpSpPr>
          <p:cNvPr id="43" name="Group 42"/>
          <p:cNvGrpSpPr/>
          <p:nvPr/>
        </p:nvGrpSpPr>
        <p:grpSpPr>
          <a:xfrm>
            <a:off x="685800" y="5138928"/>
            <a:ext cx="10820095" cy="877824"/>
            <a:chOff x="685800" y="5138928"/>
            <a:chExt cx="10820095" cy="877824"/>
          </a:xfrm>
        </p:grpSpPr>
        <p:sp>
          <p:nvSpPr>
            <p:cNvPr id="44" name="Rectangle 43"/>
            <p:cNvSpPr/>
            <p:nvPr/>
          </p:nvSpPr>
          <p:spPr>
            <a:xfrm>
              <a:off x="685800" y="5138928"/>
              <a:ext cx="10820095" cy="877824"/>
            </a:xfrm>
            <a:prstGeom prst="rect">
              <a:avLst/>
            </a:prstGeom>
            <a:solidFill>
              <a:srgbClr val="B82E2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685800" y="5138928"/>
              <a:ext cx="82296" cy="87782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1051560" y="5138928"/>
              <a:ext cx="6583680" cy="877824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600" b="1" i="0">
                  <a:solidFill>
                    <a:srgbClr val="FFFFFF"/>
                  </a:solidFill>
                  <a:latin typeface="Open Sans"/>
                </a:rPr>
                <a:t>El problema: hoy se decide mirando kilómetros. </a:t>
              </a:r>
              <a:r>
                <a:rPr sz="1600" b="0" i="0">
                  <a:solidFill>
                    <a:srgbClr val="FFFFFF"/>
                  </a:solidFill>
                  <a:latin typeface="Open Sans"/>
                </a:rPr>
                <a:t>Lo que cuesta de verdad: personal, combustible, descarga y producto que se daña.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7818120" y="5138928"/>
              <a:ext cx="3413455" cy="877824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r">
                <a:spcAft>
                  <a:spcPts val="0"/>
                </a:spcAft>
              </a:pPr>
              <a:r>
                <a:rPr sz="3400" b="1" i="0">
                  <a:solidFill>
                    <a:srgbClr val="FFFFFF"/>
                  </a:solidFill>
                  <a:latin typeface="Oswald"/>
                </a:rPr>
                <a:t>¿Cuál conviene?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850"/>
                            </p:stCondLst>
                            <p:childTnLst>
                              <p:par>
                                <p:cTn id="1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75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15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85255" y="411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 spc="100">
                <a:solidFill>
                  <a:srgbClr val="5B6585"/>
                </a:solidFill>
                <a:latin typeface="Open Sans"/>
              </a:rPr>
              <a:t>HACKATHON EXPO CLEAN 2026 · RETO 1 · 03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685800" y="402336"/>
            <a:ext cx="10820095" cy="1060704"/>
            <a:chOff x="685800" y="402336"/>
            <a:chExt cx="10820095" cy="1060704"/>
          </a:xfrm>
        </p:grpSpPr>
        <p:sp>
          <p:nvSpPr>
            <p:cNvPr id="4" name="Rectangle 3"/>
            <p:cNvSpPr/>
            <p:nvPr/>
          </p:nvSpPr>
          <p:spPr>
            <a:xfrm>
              <a:off x="685800" y="402336"/>
              <a:ext cx="45720" cy="2743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41248" y="411480"/>
              <a:ext cx="5852160" cy="2743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300" b="1" i="0" spc="200">
                  <a:solidFill>
                    <a:srgbClr val="7D6520"/>
                  </a:solidFill>
                  <a:latin typeface="Open Sans"/>
                </a:rPr>
                <a:t>PROTOTIPO / DEMO · DETECTAR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85800" y="731520"/>
              <a:ext cx="10820095" cy="7315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3600" b="1" i="0">
                  <a:solidFill>
                    <a:srgbClr val="242D57"/>
                  </a:solidFill>
                  <a:latin typeface="Oswald"/>
                </a:rPr>
                <a:t>El aviso llega antes que la llamada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685800" y="6217920"/>
            <a:ext cx="10820095" cy="10972"/>
          </a:xfrm>
          <a:prstGeom prst="rect">
            <a:avLst/>
          </a:prstGeom>
          <a:solidFill>
            <a:srgbClr val="D5D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istpe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73368"/>
            <a:ext cx="872345" cy="3108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704448" y="6355080"/>
            <a:ext cx="22860" cy="347472"/>
          </a:xfrm>
          <a:prstGeom prst="rect">
            <a:avLst/>
          </a:prstGeom>
          <a:solidFill>
            <a:srgbClr val="C4A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59897" y="6327648"/>
            <a:ext cx="964599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585"/>
                </a:solidFill>
                <a:latin typeface="Open Sans"/>
              </a:rPr>
              <a:t>Fuente: pantalla Monitoreo de cobertura de stock (captura del 17-oct); cálculo de cobertura A-04. Datos sintéticos.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612648" y="1724621"/>
            <a:ext cx="7735824" cy="4094557"/>
            <a:chOff x="612648" y="1724621"/>
            <a:chExt cx="7735824" cy="4094557"/>
          </a:xfrm>
        </p:grpSpPr>
        <p:sp>
          <p:nvSpPr>
            <p:cNvPr id="12" name="Rectangle 11"/>
            <p:cNvSpPr/>
            <p:nvPr/>
          </p:nvSpPr>
          <p:spPr>
            <a:xfrm>
              <a:off x="612648" y="1724621"/>
              <a:ext cx="7735824" cy="4048837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5DBEA"/>
              </a:solidFill>
            </a:ln>
            <a:effectLst>
              <a:outerShdw blurRad="152400" dist="50800" dir="5400000" algn="t" rotWithShape="0">
                <a:srgbClr val="162451">
                  <a:alpha val="18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3" name="Picture 12" descr="alertas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5800" y="1797773"/>
              <a:ext cx="7589520" cy="3902533"/>
            </a:xfrm>
            <a:prstGeom prst="rect">
              <a:avLst/>
            </a:prstGeom>
          </p:spPr>
        </p:pic>
        <p:sp>
          <p:nvSpPr>
            <p:cNvPr id="14" name="Rectangle 13"/>
            <p:cNvSpPr/>
            <p:nvPr/>
          </p:nvSpPr>
          <p:spPr>
            <a:xfrm>
              <a:off x="612648" y="5773458"/>
              <a:ext cx="7735824" cy="457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8641080" y="1691640"/>
            <a:ext cx="2864815" cy="2880360"/>
            <a:chOff x="8641080" y="1691640"/>
            <a:chExt cx="2864815" cy="2880360"/>
          </a:xfrm>
        </p:grpSpPr>
        <p:sp>
          <p:nvSpPr>
            <p:cNvPr id="16" name="Rectangle 15"/>
            <p:cNvSpPr/>
            <p:nvPr/>
          </p:nvSpPr>
          <p:spPr>
            <a:xfrm>
              <a:off x="8641080" y="1691640"/>
              <a:ext cx="2864815" cy="2880360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8641080" y="1691640"/>
              <a:ext cx="2864815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8915400" y="1984248"/>
              <a:ext cx="2316175" cy="780178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200" b="1" i="0">
                  <a:solidFill>
                    <a:srgbClr val="242D57"/>
                  </a:solidFill>
                  <a:latin typeface="Oswald"/>
                </a:rPr>
                <a:t>Monitoreo de cobertura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8915400" y="2837578"/>
              <a:ext cx="2316175" cy="1551541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600" b="0" i="0">
                  <a:solidFill>
                    <a:srgbClr val="5B6585"/>
                  </a:solidFill>
                  <a:latin typeface="Open Sans"/>
                </a:rPr>
                <a:t>Cada punto con sus días de cobertura, su nivel de riesgo y la cantidad sugerida para reponer.</a:t>
              </a:r>
            </a:p>
          </p:txBody>
        </p:sp>
      </p:grpSp>
      <p:grpSp>
        <p:nvGrpSpPr>
          <p:cNvPr id="20" name="Group 19"/>
          <p:cNvGrpSpPr/>
          <p:nvPr/>
        </p:nvGrpSpPr>
        <p:grpSpPr>
          <a:xfrm>
            <a:off x="8641080" y="4754880"/>
            <a:ext cx="2864815" cy="1051560"/>
            <a:chOff x="8641080" y="4754880"/>
            <a:chExt cx="2864815" cy="1051560"/>
          </a:xfrm>
        </p:grpSpPr>
        <p:sp>
          <p:nvSpPr>
            <p:cNvPr id="21" name="Rectangle 20"/>
            <p:cNvSpPr/>
            <p:nvPr/>
          </p:nvSpPr>
          <p:spPr>
            <a:xfrm>
              <a:off x="8641080" y="4754880"/>
              <a:ext cx="2864815" cy="1051560"/>
            </a:xfrm>
            <a:prstGeom prst="rect">
              <a:avLst/>
            </a:prstGeom>
            <a:solidFill>
              <a:srgbClr val="242D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8641080" y="4754880"/>
              <a:ext cx="64008" cy="105156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8915400" y="4754880"/>
              <a:ext cx="2453335" cy="105156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600" b="1" i="0">
                  <a:solidFill>
                    <a:srgbClr val="FFFFFF"/>
                  </a:solidFill>
                  <a:latin typeface="Open Sans"/>
                </a:rPr>
                <a:t>El planificador sabe qué punto atender primero.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1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85255" y="411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 spc="100">
                <a:solidFill>
                  <a:srgbClr val="5B6585"/>
                </a:solidFill>
                <a:latin typeface="Open Sans"/>
              </a:rPr>
              <a:t>HACKATHON EXPO CLEAN 2026 · RETO 1 · 04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685800" y="402336"/>
            <a:ext cx="10820095" cy="1060704"/>
            <a:chOff x="685800" y="402336"/>
            <a:chExt cx="10820095" cy="1060704"/>
          </a:xfrm>
        </p:grpSpPr>
        <p:sp>
          <p:nvSpPr>
            <p:cNvPr id="4" name="Rectangle 3"/>
            <p:cNvSpPr/>
            <p:nvPr/>
          </p:nvSpPr>
          <p:spPr>
            <a:xfrm>
              <a:off x="685800" y="402336"/>
              <a:ext cx="45720" cy="2743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41248" y="411480"/>
              <a:ext cx="5852160" cy="2743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300" b="1" i="0" spc="200">
                  <a:solidFill>
                    <a:srgbClr val="7D6520"/>
                  </a:solidFill>
                  <a:latin typeface="Open Sans"/>
                </a:rPr>
                <a:t>ANEXO 5.7 · PROTOTIPO / DEMO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85800" y="731520"/>
              <a:ext cx="10820095" cy="7315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3600" b="1" i="0">
                  <a:solidFill>
                    <a:srgbClr val="242D57"/>
                  </a:solidFill>
                  <a:latin typeface="Oswald"/>
                </a:rPr>
                <a:t>La más barata no fue la mejor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685800" y="6217920"/>
            <a:ext cx="7909560" cy="10972"/>
          </a:xfrm>
          <a:prstGeom prst="rect">
            <a:avLst/>
          </a:prstGeom>
          <a:solidFill>
            <a:srgbClr val="D5D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istpe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73368"/>
            <a:ext cx="872345" cy="3108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704448" y="6355080"/>
            <a:ext cx="22860" cy="347472"/>
          </a:xfrm>
          <a:prstGeom prst="rect">
            <a:avLst/>
          </a:prstGeom>
          <a:solidFill>
            <a:srgbClr val="C4A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59897" y="6327648"/>
            <a:ext cx="6735463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585"/>
                </a:solidFill>
                <a:latin typeface="Open Sans"/>
              </a:rPr>
              <a:t>Fuente: ensayo técnico local del motor, 17-oct · escenario sintético de Quito · 4 pedidos, 6 entregas críticas, 55,9 km · diésel USD 3,11/gal (Primicias, 12-oct). Una sola corrida, sin clientes reales.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685800" y="1536192"/>
            <a:ext cx="7909559" cy="310896"/>
            <a:chOff x="685800" y="1536192"/>
            <a:chExt cx="7909559" cy="310896"/>
          </a:xfrm>
        </p:grpSpPr>
        <p:sp>
          <p:nvSpPr>
            <p:cNvPr id="12" name="Rounded Rectangle 11"/>
            <p:cNvSpPr/>
            <p:nvPr/>
          </p:nvSpPr>
          <p:spPr>
            <a:xfrm>
              <a:off x="685800" y="1536192"/>
              <a:ext cx="1992954" cy="310896"/>
            </a:xfrm>
            <a:prstGeom prst="roundRect">
              <a:avLst>
                <a:gd name="adj" fmla="val 50000"/>
              </a:avLst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85800" y="1536192"/>
              <a:ext cx="1992954" cy="310896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200" b="1" i="0" spc="100">
                  <a:solidFill>
                    <a:srgbClr val="162451"/>
                  </a:solidFill>
                  <a:latin typeface="Open Sans"/>
                </a:rPr>
                <a:t>DATOS SINTÉTICOS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2861634" y="1536192"/>
              <a:ext cx="5733725" cy="310896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300" b="1" i="0">
                  <a:solidFill>
                    <a:srgbClr val="5B6585"/>
                  </a:solidFill>
                  <a:latin typeface="Open Sans"/>
                </a:rPr>
                <a:t>Ensayo técnico del motor · escenario sintético de Quito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685800" y="2011680"/>
            <a:ext cx="7772400" cy="603504"/>
            <a:chOff x="685800" y="2011680"/>
            <a:chExt cx="7772400" cy="603504"/>
          </a:xfrm>
        </p:grpSpPr>
        <p:sp>
          <p:nvSpPr>
            <p:cNvPr id="16" name="Rectangle 15"/>
            <p:cNvSpPr/>
            <p:nvPr/>
          </p:nvSpPr>
          <p:spPr>
            <a:xfrm>
              <a:off x="685800" y="2011680"/>
              <a:ext cx="2240280" cy="603504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777240" y="2011680"/>
              <a:ext cx="2057400" cy="603504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lnSpc>
                  <a:spcPct val="90000"/>
                </a:lnSpc>
                <a:spcAft>
                  <a:spcPts val="0"/>
                </a:spcAft>
              </a:pPr>
              <a:r>
                <a:rPr sz="1500" b="1" i="0">
                  <a:solidFill>
                    <a:srgbClr val="242D57"/>
                  </a:solidFill>
                  <a:latin typeface="Oswald"/>
                </a:rPr>
                <a:t/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2926080" y="2011680"/>
              <a:ext cx="1783080" cy="603504"/>
            </a:xfrm>
            <a:prstGeom prst="rect">
              <a:avLst/>
            </a:prstGeom>
            <a:solidFill>
              <a:srgbClr val="242D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3017520" y="2011680"/>
              <a:ext cx="1600200" cy="603504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lnSpc>
                  <a:spcPct val="90000"/>
                </a:lnSpc>
                <a:spcAft>
                  <a:spcPts val="0"/>
                </a:spcAft>
              </a:pPr>
              <a:r>
                <a:rPr sz="1500" b="1" i="0">
                  <a:solidFill>
                    <a:srgbClr val="FFFFFF"/>
                  </a:solidFill>
                  <a:latin typeface="Oswald"/>
                </a:rPr>
                <a:t>A · Flota propia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709160" y="2011680"/>
              <a:ext cx="1783080" cy="603504"/>
            </a:xfrm>
            <a:prstGeom prst="rect">
              <a:avLst/>
            </a:prstGeom>
            <a:solidFill>
              <a:srgbClr val="242D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4800600" y="2011680"/>
              <a:ext cx="1600200" cy="603504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lnSpc>
                  <a:spcPct val="90000"/>
                </a:lnSpc>
                <a:spcAft>
                  <a:spcPts val="0"/>
                </a:spcAft>
              </a:pPr>
              <a:r>
                <a:rPr sz="1500" b="1" i="0">
                  <a:solidFill>
                    <a:srgbClr val="FFFFFF"/>
                  </a:solidFill>
                  <a:latin typeface="Oswald"/>
                </a:rPr>
                <a:t>B · Propia, críticos primero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6492240" y="2011680"/>
              <a:ext cx="1965960" cy="60350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6583680" y="2011680"/>
              <a:ext cx="1783080" cy="603504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lnSpc>
                  <a:spcPct val="90000"/>
                </a:lnSpc>
                <a:spcAft>
                  <a:spcPts val="0"/>
                </a:spcAft>
              </a:pPr>
              <a:r>
                <a:rPr sz="1500" b="1" i="0">
                  <a:solidFill>
                    <a:srgbClr val="162451"/>
                  </a:solidFill>
                  <a:latin typeface="Oswald"/>
                </a:rPr>
                <a:t>C · Operador contratado</a:t>
              </a:r>
            </a:p>
          </p:txBody>
        </p:sp>
      </p:grpSp>
      <p:pic>
        <p:nvPicPr>
          <p:cNvPr id="24" name="Picture 23" descr="chillo-medio-cuer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0" y="3804013"/>
            <a:ext cx="2377440" cy="3053986"/>
          </a:xfrm>
          <a:prstGeom prst="rect">
            <a:avLst/>
          </a:prstGeom>
        </p:spPr>
      </p:pic>
      <p:grpSp>
        <p:nvGrpSpPr>
          <p:cNvPr id="25" name="Group 24"/>
          <p:cNvGrpSpPr/>
          <p:nvPr/>
        </p:nvGrpSpPr>
        <p:grpSpPr>
          <a:xfrm>
            <a:off x="685800" y="2615184"/>
            <a:ext cx="7772400" cy="457200"/>
            <a:chOff x="685800" y="2615184"/>
            <a:chExt cx="7772400" cy="457200"/>
          </a:xfrm>
        </p:grpSpPr>
        <p:sp>
          <p:nvSpPr>
            <p:cNvPr id="26" name="Rectangle 25"/>
            <p:cNvSpPr/>
            <p:nvPr/>
          </p:nvSpPr>
          <p:spPr>
            <a:xfrm>
              <a:off x="685800" y="2615184"/>
              <a:ext cx="2240280" cy="457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868680" y="2615184"/>
              <a:ext cx="201168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400" b="1" i="0">
                  <a:solidFill>
                    <a:srgbClr val="242D57"/>
                  </a:solidFill>
                  <a:latin typeface="Open Sans"/>
                </a:rPr>
                <a:t>Críticos a tiempo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2926080" y="2615184"/>
              <a:ext cx="1783080" cy="457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3017520" y="2615184"/>
              <a:ext cx="160020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800" b="1" i="0">
                  <a:solidFill>
                    <a:srgbClr val="242D57"/>
                  </a:solidFill>
                  <a:latin typeface="Oswald"/>
                </a:rPr>
                <a:t>83 % (5 de 6)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4709160" y="2615184"/>
              <a:ext cx="1783080" cy="457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4800600" y="2615184"/>
              <a:ext cx="160020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800" b="1" i="0">
                  <a:solidFill>
                    <a:srgbClr val="242D57"/>
                  </a:solidFill>
                  <a:latin typeface="Oswald"/>
                </a:rPr>
                <a:t>100 % (6 de 6)</a:t>
              </a: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6492240" y="2615184"/>
              <a:ext cx="1965960" cy="457200"/>
            </a:xfrm>
            <a:prstGeom prst="rect">
              <a:avLst/>
            </a:prstGeom>
            <a:solidFill>
              <a:srgbClr val="F7F1D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6583680" y="2615184"/>
              <a:ext cx="178308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800" b="1" i="0">
                  <a:solidFill>
                    <a:srgbClr val="7D6520"/>
                  </a:solidFill>
                  <a:latin typeface="Oswald"/>
                </a:rPr>
                <a:t>100 % (6 de 6)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685800" y="3061411"/>
              <a:ext cx="7772400" cy="10972"/>
            </a:xfrm>
            <a:prstGeom prst="rect">
              <a:avLst/>
            </a:prstGeom>
            <a:solidFill>
              <a:srgbClr val="D5DB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685800" y="3072384"/>
            <a:ext cx="7772400" cy="457200"/>
            <a:chOff x="685800" y="3072384"/>
            <a:chExt cx="7772400" cy="457200"/>
          </a:xfrm>
        </p:grpSpPr>
        <p:sp>
          <p:nvSpPr>
            <p:cNvPr id="36" name="Rectangle 35"/>
            <p:cNvSpPr/>
            <p:nvPr/>
          </p:nvSpPr>
          <p:spPr>
            <a:xfrm>
              <a:off x="685800" y="3072384"/>
              <a:ext cx="2240280" cy="457200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868680" y="3072384"/>
              <a:ext cx="201168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400" b="1" i="0">
                  <a:solidFill>
                    <a:srgbClr val="242D57"/>
                  </a:solidFill>
                  <a:latin typeface="Open Sans"/>
                </a:rPr>
                <a:t>Costo frente a A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2926080" y="3072384"/>
              <a:ext cx="1783080" cy="457200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3017520" y="3072384"/>
              <a:ext cx="160020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800" b="1" i="0">
                  <a:solidFill>
                    <a:srgbClr val="242D57"/>
                  </a:solidFill>
                  <a:latin typeface="Oswald"/>
                </a:rPr>
                <a:t>base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4709160" y="3072384"/>
              <a:ext cx="1783080" cy="457200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4800600" y="3072384"/>
              <a:ext cx="160020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800" b="1" i="0">
                  <a:solidFill>
                    <a:srgbClr val="242D57"/>
                  </a:solidFill>
                  <a:latin typeface="Oswald"/>
                </a:rPr>
                <a:t>+20,7 %</a:t>
              </a: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6492240" y="3072384"/>
              <a:ext cx="1965960" cy="457200"/>
            </a:xfrm>
            <a:prstGeom prst="rect">
              <a:avLst/>
            </a:prstGeom>
            <a:solidFill>
              <a:srgbClr val="F1E8C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6583680" y="3072384"/>
              <a:ext cx="178308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800" b="1" i="0">
                  <a:solidFill>
                    <a:srgbClr val="7D6520"/>
                  </a:solidFill>
                  <a:latin typeface="Oswald"/>
                </a:rPr>
                <a:t>+15,6 %</a:t>
              </a: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685800" y="3518611"/>
              <a:ext cx="7772400" cy="10972"/>
            </a:xfrm>
            <a:prstGeom prst="rect">
              <a:avLst/>
            </a:prstGeom>
            <a:solidFill>
              <a:srgbClr val="D5DB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5" name="Group 44"/>
          <p:cNvGrpSpPr/>
          <p:nvPr/>
        </p:nvGrpSpPr>
        <p:grpSpPr>
          <a:xfrm>
            <a:off x="685800" y="3529584"/>
            <a:ext cx="7772400" cy="457200"/>
            <a:chOff x="685800" y="3529584"/>
            <a:chExt cx="7772400" cy="457200"/>
          </a:xfrm>
        </p:grpSpPr>
        <p:sp>
          <p:nvSpPr>
            <p:cNvPr id="46" name="Rectangle 45"/>
            <p:cNvSpPr/>
            <p:nvPr/>
          </p:nvSpPr>
          <p:spPr>
            <a:xfrm>
              <a:off x="685800" y="3529584"/>
              <a:ext cx="2240280" cy="457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868680" y="3529584"/>
              <a:ext cx="201168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400" b="1" i="0">
                  <a:solidFill>
                    <a:srgbClr val="242D57"/>
                  </a:solidFill>
                  <a:latin typeface="Open Sans"/>
                </a:rPr>
                <a:t>Puntaje del motor</a:t>
              </a: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2926080" y="3529584"/>
              <a:ext cx="1783080" cy="457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3017520" y="3529584"/>
              <a:ext cx="160020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800" b="1" i="0">
                  <a:solidFill>
                    <a:srgbClr val="242D57"/>
                  </a:solidFill>
                  <a:latin typeface="Oswald"/>
                </a:rPr>
                <a:t>81,7</a:t>
              </a:r>
            </a:p>
          </p:txBody>
        </p:sp>
        <p:sp>
          <p:nvSpPr>
            <p:cNvPr id="50" name="Rectangle 49"/>
            <p:cNvSpPr/>
            <p:nvPr/>
          </p:nvSpPr>
          <p:spPr>
            <a:xfrm>
              <a:off x="4709160" y="3529584"/>
              <a:ext cx="1783080" cy="457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4800600" y="3529584"/>
              <a:ext cx="160020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800" b="1" i="0">
                  <a:solidFill>
                    <a:srgbClr val="242D57"/>
                  </a:solidFill>
                  <a:latin typeface="Oswald"/>
                </a:rPr>
                <a:t>89,1</a:t>
              </a: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6492240" y="3529584"/>
              <a:ext cx="1965960" cy="457200"/>
            </a:xfrm>
            <a:prstGeom prst="rect">
              <a:avLst/>
            </a:prstGeom>
            <a:solidFill>
              <a:srgbClr val="F7F1D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6583680" y="3529584"/>
              <a:ext cx="178308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800" b="1" i="0">
                  <a:solidFill>
                    <a:srgbClr val="7D6520"/>
                  </a:solidFill>
                  <a:latin typeface="Oswald"/>
                </a:rPr>
                <a:t>90,8</a:t>
              </a:r>
            </a:p>
          </p:txBody>
        </p:sp>
        <p:sp>
          <p:nvSpPr>
            <p:cNvPr id="54" name="Rectangle 53"/>
            <p:cNvSpPr/>
            <p:nvPr/>
          </p:nvSpPr>
          <p:spPr>
            <a:xfrm>
              <a:off x="685800" y="3975811"/>
              <a:ext cx="7772400" cy="10972"/>
            </a:xfrm>
            <a:prstGeom prst="rect">
              <a:avLst/>
            </a:prstGeom>
            <a:solidFill>
              <a:srgbClr val="D5DB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5" name="Group 54"/>
          <p:cNvGrpSpPr/>
          <p:nvPr/>
        </p:nvGrpSpPr>
        <p:grpSpPr>
          <a:xfrm>
            <a:off x="685800" y="3986784"/>
            <a:ext cx="7772400" cy="585216"/>
            <a:chOff x="685800" y="3986784"/>
            <a:chExt cx="7772400" cy="585216"/>
          </a:xfrm>
        </p:grpSpPr>
        <p:sp>
          <p:nvSpPr>
            <p:cNvPr id="56" name="Rectangle 55"/>
            <p:cNvSpPr/>
            <p:nvPr/>
          </p:nvSpPr>
          <p:spPr>
            <a:xfrm>
              <a:off x="685800" y="3986784"/>
              <a:ext cx="2240280" cy="585216"/>
            </a:xfrm>
            <a:prstGeom prst="rect">
              <a:avLst/>
            </a:prstGeom>
            <a:solidFill>
              <a:srgbClr val="F7F1D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868680" y="3986784"/>
              <a:ext cx="2011680" cy="585216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400" b="1" i="0">
                  <a:solidFill>
                    <a:srgbClr val="242D57"/>
                  </a:solidFill>
                  <a:latin typeface="Open Sans"/>
                </a:rPr>
                <a:t>Costo total estimado</a:t>
              </a:r>
            </a:p>
          </p:txBody>
        </p:sp>
        <p:sp>
          <p:nvSpPr>
            <p:cNvPr id="58" name="Rectangle 57"/>
            <p:cNvSpPr/>
            <p:nvPr/>
          </p:nvSpPr>
          <p:spPr>
            <a:xfrm>
              <a:off x="2926080" y="3986784"/>
              <a:ext cx="1783080" cy="585216"/>
            </a:xfrm>
            <a:prstGeom prst="rect">
              <a:avLst/>
            </a:prstGeom>
            <a:solidFill>
              <a:srgbClr val="F7F1D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3017520" y="3986784"/>
              <a:ext cx="1600200" cy="585216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2400" b="1" i="0">
                  <a:solidFill>
                    <a:srgbClr val="242D57"/>
                  </a:solidFill>
                  <a:latin typeface="Oswald"/>
                </a:rPr>
                <a:t>USD 57,89</a:t>
              </a:r>
            </a:p>
          </p:txBody>
        </p:sp>
        <p:sp>
          <p:nvSpPr>
            <p:cNvPr id="60" name="Rectangle 59"/>
            <p:cNvSpPr/>
            <p:nvPr/>
          </p:nvSpPr>
          <p:spPr>
            <a:xfrm>
              <a:off x="4709160" y="3986784"/>
              <a:ext cx="1783080" cy="585216"/>
            </a:xfrm>
            <a:prstGeom prst="rect">
              <a:avLst/>
            </a:prstGeom>
            <a:solidFill>
              <a:srgbClr val="F7F1D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4800600" y="3986784"/>
              <a:ext cx="1600200" cy="585216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2400" b="1" i="0">
                  <a:solidFill>
                    <a:srgbClr val="242D57"/>
                  </a:solidFill>
                  <a:latin typeface="Oswald"/>
                </a:rPr>
                <a:t>USD 69,89</a:t>
              </a:r>
            </a:p>
          </p:txBody>
        </p:sp>
        <p:sp>
          <p:nvSpPr>
            <p:cNvPr id="62" name="Rectangle 61"/>
            <p:cNvSpPr/>
            <p:nvPr/>
          </p:nvSpPr>
          <p:spPr>
            <a:xfrm>
              <a:off x="6492240" y="3986784"/>
              <a:ext cx="1965960" cy="585216"/>
            </a:xfrm>
            <a:prstGeom prst="rect">
              <a:avLst/>
            </a:prstGeom>
            <a:solidFill>
              <a:srgbClr val="F7F1D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6583680" y="3986784"/>
              <a:ext cx="1783080" cy="585216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2400" b="1" i="0">
                  <a:solidFill>
                    <a:srgbClr val="7D6520"/>
                  </a:solidFill>
                  <a:latin typeface="Oswald"/>
                </a:rPr>
                <a:t>USD 66,90</a:t>
              </a:r>
            </a:p>
          </p:txBody>
        </p:sp>
        <p:sp>
          <p:nvSpPr>
            <p:cNvPr id="64" name="Rectangle 63"/>
            <p:cNvSpPr/>
            <p:nvPr/>
          </p:nvSpPr>
          <p:spPr>
            <a:xfrm>
              <a:off x="685800" y="4561027"/>
              <a:ext cx="7772400" cy="10972"/>
            </a:xfrm>
            <a:prstGeom prst="rect">
              <a:avLst/>
            </a:prstGeom>
            <a:solidFill>
              <a:srgbClr val="D5DB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Rectangle 64"/>
            <p:cNvSpPr/>
            <p:nvPr/>
          </p:nvSpPr>
          <p:spPr>
            <a:xfrm>
              <a:off x="685800" y="3986784"/>
              <a:ext cx="7772400" cy="27432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66" name="Rectangle 65"/>
          <p:cNvSpPr/>
          <p:nvPr/>
        </p:nvSpPr>
        <p:spPr>
          <a:xfrm>
            <a:off x="6492240" y="2011680"/>
            <a:ext cx="1965960" cy="2560320"/>
          </a:xfrm>
          <a:prstGeom prst="rect">
            <a:avLst/>
          </a:prstGeom>
          <a:noFill/>
          <a:ln w="38100">
            <a:solidFill>
              <a:srgbClr val="C4A857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67" name="Group 66"/>
          <p:cNvGrpSpPr/>
          <p:nvPr/>
        </p:nvGrpSpPr>
        <p:grpSpPr>
          <a:xfrm>
            <a:off x="685800" y="4773168"/>
            <a:ext cx="7909560" cy="658368"/>
            <a:chOff x="685800" y="4773168"/>
            <a:chExt cx="7909560" cy="658368"/>
          </a:xfrm>
        </p:grpSpPr>
        <p:sp>
          <p:nvSpPr>
            <p:cNvPr id="68" name="Rectangle 67"/>
            <p:cNvSpPr/>
            <p:nvPr/>
          </p:nvSpPr>
          <p:spPr>
            <a:xfrm>
              <a:off x="685800" y="4773168"/>
              <a:ext cx="7909560" cy="658368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Rectangle 68"/>
            <p:cNvSpPr/>
            <p:nvPr/>
          </p:nvSpPr>
          <p:spPr>
            <a:xfrm>
              <a:off x="685800" y="4773168"/>
              <a:ext cx="54864" cy="658368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886968" y="4773168"/>
              <a:ext cx="7589520" cy="658368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250" b="1" i="0">
                  <a:solidFill>
                    <a:srgbClr val="242D57"/>
                  </a:solidFill>
                  <a:latin typeface="Open Sans"/>
                </a:rPr>
                <a:t>Recomendación del motor: C. Por un 15,6 % más que A, cumple el 100 % de los críticos; frente a B, que también cumple, cuesta un 4,3 % menos. </a:t>
              </a:r>
              <a:r>
                <a:rPr sz="1250" b="0" i="0">
                  <a:solidFill>
                    <a:srgbClr val="242D57"/>
                  </a:solidFill>
                  <a:latin typeface="Open Sans"/>
                </a:rPr>
                <a:t>La más barata no siempre es la mejor. El planificador decide.</a:t>
              </a:r>
            </a:p>
          </p:txBody>
        </p:sp>
      </p:grpSp>
      <p:sp>
        <p:nvSpPr>
          <p:cNvPr id="71" name="Rounded Rectangular Callout 70"/>
          <p:cNvSpPr/>
          <p:nvPr/>
        </p:nvSpPr>
        <p:spPr>
          <a:xfrm>
            <a:off x="8759952" y="2395728"/>
            <a:ext cx="3200400" cy="914400"/>
          </a:xfrm>
          <a:prstGeom prst="wedgeRoundRectCallout">
            <a:avLst>
              <a:gd name="adj1" fmla="val 11999"/>
              <a:gd name="adj2" fmla="val 97999"/>
              <a:gd name="adj3" fmla="val 16667"/>
            </a:avLst>
          </a:prstGeom>
          <a:solidFill>
            <a:srgbClr val="FFFFFF"/>
          </a:solidFill>
          <a:ln w="12700">
            <a:solidFill>
              <a:srgbClr val="D5DBEA"/>
            </a:solidFill>
          </a:ln>
          <a:effectLst>
            <a:outerShdw blurRad="177800" dist="50800" dir="5400000" algn="t" rotWithShape="0">
              <a:srgbClr val="162451">
                <a:alpha val="30000"/>
              </a:srgbClr>
            </a:outerShdw>
          </a:effectLst>
        </p:spPr>
        <p:txBody>
          <a:bodyPr rtlCol="0" anchor="ctr" wrap="square" lIns="146304" rIns="146304" tIns="54864" bIns="54864"/>
          <a:lstStyle/>
          <a:p>
            <a:pPr algn="ctr"/>
            <a:r>
              <a:rPr sz="1400" b="1" i="0">
                <a:solidFill>
                  <a:srgbClr val="242D57"/>
                </a:solidFill>
                <a:latin typeface="Open Sans"/>
              </a:rPr>
              <a:t>Una ruta no es solo kilómetros: también es </a:t>
            </a:r>
            <a:r>
              <a:rPr sz="1400" b="1" i="0">
                <a:solidFill>
                  <a:srgbClr val="7D6520"/>
                </a:solidFill>
                <a:latin typeface="Open Sans"/>
              </a:rPr>
              <a:t>quien descarga</a:t>
            </a:r>
            <a:r>
              <a:rPr sz="1400" b="1" i="0">
                <a:solidFill>
                  <a:srgbClr val="242D57"/>
                </a:solidFill>
                <a:latin typeface="Open Sans"/>
              </a:rPr>
              <a:t>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4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800"/>
                            </p:stCondLst>
                            <p:childTnLst>
                              <p:par>
                                <p:cTn id="2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3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6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5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850"/>
                            </p:stCondLst>
                            <p:childTnLst>
                              <p:par>
                                <p:cTn id="4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" grpId="0" animBg="1"/>
      <p:bldP spid="71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85255" y="411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 spc="100">
                <a:solidFill>
                  <a:srgbClr val="5B6585"/>
                </a:solidFill>
                <a:latin typeface="Open Sans"/>
              </a:rPr>
              <a:t>HACKATHON EXPO CLEAN 2026 · RETO 1 · 05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685800" y="402336"/>
            <a:ext cx="10820095" cy="1060704"/>
            <a:chOff x="685800" y="402336"/>
            <a:chExt cx="10820095" cy="1060704"/>
          </a:xfrm>
        </p:grpSpPr>
        <p:sp>
          <p:nvSpPr>
            <p:cNvPr id="4" name="Rectangle 3"/>
            <p:cNvSpPr/>
            <p:nvPr/>
          </p:nvSpPr>
          <p:spPr>
            <a:xfrm>
              <a:off x="685800" y="402336"/>
              <a:ext cx="45720" cy="2743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41248" y="411480"/>
              <a:ext cx="5852160" cy="2743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300" b="1" i="0" spc="200">
                  <a:solidFill>
                    <a:srgbClr val="7D6520"/>
                  </a:solidFill>
                  <a:latin typeface="Open Sans"/>
                </a:rPr>
                <a:t>PROTOTIPO / DEMO · ENTREGAR Y PROBAR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85800" y="731520"/>
              <a:ext cx="10820095" cy="7315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3600" b="1" i="0">
                  <a:solidFill>
                    <a:srgbClr val="242D57"/>
                  </a:solidFill>
                  <a:latin typeface="Oswald"/>
                </a:rPr>
                <a:t>Elegida la opción: ruta aprobada y entrega con prueba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685800" y="6217920"/>
            <a:ext cx="10820095" cy="10972"/>
          </a:xfrm>
          <a:prstGeom prst="rect">
            <a:avLst/>
          </a:prstGeom>
          <a:solidFill>
            <a:srgbClr val="D5D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istpe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73368"/>
            <a:ext cx="872345" cy="3108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704448" y="6355080"/>
            <a:ext cx="22860" cy="347472"/>
          </a:xfrm>
          <a:prstGeom prst="rect">
            <a:avLst/>
          </a:prstGeom>
          <a:solidFill>
            <a:srgbClr val="C4A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59897" y="6327648"/>
            <a:ext cx="964599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585"/>
                </a:solidFill>
                <a:latin typeface="Open Sans"/>
              </a:rPr>
              <a:t>Fuente: pantallas Planificar rutas, Rutas y Novedades de campo (capturas del 17-oct); escenario sintético de Quito, Bodega Sur · VEH-02. Sin tráfico en vivo; el impacto de reentrada es una estimación del sistema.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612648" y="1618488"/>
            <a:ext cx="5266944" cy="3268772"/>
            <a:chOff x="612648" y="1618488"/>
            <a:chExt cx="5266944" cy="3268772"/>
          </a:xfrm>
        </p:grpSpPr>
        <p:sp>
          <p:nvSpPr>
            <p:cNvPr id="12" name="Rectangle 11"/>
            <p:cNvSpPr/>
            <p:nvPr/>
          </p:nvSpPr>
          <p:spPr>
            <a:xfrm>
              <a:off x="612648" y="1618488"/>
              <a:ext cx="5266944" cy="322305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5DBEA"/>
              </a:solidFill>
            </a:ln>
            <a:effectLst>
              <a:outerShdw blurRad="152400" dist="50800" dir="5400000" algn="t" rotWithShape="0">
                <a:srgbClr val="162451">
                  <a:alpha val="18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3" name="Picture 12" descr="ruta-paso2.gif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5800" y="1691640"/>
              <a:ext cx="5120640" cy="3076748"/>
            </a:xfrm>
            <a:prstGeom prst="rect">
              <a:avLst/>
            </a:prstGeom>
          </p:spPr>
        </p:pic>
        <p:sp>
          <p:nvSpPr>
            <p:cNvPr id="14" name="Rectangle 13"/>
            <p:cNvSpPr/>
            <p:nvPr/>
          </p:nvSpPr>
          <p:spPr>
            <a:xfrm>
              <a:off x="612648" y="4841540"/>
              <a:ext cx="5266944" cy="457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6344164" y="1618488"/>
            <a:ext cx="4989766" cy="1563624"/>
            <a:chOff x="6344164" y="1618488"/>
            <a:chExt cx="4989766" cy="1563624"/>
          </a:xfrm>
        </p:grpSpPr>
        <p:sp>
          <p:nvSpPr>
            <p:cNvPr id="16" name="Rectangle 15"/>
            <p:cNvSpPr/>
            <p:nvPr/>
          </p:nvSpPr>
          <p:spPr>
            <a:xfrm>
              <a:off x="6344164" y="1618488"/>
              <a:ext cx="4989766" cy="151790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5DBEA"/>
              </a:solidFill>
            </a:ln>
            <a:effectLst>
              <a:outerShdw blurRad="152400" dist="50800" dir="5400000" algn="t" rotWithShape="0">
                <a:srgbClr val="162451">
                  <a:alpha val="18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7" name="Picture 16" descr="ruta-seguimiento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417316" y="1691640"/>
              <a:ext cx="4843462" cy="1371600"/>
            </a:xfrm>
            <a:prstGeom prst="rect">
              <a:avLst/>
            </a:prstGeom>
          </p:spPr>
        </p:pic>
        <p:sp>
          <p:nvSpPr>
            <p:cNvPr id="18" name="Rectangle 17"/>
            <p:cNvSpPr/>
            <p:nvPr/>
          </p:nvSpPr>
          <p:spPr>
            <a:xfrm>
              <a:off x="6344164" y="3136392"/>
              <a:ext cx="4989766" cy="457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6776406" y="3172968"/>
            <a:ext cx="4125283" cy="2020824"/>
            <a:chOff x="6776406" y="3172968"/>
            <a:chExt cx="4125283" cy="2020824"/>
          </a:xfrm>
        </p:grpSpPr>
        <p:sp>
          <p:nvSpPr>
            <p:cNvPr id="20" name="Rectangle 19"/>
            <p:cNvSpPr/>
            <p:nvPr/>
          </p:nvSpPr>
          <p:spPr>
            <a:xfrm>
              <a:off x="6776406" y="3172968"/>
              <a:ext cx="4125283" cy="1975103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5DBEA"/>
              </a:solidFill>
            </a:ln>
            <a:effectLst>
              <a:outerShdw blurRad="152400" dist="50800" dir="5400000" algn="t" rotWithShape="0">
                <a:srgbClr val="162451">
                  <a:alpha val="18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1" name="Picture 20" descr="novedades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849558" y="3246120"/>
              <a:ext cx="3978979" cy="1828800"/>
            </a:xfrm>
            <a:prstGeom prst="rect">
              <a:avLst/>
            </a:prstGeom>
          </p:spPr>
        </p:pic>
        <p:sp>
          <p:nvSpPr>
            <p:cNvPr id="22" name="Rectangle 21"/>
            <p:cNvSpPr/>
            <p:nvPr/>
          </p:nvSpPr>
          <p:spPr>
            <a:xfrm>
              <a:off x="6776406" y="5148072"/>
              <a:ext cx="4125283" cy="457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685800" y="5486400"/>
            <a:ext cx="10820095" cy="566928"/>
            <a:chOff x="685800" y="5486400"/>
            <a:chExt cx="10820095" cy="566928"/>
          </a:xfrm>
        </p:grpSpPr>
        <p:sp>
          <p:nvSpPr>
            <p:cNvPr id="24" name="Rectangle 23"/>
            <p:cNvSpPr/>
            <p:nvPr/>
          </p:nvSpPr>
          <p:spPr>
            <a:xfrm>
              <a:off x="685800" y="5486400"/>
              <a:ext cx="10820095" cy="566928"/>
            </a:xfrm>
            <a:prstGeom prst="rect">
              <a:avLst/>
            </a:prstGeom>
            <a:solidFill>
              <a:srgbClr val="242D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85800" y="5486400"/>
              <a:ext cx="64008" cy="566928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960120" y="5486400"/>
              <a:ext cx="10408615" cy="566928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600" b="1" i="0">
                  <a:solidFill>
                    <a:srgbClr val="FFFFFF"/>
                  </a:solidFill>
                  <a:latin typeface="Open Sans"/>
                </a:rPr>
                <a:t>Cada caja viaja con QR y cada rechazo queda con su motivo.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1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85255" y="411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 spc="100">
                <a:solidFill>
                  <a:srgbClr val="5B6585"/>
                </a:solidFill>
                <a:latin typeface="Open Sans"/>
              </a:rPr>
              <a:t>HACKATHON EXPO CLEAN 2026 · RETO 1 · 06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685800" y="402336"/>
            <a:ext cx="10820095" cy="1060704"/>
            <a:chOff x="685800" y="402336"/>
            <a:chExt cx="10820095" cy="1060704"/>
          </a:xfrm>
        </p:grpSpPr>
        <p:sp>
          <p:nvSpPr>
            <p:cNvPr id="4" name="Rectangle 3"/>
            <p:cNvSpPr/>
            <p:nvPr/>
          </p:nvSpPr>
          <p:spPr>
            <a:xfrm>
              <a:off x="685800" y="402336"/>
              <a:ext cx="45720" cy="2743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41248" y="411480"/>
              <a:ext cx="5852160" cy="2743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300" b="1" i="0" spc="200">
                  <a:solidFill>
                    <a:srgbClr val="7D6520"/>
                  </a:solidFill>
                  <a:latin typeface="Open Sans"/>
                </a:rPr>
                <a:t>INNOVACIÓN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85800" y="731520"/>
              <a:ext cx="10820095" cy="7315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3600" b="1" i="0">
                  <a:solidFill>
                    <a:srgbClr val="242D57"/>
                  </a:solidFill>
                  <a:latin typeface="Oswald"/>
                </a:rPr>
                <a:t>A la entrega le ponemos costo completo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685800" y="6217920"/>
            <a:ext cx="10820095" cy="10972"/>
          </a:xfrm>
          <a:prstGeom prst="rect">
            <a:avLst/>
          </a:prstGeom>
          <a:solidFill>
            <a:srgbClr val="D5D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istpe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73368"/>
            <a:ext cx="872345" cy="3108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704448" y="6355080"/>
            <a:ext cx="22860" cy="347472"/>
          </a:xfrm>
          <a:prstGeom prst="rect">
            <a:avLst/>
          </a:prstGeom>
          <a:solidFill>
            <a:srgbClr val="C4A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59897" y="6327648"/>
            <a:ext cx="964599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585"/>
                </a:solidFill>
                <a:latin typeface="Open Sans"/>
              </a:rPr>
              <a:t>Fuente: lo del sector es lo que escuchamos en la charla, no una medición. Una corrida registrada del agente incluyó su caída a la explicación de respaldo.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685800" y="1645920"/>
            <a:ext cx="5227167" cy="2514600"/>
            <a:chOff x="685800" y="1645920"/>
            <a:chExt cx="5227167" cy="2514600"/>
          </a:xfrm>
        </p:grpSpPr>
        <p:sp>
          <p:nvSpPr>
            <p:cNvPr id="12" name="Rectangle 11"/>
            <p:cNvSpPr/>
            <p:nvPr/>
          </p:nvSpPr>
          <p:spPr>
            <a:xfrm>
              <a:off x="685800" y="1645920"/>
              <a:ext cx="5227167" cy="2514600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85800" y="1645920"/>
              <a:ext cx="5227167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960120" y="1938528"/>
              <a:ext cx="4678527" cy="399233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200" b="1" i="0">
                  <a:solidFill>
                    <a:srgbClr val="242D57"/>
                  </a:solidFill>
                  <a:latin typeface="Oswald"/>
                </a:rPr>
                <a:t>El problema, según el sector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960120" y="2410913"/>
              <a:ext cx="4678527" cy="1566726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800" b="0" i="0">
                  <a:solidFill>
                    <a:srgbClr val="5B6585"/>
                  </a:solidFill>
                  <a:latin typeface="Open Sans"/>
                </a:rPr>
                <a:t>Se repone por calendario o por urgencia.</a:t>
              </a:r>
            </a:p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800" b="0" i="0">
                  <a:solidFill>
                    <a:srgbClr val="5B6585"/>
                  </a:solidFill>
                  <a:latin typeface="Open Sans"/>
                </a:rPr>
                <a:t>La entrega se decide mirando kilómetros.</a:t>
              </a:r>
            </a:p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800" b="0" i="0">
                  <a:solidFill>
                    <a:srgbClr val="5B6585"/>
                  </a:solidFill>
                  <a:latin typeface="Open Sans"/>
                </a:rPr>
                <a:t>Nadie puede probar qué se entregó.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685800" y="1645920"/>
              <a:ext cx="5227167" cy="91440"/>
            </a:xfrm>
            <a:prstGeom prst="rect">
              <a:avLst/>
            </a:prstGeom>
            <a:solidFill>
              <a:srgbClr val="B82E2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6278727" y="1645920"/>
            <a:ext cx="5227167" cy="2514600"/>
            <a:chOff x="6278727" y="1645920"/>
            <a:chExt cx="5227167" cy="2514600"/>
          </a:xfrm>
        </p:grpSpPr>
        <p:sp>
          <p:nvSpPr>
            <p:cNvPr id="18" name="Rectangle 17"/>
            <p:cNvSpPr/>
            <p:nvPr/>
          </p:nvSpPr>
          <p:spPr>
            <a:xfrm>
              <a:off x="6278727" y="1645920"/>
              <a:ext cx="5227167" cy="2514600"/>
            </a:xfrm>
            <a:prstGeom prst="rect">
              <a:avLst/>
            </a:prstGeom>
            <a:solidFill>
              <a:srgbClr val="242D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6278727" y="1645920"/>
              <a:ext cx="5227167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553047" y="1938528"/>
              <a:ext cx="4678527" cy="399233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200" b="1" i="0">
                  <a:solidFill>
                    <a:srgbClr val="FFFFFF"/>
                  </a:solidFill>
                  <a:latin typeface="Oswald"/>
                </a:rPr>
                <a:t>Con IstpetDev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6553047" y="2410913"/>
              <a:ext cx="4678527" cy="1566726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800" b="0" i="0">
                  <a:solidFill>
                    <a:srgbClr val="B9C2DC"/>
                  </a:solidFill>
                  <a:latin typeface="Open Sans"/>
                </a:rPr>
                <a:t>Avisa antes de que el cliente llame.</a:t>
              </a:r>
            </a:p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800" b="0" i="0">
                  <a:solidFill>
                    <a:srgbClr val="B9C2DC"/>
                  </a:solidFill>
                  <a:latin typeface="Open Sans"/>
                </a:rPr>
                <a:t>Decide con costo completo: personal, combustible, descarga y merma.</a:t>
              </a:r>
            </a:p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800" b="0" i="0">
                  <a:solidFill>
                    <a:srgbClr val="B9C2DC"/>
                  </a:solidFill>
                  <a:latin typeface="Open Sans"/>
                </a:rPr>
                <a:t>Deja la entrega comprobable, caja por caja.</a:t>
              </a:r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685800" y="4434840"/>
            <a:ext cx="10820095" cy="1417320"/>
            <a:chOff x="685800" y="4434840"/>
            <a:chExt cx="10820095" cy="1417320"/>
          </a:xfrm>
        </p:grpSpPr>
        <p:sp>
          <p:nvSpPr>
            <p:cNvPr id="23" name="Rectangle 22"/>
            <p:cNvSpPr/>
            <p:nvPr/>
          </p:nvSpPr>
          <p:spPr>
            <a:xfrm>
              <a:off x="685800" y="4434840"/>
              <a:ext cx="10820095" cy="1417320"/>
            </a:xfrm>
            <a:prstGeom prst="rect">
              <a:avLst/>
            </a:prstGeom>
            <a:solidFill>
              <a:srgbClr val="242D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685800" y="4434840"/>
              <a:ext cx="64008" cy="14173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51560" y="4617720"/>
              <a:ext cx="10088575" cy="54864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2800" b="1" i="0">
                  <a:solidFill>
                    <a:srgbClr val="FFFFFF"/>
                  </a:solidFill>
                  <a:latin typeface="Oswald"/>
                </a:rPr>
                <a:t>El motor calcula, </a:t>
              </a:r>
              <a:r>
                <a:rPr sz="2800" b="1" i="0">
                  <a:solidFill>
                    <a:srgbClr val="E6D7A3"/>
                  </a:solidFill>
                  <a:latin typeface="Oswald"/>
                </a:rPr>
                <a:t>la IA explica, </a:t>
              </a:r>
              <a:r>
                <a:rPr sz="2800" b="1" i="0">
                  <a:solidFill>
                    <a:srgbClr val="FFFFFF"/>
                  </a:solidFill>
                  <a:latin typeface="Oswald"/>
                </a:rPr>
                <a:t>la persona decide.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051560" y="5212079"/>
              <a:ext cx="10088575" cy="54864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600" b="0" i="0">
                  <a:solidFill>
                    <a:srgbClr val="B9C2DC"/>
                  </a:solidFill>
                  <a:latin typeface="Open Sans"/>
                </a:rPr>
                <a:t>Mismos datos, mismo resultado. La IA no inventa cifras y, si falla, hay una explicación de respaldo.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4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85255" y="411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 spc="100">
                <a:solidFill>
                  <a:srgbClr val="B9C2DC"/>
                </a:solidFill>
                <a:latin typeface="Open Sans"/>
              </a:rPr>
              <a:t>HACKATHON EXPO CLEAN 2026 · RETO 1 · 07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685800" y="402336"/>
            <a:ext cx="10820095" cy="1060704"/>
            <a:chOff x="685800" y="402336"/>
            <a:chExt cx="10820095" cy="1060704"/>
          </a:xfrm>
        </p:grpSpPr>
        <p:sp>
          <p:nvSpPr>
            <p:cNvPr id="4" name="Rectangle 3"/>
            <p:cNvSpPr/>
            <p:nvPr/>
          </p:nvSpPr>
          <p:spPr>
            <a:xfrm>
              <a:off x="685800" y="402336"/>
              <a:ext cx="45720" cy="2743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41248" y="411480"/>
              <a:ext cx="5852160" cy="2743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300" b="1" i="0" spc="200">
                  <a:solidFill>
                    <a:srgbClr val="C4A857"/>
                  </a:solidFill>
                  <a:latin typeface="Open Sans"/>
                </a:rPr>
                <a:t>VALIDACIÓN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85800" y="731520"/>
              <a:ext cx="10820095" cy="7315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3600" b="1" i="0">
                  <a:solidFill>
                    <a:srgbClr val="FFFFFF"/>
                  </a:solidFill>
                  <a:latin typeface="Oswald"/>
                </a:rPr>
                <a:t>Lo que hay, sin humo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685800" y="6217920"/>
            <a:ext cx="10820095" cy="10972"/>
          </a:xfrm>
          <a:prstGeom prst="rect">
            <a:avLst/>
          </a:prstGeom>
          <a:solidFill>
            <a:srgbClr val="2E3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istpet-log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73368"/>
            <a:ext cx="872345" cy="3108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704448" y="6355080"/>
            <a:ext cx="22860" cy="347472"/>
          </a:xfrm>
          <a:prstGeom prst="rect">
            <a:avLst/>
          </a:prstGeom>
          <a:solidFill>
            <a:srgbClr val="C4A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59897" y="6327648"/>
            <a:ext cx="964599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9C2DC"/>
                </a:solidFill>
                <a:latin typeface="Open Sans"/>
              </a:rPr>
              <a:t>Fuente: escenario sintético de Quito: 40 puntos, no son clientes. El recorrido sin señal está construido y aún no se ensayó en un teléfono real.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685800" y="1691640"/>
            <a:ext cx="3423818" cy="3383280"/>
            <a:chOff x="685800" y="1691640"/>
            <a:chExt cx="3423818" cy="3383280"/>
          </a:xfrm>
        </p:grpSpPr>
        <p:sp>
          <p:nvSpPr>
            <p:cNvPr id="12" name="Rectangle 11"/>
            <p:cNvSpPr/>
            <p:nvPr/>
          </p:nvSpPr>
          <p:spPr>
            <a:xfrm>
              <a:off x="685800" y="1691640"/>
              <a:ext cx="3423818" cy="3383280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85800" y="1691640"/>
              <a:ext cx="3423818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960120" y="1920240"/>
              <a:ext cx="2875178" cy="54864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2400" b="1" i="0" spc="120">
                  <a:solidFill>
                    <a:srgbClr val="C4A857"/>
                  </a:solidFill>
                  <a:latin typeface="Oswald"/>
                </a:rPr>
                <a:t>CONSTRUIDO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960120" y="2560320"/>
              <a:ext cx="2875178" cy="242316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800"/>
                </a:spcAft>
              </a:pPr>
              <a:r>
                <a:rPr sz="1550" b="0" i="0">
                  <a:solidFill>
                    <a:srgbClr val="FFFFFF"/>
                  </a:solidFill>
                  <a:latin typeface="Open Sans"/>
                </a:rPr>
                <a:t>•  Inventario con alertas</a:t>
              </a:r>
            </a:p>
            <a:p>
              <a:pPr algn="l">
                <a:lnSpc>
                  <a:spcPct val="105000"/>
                </a:lnSpc>
                <a:spcAft>
                  <a:spcPts val="800"/>
                </a:spcAft>
              </a:pPr>
              <a:r>
                <a:rPr sz="1550" b="0" i="0">
                  <a:solidFill>
                    <a:srgbClr val="FFFFFF"/>
                  </a:solidFill>
                  <a:latin typeface="Open Sans"/>
                </a:rPr>
                <a:t>•  Motor de rutas y costo de servir</a:t>
              </a:r>
            </a:p>
            <a:p>
              <a:pPr algn="l">
                <a:lnSpc>
                  <a:spcPct val="105000"/>
                </a:lnSpc>
                <a:spcAft>
                  <a:spcPts val="800"/>
                </a:spcAft>
              </a:pPr>
              <a:r>
                <a:rPr sz="1550" b="0" i="0">
                  <a:solidFill>
                    <a:srgbClr val="FFFFFF"/>
                  </a:solidFill>
                  <a:latin typeface="Open Sans"/>
                </a:rPr>
                <a:t>•  Agente IA con n8n</a:t>
              </a:r>
            </a:p>
            <a:p>
              <a:pPr algn="l">
                <a:lnSpc>
                  <a:spcPct val="105000"/>
                </a:lnSpc>
                <a:spcAft>
                  <a:spcPts val="800"/>
                </a:spcAft>
              </a:pPr>
              <a:r>
                <a:rPr sz="1550" b="0" i="0">
                  <a:solidFill>
                    <a:srgbClr val="FFFFFF"/>
                  </a:solidFill>
                  <a:latin typeface="Open Sans"/>
                </a:rPr>
                <a:t>•  Custodia con QR y captura sin señal</a:t>
              </a:r>
            </a:p>
          </p:txBody>
        </p:sp>
      </p:grpSp>
      <p:grpSp>
        <p:nvGrpSpPr>
          <p:cNvPr id="16" name="Group 15"/>
          <p:cNvGrpSpPr/>
          <p:nvPr/>
        </p:nvGrpSpPr>
        <p:grpSpPr>
          <a:xfrm>
            <a:off x="4383938" y="1691640"/>
            <a:ext cx="3423818" cy="3383280"/>
            <a:chOff x="4383938" y="1691640"/>
            <a:chExt cx="3423818" cy="3383280"/>
          </a:xfrm>
        </p:grpSpPr>
        <p:sp>
          <p:nvSpPr>
            <p:cNvPr id="17" name="Rectangle 16"/>
            <p:cNvSpPr/>
            <p:nvPr/>
          </p:nvSpPr>
          <p:spPr>
            <a:xfrm>
              <a:off x="4383938" y="1691640"/>
              <a:ext cx="3423818" cy="3383280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4383938" y="1691640"/>
              <a:ext cx="3423818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658258" y="1920240"/>
              <a:ext cx="2875178" cy="54864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2400" b="1" i="0" spc="120">
                  <a:solidFill>
                    <a:srgbClr val="C4A857"/>
                  </a:solidFill>
                  <a:latin typeface="Oswald"/>
                </a:rPr>
                <a:t>ENSAYADO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4658258" y="2560320"/>
              <a:ext cx="2875178" cy="242316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800"/>
                </a:spcAft>
              </a:pPr>
              <a:r>
                <a:rPr sz="1550" b="0" i="0">
                  <a:solidFill>
                    <a:srgbClr val="FFFFFF"/>
                  </a:solidFill>
                  <a:latin typeface="Open Sans"/>
                </a:rPr>
                <a:t>•  Motor y comparación A/B/C en un ensayo técnico con escenario sintético de Quito</a:t>
              </a:r>
            </a:p>
            <a:p>
              <a:pPr algn="l">
                <a:lnSpc>
                  <a:spcPct val="105000"/>
                </a:lnSpc>
                <a:spcAft>
                  <a:spcPts val="800"/>
                </a:spcAft>
              </a:pPr>
              <a:r>
                <a:rPr sz="1550" b="0" i="0">
                  <a:solidFill>
                    <a:srgbClr val="FFFFFF"/>
                  </a:solidFill>
                  <a:latin typeface="Open Sans"/>
                </a:rPr>
                <a:t>•  Corrida registrada del agente, incluida su caída al respaldo</a:t>
              </a:r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8082076" y="1691640"/>
            <a:ext cx="3423818" cy="3383280"/>
            <a:chOff x="8082076" y="1691640"/>
            <a:chExt cx="3423818" cy="3383280"/>
          </a:xfrm>
        </p:grpSpPr>
        <p:sp>
          <p:nvSpPr>
            <p:cNvPr id="22" name="Rectangle 21"/>
            <p:cNvSpPr/>
            <p:nvPr/>
          </p:nvSpPr>
          <p:spPr>
            <a:xfrm>
              <a:off x="8082076" y="1691640"/>
              <a:ext cx="3423818" cy="3383280"/>
            </a:xfrm>
            <a:prstGeom prst="rect">
              <a:avLst/>
            </a:prstGeom>
            <a:solidFill>
              <a:srgbClr val="162451"/>
            </a:solidFill>
            <a:ln w="19050">
              <a:solidFill>
                <a:srgbClr val="C4A857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8082076" y="1691640"/>
              <a:ext cx="3423818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8356396" y="1920240"/>
              <a:ext cx="2875178" cy="54864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2400" b="1" i="0" spc="120">
                  <a:solidFill>
                    <a:srgbClr val="E6D7A3"/>
                  </a:solidFill>
                  <a:latin typeface="Oswald"/>
                </a:rPr>
                <a:t>SIGUIENTE FASE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8356396" y="2560320"/>
              <a:ext cx="2875178" cy="242316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800"/>
                </a:spcAft>
              </a:pPr>
              <a:r>
                <a:rPr sz="1550" b="1" i="0">
                  <a:solidFill>
                    <a:srgbClr val="E6D7A3"/>
                  </a:solidFill>
                  <a:latin typeface="Open Sans"/>
                </a:rPr>
                <a:t>•  Usarlo en una empresa real: cargar sus datos y medir contra su línea base</a:t>
              </a:r>
            </a:p>
            <a:p>
              <a:pPr algn="l">
                <a:lnSpc>
                  <a:spcPct val="105000"/>
                </a:lnSpc>
                <a:spcAft>
                  <a:spcPts val="800"/>
                </a:spcAft>
              </a:pPr>
              <a:r>
                <a:rPr sz="1550" b="1" i="0">
                  <a:solidFill>
                    <a:srgbClr val="E6D7A3"/>
                  </a:solidFill>
                  <a:latin typeface="Open Sans"/>
                </a:rPr>
                <a:t>•  Probar el recorrido sin señal en un teléfono real</a:t>
              </a:r>
            </a:p>
            <a:p>
              <a:pPr algn="l">
                <a:lnSpc>
                  <a:spcPct val="105000"/>
                </a:lnSpc>
                <a:spcAft>
                  <a:spcPts val="800"/>
                </a:spcAft>
              </a:pPr>
              <a:r>
                <a:rPr sz="1550" b="0" i="0">
                  <a:solidFill>
                    <a:srgbClr val="FFFFFF"/>
                  </a:solidFill>
                  <a:latin typeface="Open Sans"/>
                </a:rPr>
                <a:t>•  Llevar la comparación A/B/C a producción</a:t>
              </a:r>
            </a:p>
          </p:txBody>
        </p:sp>
      </p:grpSp>
      <p:sp>
        <p:nvSpPr>
          <p:cNvPr id="26" name="TextBox 25"/>
          <p:cNvSpPr txBox="1"/>
          <p:nvPr/>
        </p:nvSpPr>
        <p:spPr>
          <a:xfrm>
            <a:off x="685800" y="5303520"/>
            <a:ext cx="108200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 i="1">
                <a:solidFill>
                  <a:srgbClr val="E6D7A3"/>
                </a:solidFill>
                <a:latin typeface="Open Sans"/>
              </a:rPr>
              <a:t>Preferimos mostrarles lo que funciona de verdad que prometer lo que no hemos medido.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85255" y="411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 spc="100">
                <a:solidFill>
                  <a:srgbClr val="5B6585"/>
                </a:solidFill>
                <a:latin typeface="Open Sans"/>
              </a:rPr>
              <a:t>HACKATHON EXPO CLEAN 2026 · RETO 1 · 08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685800" y="402336"/>
            <a:ext cx="10820095" cy="1060704"/>
            <a:chOff x="685800" y="402336"/>
            <a:chExt cx="10820095" cy="1060704"/>
          </a:xfrm>
        </p:grpSpPr>
        <p:sp>
          <p:nvSpPr>
            <p:cNvPr id="4" name="Rectangle 3"/>
            <p:cNvSpPr/>
            <p:nvPr/>
          </p:nvSpPr>
          <p:spPr>
            <a:xfrm>
              <a:off x="685800" y="402336"/>
              <a:ext cx="45720" cy="2743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41248" y="411480"/>
              <a:ext cx="5852160" cy="2743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300" b="1" i="0" spc="200">
                  <a:solidFill>
                    <a:srgbClr val="7D6520"/>
                  </a:solidFill>
                  <a:latin typeface="Open Sans"/>
                </a:rPr>
                <a:t>IMPACTO Y MODELO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85800" y="731520"/>
              <a:ext cx="10820095" cy="7315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3600" b="1" i="0">
                  <a:solidFill>
                    <a:srgbClr val="242D57"/>
                  </a:solidFill>
                  <a:latin typeface="Oswald"/>
                </a:rPr>
                <a:t>Lo medimos en un piloto, contra una línea base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685800" y="6217920"/>
            <a:ext cx="10820095" cy="10972"/>
          </a:xfrm>
          <a:prstGeom prst="rect">
            <a:avLst/>
          </a:prstGeom>
          <a:solidFill>
            <a:srgbClr val="D5D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istpe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73368"/>
            <a:ext cx="872345" cy="3108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704448" y="6355080"/>
            <a:ext cx="22860" cy="347472"/>
          </a:xfrm>
          <a:prstGeom prst="rect">
            <a:avLst/>
          </a:prstGeom>
          <a:solidFill>
            <a:srgbClr val="C4A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59897" y="6327648"/>
            <a:ext cx="964599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585"/>
                </a:solidFill>
                <a:latin typeface="Open Sans"/>
              </a:rPr>
              <a:t>Fuente: sin ahorro prometido; costo y precio por validar en el piloto; modelo como hipótesis. La sección Reportes existe en el sistema, sin ensayo de la escena.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685800" y="1645920"/>
            <a:ext cx="6583680" cy="1170432"/>
            <a:chOff x="685800" y="1645920"/>
            <a:chExt cx="6583680" cy="1170432"/>
          </a:xfrm>
        </p:grpSpPr>
        <p:sp>
          <p:nvSpPr>
            <p:cNvPr id="12" name="Rectangle 11"/>
            <p:cNvSpPr/>
            <p:nvPr/>
          </p:nvSpPr>
          <p:spPr>
            <a:xfrm>
              <a:off x="685800" y="1645920"/>
              <a:ext cx="6583680" cy="1170432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85800" y="1645920"/>
              <a:ext cx="6583680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446520" y="1883664"/>
              <a:ext cx="548640" cy="4572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r">
                <a:spcAft>
                  <a:spcPts val="0"/>
                </a:spcAft>
              </a:pPr>
              <a:r>
                <a:rPr sz="2000" b="1" i="0">
                  <a:solidFill>
                    <a:srgbClr val="7D6520"/>
                  </a:solidFill>
                  <a:latin typeface="Oswald"/>
                </a:rPr>
                <a:t>01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960120" y="1938528"/>
              <a:ext cx="5394960" cy="364601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000" b="1" i="0">
                  <a:solidFill>
                    <a:srgbClr val="242D57"/>
                  </a:solidFill>
                  <a:latin typeface="Oswald"/>
                </a:rPr>
                <a:t>Faltantes que se descubren tarde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60120" y="2376281"/>
              <a:ext cx="6035040" cy="25719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500" b="0" i="0">
                  <a:solidFill>
                    <a:srgbClr val="5B6585"/>
                  </a:solidFill>
                  <a:latin typeface="Open Sans"/>
                </a:rPr>
                <a:t>Menos quiebres que llegan por llamada del cliente</a:t>
              </a: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685800" y="2926080"/>
            <a:ext cx="6583680" cy="1170432"/>
            <a:chOff x="685800" y="2926080"/>
            <a:chExt cx="6583680" cy="1170432"/>
          </a:xfrm>
        </p:grpSpPr>
        <p:sp>
          <p:nvSpPr>
            <p:cNvPr id="18" name="Rectangle 17"/>
            <p:cNvSpPr/>
            <p:nvPr/>
          </p:nvSpPr>
          <p:spPr>
            <a:xfrm>
              <a:off x="685800" y="2926080"/>
              <a:ext cx="6583680" cy="1170432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685800" y="2926080"/>
              <a:ext cx="6583680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446520" y="3163824"/>
              <a:ext cx="548640" cy="4572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r">
                <a:spcAft>
                  <a:spcPts val="0"/>
                </a:spcAft>
              </a:pPr>
              <a:r>
                <a:rPr sz="2000" b="1" i="0">
                  <a:solidFill>
                    <a:srgbClr val="7D6520"/>
                  </a:solidFill>
                  <a:latin typeface="Oswald"/>
                </a:rPr>
                <a:t>02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960120" y="3218688"/>
              <a:ext cx="5394960" cy="364601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000" b="1" i="0">
                  <a:solidFill>
                    <a:srgbClr val="242D57"/>
                  </a:solidFill>
                  <a:latin typeface="Oswald"/>
                </a:rPr>
                <a:t>Entregas críticas a tiempo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960120" y="3656441"/>
              <a:ext cx="6035040" cy="25719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500" b="0" i="0">
                  <a:solidFill>
                    <a:srgbClr val="5B6585"/>
                  </a:solidFill>
                  <a:latin typeface="Open Sans"/>
                </a:rPr>
                <a:t>Cuántas llegan dentro de la ventana acordada</a:t>
              </a:r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685800" y="4206240"/>
            <a:ext cx="6583680" cy="1170432"/>
            <a:chOff x="685800" y="4206240"/>
            <a:chExt cx="6583680" cy="1170432"/>
          </a:xfrm>
        </p:grpSpPr>
        <p:sp>
          <p:nvSpPr>
            <p:cNvPr id="24" name="Rectangle 23"/>
            <p:cNvSpPr/>
            <p:nvPr/>
          </p:nvSpPr>
          <p:spPr>
            <a:xfrm>
              <a:off x="685800" y="4206240"/>
              <a:ext cx="6583680" cy="1170432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85800" y="4206240"/>
              <a:ext cx="6583680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6446520" y="4443984"/>
              <a:ext cx="548640" cy="4572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r">
                <a:spcAft>
                  <a:spcPts val="0"/>
                </a:spcAft>
              </a:pPr>
              <a:r>
                <a:rPr sz="2000" b="1" i="0">
                  <a:solidFill>
                    <a:srgbClr val="7D6520"/>
                  </a:solidFill>
                  <a:latin typeface="Oswald"/>
                </a:rPr>
                <a:t>03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960120" y="4498848"/>
              <a:ext cx="5394960" cy="364601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000" b="1" i="0">
                  <a:solidFill>
                    <a:srgbClr val="242D57"/>
                  </a:solidFill>
                  <a:latin typeface="Oswald"/>
                </a:rPr>
                <a:t>Costo real de cada entrega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960120" y="4936601"/>
              <a:ext cx="6035040" cy="25719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500" b="0" i="0">
                  <a:solidFill>
                    <a:srgbClr val="5B6585"/>
                  </a:solidFill>
                  <a:latin typeface="Open Sans"/>
                </a:rPr>
                <a:t>Con su desglose, antes y después</a:t>
              </a:r>
            </a:p>
          </p:txBody>
        </p:sp>
      </p:grpSp>
      <p:grpSp>
        <p:nvGrpSpPr>
          <p:cNvPr id="29" name="Group 28"/>
          <p:cNvGrpSpPr/>
          <p:nvPr/>
        </p:nvGrpSpPr>
        <p:grpSpPr>
          <a:xfrm>
            <a:off x="7635240" y="1645920"/>
            <a:ext cx="3870655" cy="3730752"/>
            <a:chOff x="7635240" y="1645920"/>
            <a:chExt cx="3870655" cy="3730752"/>
          </a:xfrm>
        </p:grpSpPr>
        <p:sp>
          <p:nvSpPr>
            <p:cNvPr id="30" name="Rectangle 29"/>
            <p:cNvSpPr/>
            <p:nvPr/>
          </p:nvSpPr>
          <p:spPr>
            <a:xfrm>
              <a:off x="7635240" y="1645920"/>
              <a:ext cx="3870655" cy="3730752"/>
            </a:xfrm>
            <a:prstGeom prst="rect">
              <a:avLst/>
            </a:prstGeom>
            <a:solidFill>
              <a:srgbClr val="242D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7635240" y="1645920"/>
              <a:ext cx="3870655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7909560" y="1938528"/>
              <a:ext cx="3322015" cy="468495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600" b="1" i="0">
                  <a:solidFill>
                    <a:srgbClr val="FFFFFF"/>
                  </a:solidFill>
                  <a:latin typeface="Oswald"/>
                </a:rPr>
                <a:t>Cómo llega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7909560" y="2480175"/>
              <a:ext cx="3322015" cy="2713616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600" b="0" i="0">
                  <a:solidFill>
                    <a:srgbClr val="B9C2DC"/>
                  </a:solidFill>
                  <a:latin typeface="Open Sans"/>
                </a:rPr>
                <a:t>Sin hardware nuevo: web y el teléfono del conductor.</a:t>
              </a:r>
            </a:p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600" b="0" i="0">
                  <a:solidFill>
                    <a:srgbClr val="B9C2DC"/>
                  </a:solidFill>
                  <a:latin typeface="Open Sans"/>
                </a:rPr>
                <a:t>Implementación inicial más suscripción; el precio se valida en el piloto.</a:t>
              </a:r>
            </a:p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600" b="0" i="0">
                  <a:solidFill>
                    <a:srgbClr val="B9C2DC"/>
                  </a:solidFill>
                  <a:latin typeface="Open Sans"/>
                </a:rPr>
                <a:t>Si falta un dato, dice «sin dato».</a:t>
              </a:r>
            </a:p>
          </p:txBody>
        </p:sp>
      </p:grpSp>
      <p:grpSp>
        <p:nvGrpSpPr>
          <p:cNvPr id="34" name="Group 33"/>
          <p:cNvGrpSpPr/>
          <p:nvPr/>
        </p:nvGrpSpPr>
        <p:grpSpPr>
          <a:xfrm>
            <a:off x="685800" y="5504688"/>
            <a:ext cx="10820095" cy="621792"/>
            <a:chOff x="685800" y="5504688"/>
            <a:chExt cx="10820095" cy="621792"/>
          </a:xfrm>
        </p:grpSpPr>
        <p:sp>
          <p:nvSpPr>
            <p:cNvPr id="35" name="Rectangle 34"/>
            <p:cNvSpPr/>
            <p:nvPr/>
          </p:nvSpPr>
          <p:spPr>
            <a:xfrm>
              <a:off x="685800" y="5504688"/>
              <a:ext cx="10820095" cy="621792"/>
            </a:xfrm>
            <a:prstGeom prst="rect">
              <a:avLst/>
            </a:prstGeom>
            <a:solidFill>
              <a:srgbClr val="242D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685800" y="5504688"/>
              <a:ext cx="64008" cy="621792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1005840" y="5504688"/>
              <a:ext cx="10180015" cy="621792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2000" b="1" i="0">
                  <a:solidFill>
                    <a:srgbClr val="FFFFFF"/>
                  </a:solidFill>
                  <a:latin typeface="Open Sans"/>
                </a:rPr>
                <a:t>Los indicadores alimentan </a:t>
              </a:r>
              <a:r>
                <a:rPr sz="2000" b="1" i="0">
                  <a:solidFill>
                    <a:srgbClr val="E6D7A3"/>
                  </a:solidFill>
                  <a:latin typeface="Open Sans"/>
                </a:rPr>
                <a:t>informes ejecutivos</a:t>
              </a:r>
              <a:r>
                <a:rPr sz="2000" b="1" i="0">
                  <a:solidFill>
                    <a:srgbClr val="FFFFFF"/>
                  </a:solidFill>
                  <a:latin typeface="Open Sans"/>
                </a:rPr>
                <a:t>: ya tenemos la sección Reportes.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8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4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85255" y="411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 spc="100">
                <a:solidFill>
                  <a:srgbClr val="B9C2DC"/>
                </a:solidFill>
                <a:latin typeface="Open Sans"/>
              </a:rPr>
              <a:t>HACKATHON EXPO CLEAN 2026 · RETO 1 · 09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685800" y="402336"/>
            <a:ext cx="10820095" cy="1060704"/>
            <a:chOff x="685800" y="402336"/>
            <a:chExt cx="10820095" cy="1060704"/>
          </a:xfrm>
        </p:grpSpPr>
        <p:sp>
          <p:nvSpPr>
            <p:cNvPr id="4" name="Rectangle 3"/>
            <p:cNvSpPr/>
            <p:nvPr/>
          </p:nvSpPr>
          <p:spPr>
            <a:xfrm>
              <a:off x="685800" y="402336"/>
              <a:ext cx="45720" cy="2743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41248" y="411480"/>
              <a:ext cx="5852160" cy="2743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300" b="1" i="0" spc="200">
                  <a:solidFill>
                    <a:srgbClr val="C4A857"/>
                  </a:solidFill>
                  <a:latin typeface="Open Sans"/>
                </a:rPr>
                <a:t>PRÓXIMO PASO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85800" y="731520"/>
              <a:ext cx="10820095" cy="7315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3600" b="1" i="0">
                  <a:solidFill>
                    <a:srgbClr val="FFFFFF"/>
                  </a:solidFill>
                  <a:latin typeface="Oswald"/>
                </a:rPr>
                <a:t>Un piloto con una empresa de limpieza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685800" y="6217920"/>
            <a:ext cx="7909560" cy="10972"/>
          </a:xfrm>
          <a:prstGeom prst="rect">
            <a:avLst/>
          </a:prstGeom>
          <a:solidFill>
            <a:srgbClr val="2E3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istpet-log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73368"/>
            <a:ext cx="872345" cy="3108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704448" y="6355080"/>
            <a:ext cx="22860" cy="347472"/>
          </a:xfrm>
          <a:prstGeom prst="rect">
            <a:avLst/>
          </a:prstGeom>
          <a:solidFill>
            <a:srgbClr val="C4A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59897" y="6327648"/>
            <a:ext cx="6735463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9C2DC"/>
                </a:solidFill>
                <a:latin typeface="Open Sans"/>
              </a:rPr>
              <a:t>Fuente: propuesta sin contraparte confirmada ni cliente comprometido; sujeta a validación.</a:t>
            </a:r>
          </a:p>
        </p:txBody>
      </p:sp>
      <p:pic>
        <p:nvPicPr>
          <p:cNvPr id="11" name="Picture 10" descr="chillo-cuerpo-ent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8048" y="2212848"/>
            <a:ext cx="1958112" cy="3931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" y="1691640"/>
            <a:ext cx="79095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B9C2DC"/>
                </a:solidFill>
                <a:latin typeface="Oswald"/>
              </a:rPr>
              <a:t>Una buena cotización suma el costo completo. </a:t>
            </a:r>
            <a:r>
              <a:rPr sz="3200" b="1" i="0">
                <a:solidFill>
                  <a:srgbClr val="C4A857"/>
                </a:solidFill>
                <a:latin typeface="Oswald"/>
              </a:rPr>
              <a:t>Nosotros se lo ponemos a la entrega.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685800" y="3383280"/>
            <a:ext cx="2484120" cy="1691640"/>
            <a:chOff x="685800" y="3383280"/>
            <a:chExt cx="2484120" cy="1691640"/>
          </a:xfrm>
        </p:grpSpPr>
        <p:sp>
          <p:nvSpPr>
            <p:cNvPr id="14" name="Rectangle 13"/>
            <p:cNvSpPr/>
            <p:nvPr/>
          </p:nvSpPr>
          <p:spPr>
            <a:xfrm>
              <a:off x="685800" y="3383280"/>
              <a:ext cx="2484120" cy="1691640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685800" y="3383280"/>
              <a:ext cx="2484120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2346960" y="3621024"/>
              <a:ext cx="548640" cy="4572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r">
                <a:spcAft>
                  <a:spcPts val="0"/>
                </a:spcAft>
              </a:pPr>
              <a:r>
                <a:rPr sz="2000" b="1" i="0">
                  <a:solidFill>
                    <a:srgbClr val="C4A857"/>
                  </a:solidFill>
                  <a:latin typeface="Oswald"/>
                </a:rPr>
                <a:t>01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960120" y="3675888"/>
              <a:ext cx="1295400" cy="364601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000" b="1" i="0">
                  <a:solidFill>
                    <a:srgbClr val="FFFFFF"/>
                  </a:solidFill>
                  <a:latin typeface="Oswald"/>
                </a:rPr>
                <a:t>Línea base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960120" y="4113641"/>
              <a:ext cx="1935480" cy="778398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400" b="0" i="0">
                  <a:solidFill>
                    <a:srgbClr val="B9C2DC"/>
                  </a:solidFill>
                  <a:latin typeface="Open Sans"/>
                </a:rPr>
                <a:t>Medir el punto de partida</a:t>
              </a: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3398520" y="3383280"/>
            <a:ext cx="2484120" cy="1691640"/>
            <a:chOff x="3398520" y="3383280"/>
            <a:chExt cx="2484120" cy="1691640"/>
          </a:xfrm>
        </p:grpSpPr>
        <p:sp>
          <p:nvSpPr>
            <p:cNvPr id="20" name="Rectangle 19"/>
            <p:cNvSpPr/>
            <p:nvPr/>
          </p:nvSpPr>
          <p:spPr>
            <a:xfrm>
              <a:off x="3398520" y="3383280"/>
              <a:ext cx="2484120" cy="1691640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3398520" y="3383280"/>
              <a:ext cx="2484120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5059680" y="3621024"/>
              <a:ext cx="548640" cy="4572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r">
                <a:spcAft>
                  <a:spcPts val="0"/>
                </a:spcAft>
              </a:pPr>
              <a:r>
                <a:rPr sz="2000" b="1" i="0">
                  <a:solidFill>
                    <a:srgbClr val="C4A857"/>
                  </a:solidFill>
                  <a:latin typeface="Oswald"/>
                </a:rPr>
                <a:t>02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3672840" y="3675888"/>
              <a:ext cx="1295400" cy="364601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000" b="1" i="0">
                  <a:solidFill>
                    <a:srgbClr val="FFFFFF"/>
                  </a:solidFill>
                  <a:latin typeface="Oswald"/>
                </a:rPr>
                <a:t>Indicadores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3672840" y="4113641"/>
              <a:ext cx="1935480" cy="778398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400" b="0" i="0">
                  <a:solidFill>
                    <a:srgbClr val="B9C2DC"/>
                  </a:solidFill>
                  <a:latin typeface="Open Sans"/>
                </a:rPr>
                <a:t>Acordados con la empresa</a:t>
              </a:r>
            </a:p>
          </p:txBody>
        </p:sp>
      </p:grpSp>
      <p:grpSp>
        <p:nvGrpSpPr>
          <p:cNvPr id="25" name="Group 24"/>
          <p:cNvGrpSpPr/>
          <p:nvPr/>
        </p:nvGrpSpPr>
        <p:grpSpPr>
          <a:xfrm>
            <a:off x="6111240" y="3383280"/>
            <a:ext cx="2484120" cy="1691640"/>
            <a:chOff x="6111240" y="3383280"/>
            <a:chExt cx="2484120" cy="1691640"/>
          </a:xfrm>
        </p:grpSpPr>
        <p:sp>
          <p:nvSpPr>
            <p:cNvPr id="26" name="Rectangle 25"/>
            <p:cNvSpPr/>
            <p:nvPr/>
          </p:nvSpPr>
          <p:spPr>
            <a:xfrm>
              <a:off x="6111240" y="3383280"/>
              <a:ext cx="2484120" cy="1691640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6111240" y="3383280"/>
              <a:ext cx="2484120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7772400" y="3621024"/>
              <a:ext cx="548640" cy="4572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r">
                <a:spcAft>
                  <a:spcPts val="0"/>
                </a:spcAft>
              </a:pPr>
              <a:r>
                <a:rPr sz="2000" b="1" i="0">
                  <a:solidFill>
                    <a:srgbClr val="C4A857"/>
                  </a:solidFill>
                  <a:latin typeface="Oswald"/>
                </a:rPr>
                <a:t>03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6385560" y="3675888"/>
              <a:ext cx="1295400" cy="364601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000" b="1" i="0">
                  <a:solidFill>
                    <a:srgbClr val="FFFFFF"/>
                  </a:solidFill>
                  <a:latin typeface="Oswald"/>
                </a:rPr>
                <a:t>Su empresa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6385560" y="4113641"/>
              <a:ext cx="1935480" cy="778398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400" b="0" i="0">
                  <a:solidFill>
                    <a:srgbClr val="B9C2DC"/>
                  </a:solidFill>
                  <a:latin typeface="Open Sans"/>
                </a:rPr>
                <a:t>Cargar sus datos y operar</a:t>
              </a:r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685800" y="5120640"/>
            <a:ext cx="7909560" cy="868680"/>
            <a:chOff x="685800" y="5120640"/>
            <a:chExt cx="7909560" cy="868680"/>
          </a:xfrm>
        </p:grpSpPr>
        <p:sp>
          <p:nvSpPr>
            <p:cNvPr id="32" name="Rectangle 31"/>
            <p:cNvSpPr/>
            <p:nvPr/>
          </p:nvSpPr>
          <p:spPr>
            <a:xfrm>
              <a:off x="685800" y="5120640"/>
              <a:ext cx="7909560" cy="86868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005840" y="5120640"/>
              <a:ext cx="7269480" cy="86868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2000" b="1" i="0">
                  <a:solidFill>
                    <a:srgbClr val="162451"/>
                  </a:solidFill>
                  <a:latin typeface="Open Sans"/>
                </a:rPr>
                <a:t>Buscamos una empresa de limpieza para ese piloto.</a:t>
              </a:r>
            </a:p>
          </p:txBody>
        </p:sp>
      </p:grpSp>
      <p:sp>
        <p:nvSpPr>
          <p:cNvPr id="34" name="Rounded Rectangular Callout 33"/>
          <p:cNvSpPr/>
          <p:nvPr/>
        </p:nvSpPr>
        <p:spPr>
          <a:xfrm>
            <a:off x="8759952" y="1188720"/>
            <a:ext cx="3200400" cy="914400"/>
          </a:xfrm>
          <a:prstGeom prst="wedgeRoundRectCallout">
            <a:avLst>
              <a:gd name="adj1" fmla="val 6285"/>
              <a:gd name="adj2" fmla="val 68000"/>
              <a:gd name="adj3" fmla="val 16667"/>
            </a:avLst>
          </a:prstGeom>
          <a:solidFill>
            <a:srgbClr val="FFFFFF"/>
          </a:solidFill>
          <a:ln w="12700">
            <a:solidFill>
              <a:srgbClr val="D5DBEA"/>
            </a:solidFill>
          </a:ln>
          <a:effectLst>
            <a:outerShdw blurRad="177800" dist="50800" dir="5400000" algn="t" rotWithShape="0">
              <a:srgbClr val="162451">
                <a:alpha val="30000"/>
              </a:srgbClr>
            </a:outerShdw>
          </a:effectLst>
        </p:spPr>
        <p:txBody>
          <a:bodyPr rtlCol="0" anchor="ctr" wrap="square" lIns="146304" rIns="146304" tIns="54864" bIns="54864"/>
          <a:lstStyle/>
          <a:p>
            <a:pPr algn="ctr"/>
            <a:r>
              <a:rPr sz="1400" b="1" i="0">
                <a:solidFill>
                  <a:srgbClr val="242D57"/>
                </a:solidFill>
                <a:latin typeface="Open Sans"/>
              </a:rPr>
              <a:t>¿Lo validamos juntos? </a:t>
            </a:r>
            <a:r>
              <a:rPr sz="1400" b="1" i="0">
                <a:solidFill>
                  <a:srgbClr val="7D6520"/>
                </a:solidFill>
                <a:latin typeface="Open Sans"/>
              </a:rPr>
              <a:t>¡Kikirikí!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1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9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5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9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25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3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IstpetDev · Pitch Expo Clean · v7</dc:title>
  <dc:subject>Un caso, de la alerta a la decisión; guion v7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