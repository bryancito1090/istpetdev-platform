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Joseph · 15 s</a:t>
            </a:r>
          </a:p>
          <a:p>
            <a:r>
              <a:t>¿Cómo se entera hoy una empresa de limpieza de que a un hospital le falta desinfectante? Cuando el hospital llama. Ese día ya es tarde.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Joseph · 40 s</a:t>
            </a:r>
          </a:p>
          <a:p>
            <a:r>
              <a:t>Pongámonos en un día cualquiera, en nuestro escenario de Quito, que es sintético. Cuatro pedidos, con seis entregas críticas, entre hospitales y otros clientes, necesitan insumos de limpieza hoy. Hay tres maneras de atenderlos. A: un solo viaje con flota propia. B: también flota propia, pero los críticos primero, en el primer turno. C: contratar un operador externo. Hoy esa decisión se toma mirando kilómetros. Pero lo que cuesta de verdad es el personal, el combustible, la descarga y el producto que se daña. Y lo que importa: que lo crítico llegue a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Alexander · 15 s</a:t>
            </a:r>
          </a:p>
          <a:p>
            <a:r>
              <a:t>Todo empieza antes de que el cliente llame: el sistema revisa inventario y consumo, y avisa qué punto entra en riesgo y cuánto reponer.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Alexander · 55 s</a:t>
            </a:r>
          </a:p>
          <a:p>
            <a:r>
              <a:t>Y esta es la decisión, con costo completo y no solo kilómetros. A es la más barata: 57,89 dólares. Pero solo llega a tiempo a 5 de las 6 entregas críticas. B y C llegan al 100 %. Entre ellas, C, el operador contratado, cuesta 66,90 contra 69,89 de B. El motor recomienda C, con 90,8 puntos, y la inteligencia artificial le explica al planificador por qué, en palabras simples. La más barata no fue la mejor. Y la persona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Alexander · 30 s</a:t>
            </a:r>
          </a:p>
          <a:p>
            <a:r>
              <a:t>Elegida la opción, el sistema arma la ruta con capacidad, horarios y jornada, y el planificador la aprueba. En el camino queda registro: cada caja viaja con QR y los daños o errores de rotulado se anotan con su motivo. Así, cuando alguien pregunta qué se entregó, hay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Bryan · 35 s</a:t>
            </a:r>
          </a:p>
          <a:p>
            <a:r>
              <a:t>¿Qué cambia? Lo que escuchamos en el sector es que se repone por calendario o por urgencia, y la entrega se decide por kilómetros. Nosotros hacemos con la entrega lo que se hace con una buena cotización: ponerle el costo completo antes de decidir. Un motor de reglas calcula, siempre igual con los mismos datos. La inteligencia artificial explica, no inventa cifras, y si falla hay una explicación de respaldo. La alerta no se queda en alerta: termina en una decisión con costo y en una entrega comprobable.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Anthony · 25 s</a:t>
            </a:r>
          </a:p>
          <a:p>
            <a:r>
              <a:t>Construido: de la alerta a la prueba de entrega. Ensayado: la decisión A, B y C en un ensayo técnico sobre un escenario sintético de Quito de 40 puntos, y una corrida del agente de inteligencia artificial, incluida su caída al respaldo. Siguiente fase: usarlo en una empresa real, cargar sus datos y medir contra su línea base, probar el recorrido sin señal en un teléfono real, y llevar la comparación A, B y C a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Jorge · 40 s</a:t>
            </a:r>
          </a:p>
          <a:p>
            <a:r>
              <a:t>En un piloto queremos medir tres cosas: menos faltantes descubiertos tarde, más entregas críticas a tiempo y cuánto cuesta realmente cada entrega. No prometemos un ahorro: lo medimos contra una línea base. No necesita hardware nuevo: funciona en la web y en el teléfono del conductor. Proponemos implementación inicial más suscripción, que validaremos. Y si falta un dato, el sistema dice “sin dato”. Esos indicadores alimentan informes ejecutivos: ya tenemos la sección Reportes.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Joseph · 15 s</a:t>
            </a:r>
          </a:p>
          <a:p>
            <a:r>
              <a:t>Una buena cotización de limpieza suma el costo completo. Nosotros hacemos lo mismo con la entrega: la decidimos con su costo real, antes de hacerla, y dejamos la prueba. Buscamos una empresa de limpieza para un piloto: con su línea base, indicadores acordados y sus datos.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Bryan · 20 s</a:t>
            </a:r>
          </a:p>
          <a:p>
            <a:r>
              <a:t>Escaneen el QR y entren con este usuario y clave. El acceso usa AWS Cognito en la nube de Amazon, con conexión cifrada. Entran como auditores: pueden ver todo el sistema sin modificar datos. Dejamos la pantalla para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gif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hyperlink" Target="https://istpetdev.doicela.dev/" TargetMode="Externa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3078866" cy="109728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685800" y="2121408"/>
            <a:ext cx="7863840" cy="2651760"/>
            <a:chOff x="685800" y="2121408"/>
            <a:chExt cx="7863840" cy="2651760"/>
          </a:xfrm>
        </p:grpSpPr>
        <p:sp>
          <p:nvSpPr>
            <p:cNvPr id="4" name="Rectangle 3"/>
            <p:cNvSpPr/>
            <p:nvPr/>
          </p:nvSpPr>
          <p:spPr>
            <a:xfrm>
              <a:off x="685800" y="2121408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2130552"/>
              <a:ext cx="7315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 spc="200">
                  <a:solidFill>
                    <a:srgbClr val="C4A857"/>
                  </a:solidFill>
                  <a:latin typeface="Open Sans"/>
                </a:rPr>
                <a:t>OPTIMIZACIÓN Y TRAZABILIDAD LOGÍSTICA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2487168"/>
              <a:ext cx="7863840" cy="228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4000" b="1" i="0">
                  <a:solidFill>
                    <a:srgbClr val="FFFFFF"/>
                  </a:solidFill>
                  <a:latin typeface="Oswald"/>
                </a:rPr>
                <a:t>¿Cómo se entera una empresa de limpieza de que a un hospital le falta desinfectante?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85800" y="484632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B9C2DC"/>
                </a:solidFill>
                <a:latin typeface="Open Sans"/>
              </a:rPr>
              <a:t>Cuando el hospital llama. </a:t>
            </a:r>
            <a:r>
              <a:rPr sz="2200" b="1" i="0">
                <a:solidFill>
                  <a:srgbClr val="E6D7A3"/>
                </a:solidFill>
                <a:latin typeface="Open Sans"/>
              </a:rPr>
              <a:t>Ese día ya es tarde.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85800" y="5669280"/>
            <a:ext cx="8229600" cy="841248"/>
            <a:chOff x="685800" y="5669280"/>
            <a:chExt cx="8229600" cy="841248"/>
          </a:xfrm>
        </p:grpSpPr>
        <p:sp>
          <p:nvSpPr>
            <p:cNvPr id="9" name="Rectangle 8"/>
            <p:cNvSpPr/>
            <p:nvPr/>
          </p:nvSpPr>
          <p:spPr>
            <a:xfrm>
              <a:off x="685800" y="5669280"/>
              <a:ext cx="1005840" cy="228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5852160"/>
              <a:ext cx="822960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FFFFFF"/>
                  </a:solidFill>
                  <a:latin typeface="Open Sans"/>
                </a:rPr>
                <a:t>Equipo IstpetDev · Instituto Superior Tecnológico Traversari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6236208"/>
              <a:ext cx="82296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00" b="0" i="0" spc="150">
                  <a:solidFill>
                    <a:srgbClr val="B9C2DC"/>
                  </a:solidFill>
                  <a:latin typeface="Open Sans"/>
                </a:rPr>
                <a:t>HACKATHON EXPO CLEAN 2026 · RETO 1</a:t>
              </a:r>
            </a:p>
          </p:txBody>
        </p:sp>
      </p:grpSp>
      <p:pic>
        <p:nvPicPr>
          <p:cNvPr id="12" name="Picture 11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075688"/>
            <a:ext cx="2299643" cy="461772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7315200" y="502920"/>
            <a:ext cx="4617720" cy="1097280"/>
          </a:xfrm>
          <a:prstGeom prst="wedgeRoundRectCallout">
            <a:avLst>
              <a:gd name="adj1" fmla="val 13366"/>
              <a:gd name="adj2" fmla="val 104166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500" b="1" i="0">
                <a:solidFill>
                  <a:srgbClr val="242D57"/>
                </a:solidFill>
                <a:latin typeface="Open Sans"/>
              </a:rPr>
              <a:t>¡Hola! Soy Chillo: el motor </a:t>
            </a:r>
            <a:r>
              <a:rPr sz="1500" b="1" i="0">
                <a:solidFill>
                  <a:srgbClr val="7D6520"/>
                </a:solidFill>
                <a:latin typeface="Open Sans"/>
              </a:rPr>
              <a:t>calcula y la IA explica</a:t>
            </a:r>
            <a:r>
              <a:rPr sz="1500" b="1" i="0">
                <a:solidFill>
                  <a:srgbClr val="242D57"/>
                </a:solidFill>
                <a:latin typeface="Open Sans"/>
              </a:rPr>
              <a:t> para llegar antes que la llamada.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5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EL CASO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Los mismos pedidos, tres maneras de atenderlos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ensayo técnico del motor sobre un escenario sintético de Quito: 4 pedidos, 6 entregas críticas, opciones A, B y C. No son clientes ni operaciones medidas.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2221992"/>
            <a:ext cx="3017520" cy="2011680"/>
            <a:chOff x="685800" y="2221992"/>
            <a:chExt cx="3017520" cy="2011680"/>
          </a:xfrm>
        </p:grpSpPr>
        <p:sp>
          <p:nvSpPr>
            <p:cNvPr id="12" name="Rectangle 11"/>
            <p:cNvSpPr/>
            <p:nvPr/>
          </p:nvSpPr>
          <p:spPr>
            <a:xfrm>
              <a:off x="685800" y="2221992"/>
              <a:ext cx="3017520" cy="2011680"/>
            </a:xfrm>
            <a:prstGeom prst="rect">
              <a:avLst/>
            </a:prstGeom>
            <a:solidFill>
              <a:srgbClr val="2E3B6E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2221992"/>
              <a:ext cx="30175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" y="2404872"/>
              <a:ext cx="2560320" cy="56692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800" b="1" i="0">
                  <a:solidFill>
                    <a:srgbClr val="C4A857"/>
                  </a:solidFill>
                  <a:latin typeface="Oswald"/>
                </a:rPr>
                <a:t>4 pedidos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" y="2999232"/>
              <a:ext cx="256032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1" i="0">
                  <a:solidFill>
                    <a:srgbClr val="FF9A8B"/>
                  </a:solidFill>
                  <a:latin typeface="Open Sans"/>
                </a:rPr>
                <a:t>6 entregas críticas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 i="0">
                  <a:solidFill>
                    <a:srgbClr val="B9C2DC"/>
                  </a:solidFill>
                  <a:latin typeface="Open Sans"/>
                </a:rPr>
                <a:t>Hospitales y otros clientes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 i="0">
                  <a:solidFill>
                    <a:srgbClr val="B9C2DC"/>
                  </a:solidFill>
                  <a:latin typeface="Open Sans"/>
                </a:rPr>
                <a:t>Quito, datos sintéticos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03320" y="2135124"/>
            <a:ext cx="1188719" cy="2185416"/>
            <a:chOff x="3703320" y="2135124"/>
            <a:chExt cx="1188719" cy="2185416"/>
          </a:xfrm>
        </p:grpSpPr>
        <p:sp>
          <p:nvSpPr>
            <p:cNvPr id="17" name="Rectangle 16"/>
            <p:cNvSpPr/>
            <p:nvPr/>
          </p:nvSpPr>
          <p:spPr>
            <a:xfrm>
              <a:off x="3703320" y="3214116"/>
              <a:ext cx="594359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83964" y="2148840"/>
              <a:ext cx="27432" cy="215798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297679" y="2135124"/>
              <a:ext cx="59436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297679" y="3214116"/>
              <a:ext cx="59436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97679" y="4293108"/>
              <a:ext cx="59436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92040" y="1691640"/>
            <a:ext cx="6613855" cy="914400"/>
            <a:chOff x="4892040" y="1691640"/>
            <a:chExt cx="6613855" cy="914400"/>
          </a:xfrm>
        </p:grpSpPr>
        <p:sp>
          <p:nvSpPr>
            <p:cNvPr id="23" name="Rectangle 22"/>
            <p:cNvSpPr/>
            <p:nvPr/>
          </p:nvSpPr>
          <p:spPr>
            <a:xfrm>
              <a:off x="4892040" y="1691640"/>
              <a:ext cx="6613855" cy="91440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892040" y="1691640"/>
              <a:ext cx="64008" cy="91440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5166359" y="1837944"/>
              <a:ext cx="621792" cy="621792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66359" y="1837944"/>
              <a:ext cx="621792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C4A857"/>
                  </a:solidFill>
                  <a:latin typeface="Oswald"/>
                </a:rPr>
                <a:t>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35040" y="1801368"/>
              <a:ext cx="5287975" cy="43891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Un solo viaje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35040" y="2240280"/>
              <a:ext cx="5287975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B9C2DC"/>
                  </a:solidFill>
                  <a:latin typeface="Open Sans"/>
                </a:rPr>
                <a:t>Flota propia: todo en un recorrido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892040" y="2770632"/>
            <a:ext cx="6613855" cy="914400"/>
            <a:chOff x="4892040" y="2770632"/>
            <a:chExt cx="6613855" cy="914400"/>
          </a:xfrm>
        </p:grpSpPr>
        <p:sp>
          <p:nvSpPr>
            <p:cNvPr id="30" name="Rectangle 29"/>
            <p:cNvSpPr/>
            <p:nvPr/>
          </p:nvSpPr>
          <p:spPr>
            <a:xfrm>
              <a:off x="4892040" y="2770632"/>
              <a:ext cx="6613855" cy="91440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892040" y="2770632"/>
              <a:ext cx="64008" cy="91440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166359" y="2916936"/>
              <a:ext cx="621792" cy="621792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66359" y="2916936"/>
              <a:ext cx="621792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C4A857"/>
                  </a:solidFill>
                  <a:latin typeface="Oswald"/>
                </a:rPr>
                <a:t>B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035040" y="2880360"/>
              <a:ext cx="5287975" cy="43891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Los críticos primero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35040" y="3319272"/>
              <a:ext cx="5287975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B9C2DC"/>
                  </a:solidFill>
                  <a:latin typeface="Open Sans"/>
                </a:rPr>
                <a:t>Flota propia: lo crítico sale en el primer turno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892040" y="3849624"/>
            <a:ext cx="6613855" cy="914400"/>
            <a:chOff x="4892040" y="3849624"/>
            <a:chExt cx="6613855" cy="914400"/>
          </a:xfrm>
        </p:grpSpPr>
        <p:sp>
          <p:nvSpPr>
            <p:cNvPr id="37" name="Rectangle 36"/>
            <p:cNvSpPr/>
            <p:nvPr/>
          </p:nvSpPr>
          <p:spPr>
            <a:xfrm>
              <a:off x="4892040" y="3849624"/>
              <a:ext cx="6613855" cy="91440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892040" y="3849624"/>
              <a:ext cx="64008" cy="91440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5166359" y="3995928"/>
              <a:ext cx="621792" cy="621792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166359" y="3995928"/>
              <a:ext cx="621792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C4A857"/>
                  </a:solidFill>
                  <a:latin typeface="Oswald"/>
                </a:rPr>
                <a:t>C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35040" y="3959352"/>
              <a:ext cx="5287975" cy="43891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Operador contratado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35040" y="4398264"/>
              <a:ext cx="5287975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B9C2DC"/>
                  </a:solidFill>
                  <a:latin typeface="Open Sans"/>
                </a:rPr>
                <a:t>Un transportista externo cubre todo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85800" y="5138928"/>
            <a:ext cx="10820095" cy="877824"/>
            <a:chOff x="685800" y="5138928"/>
            <a:chExt cx="10820095" cy="877824"/>
          </a:xfrm>
        </p:grpSpPr>
        <p:sp>
          <p:nvSpPr>
            <p:cNvPr id="44" name="Rectangle 43"/>
            <p:cNvSpPr/>
            <p:nvPr/>
          </p:nvSpPr>
          <p:spPr>
            <a:xfrm>
              <a:off x="685800" y="5138928"/>
              <a:ext cx="10820095" cy="877824"/>
            </a:xfrm>
            <a:prstGeom prst="rect">
              <a:avLst/>
            </a:prstGeom>
            <a:solidFill>
              <a:srgbClr val="B82E2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85800" y="5138928"/>
              <a:ext cx="82296" cy="87782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51560" y="5138928"/>
              <a:ext cx="6583680" cy="87782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El problema: hoy se decide mirando kilómetros. </a:t>
              </a:r>
              <a:r>
                <a:rPr sz="1600" b="0" i="0">
                  <a:solidFill>
                    <a:srgbClr val="FFFFFF"/>
                  </a:solidFill>
                  <a:latin typeface="Open Sans"/>
                </a:rPr>
                <a:t>Lo que cuesta de verdad: personal, combustible, descarga y producto que se daña.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18120" y="5138928"/>
              <a:ext cx="3413455" cy="87782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3400" b="1" i="0">
                  <a:solidFill>
                    <a:srgbClr val="FFFFFF"/>
                  </a:solidFill>
                  <a:latin typeface="Oswald"/>
                </a:rPr>
                <a:t>¿Cuál conviene?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03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DETECTAR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 aviso llega antes que la llamada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pantalla Monitoreo de cobertura de stock (captura del 17-oct); cálculo de cobertura A-04. Datos sintéticos.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12648" y="1724621"/>
            <a:ext cx="7735824" cy="4094557"/>
            <a:chOff x="612648" y="1724621"/>
            <a:chExt cx="7735824" cy="4094557"/>
          </a:xfrm>
        </p:grpSpPr>
        <p:sp>
          <p:nvSpPr>
            <p:cNvPr id="12" name="Rectangle 11"/>
            <p:cNvSpPr/>
            <p:nvPr/>
          </p:nvSpPr>
          <p:spPr>
            <a:xfrm>
              <a:off x="612648" y="1724621"/>
              <a:ext cx="7735824" cy="40488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alerta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797773"/>
              <a:ext cx="7589520" cy="3902533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12648" y="5773458"/>
              <a:ext cx="7735824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641080" y="1691640"/>
            <a:ext cx="2864815" cy="2880360"/>
            <a:chOff x="8641080" y="1691640"/>
            <a:chExt cx="2864815" cy="2880360"/>
          </a:xfrm>
        </p:grpSpPr>
        <p:sp>
          <p:nvSpPr>
            <p:cNvPr id="16" name="Rectangle 15"/>
            <p:cNvSpPr/>
            <p:nvPr/>
          </p:nvSpPr>
          <p:spPr>
            <a:xfrm>
              <a:off x="8641080" y="1691640"/>
              <a:ext cx="2864815" cy="288036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641080" y="1691640"/>
              <a:ext cx="286481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15400" y="1984248"/>
              <a:ext cx="2316175" cy="78017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Monitoreo de cobertura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915400" y="2837578"/>
              <a:ext cx="2316175" cy="155154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Cada punto con sus días de cobertura, su nivel de riesgo y la cantidad sugerida para reponer.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641080" y="4754880"/>
            <a:ext cx="2864815" cy="1051560"/>
            <a:chOff x="8641080" y="4754880"/>
            <a:chExt cx="2864815" cy="1051560"/>
          </a:xfrm>
        </p:grpSpPr>
        <p:sp>
          <p:nvSpPr>
            <p:cNvPr id="21" name="Rectangle 20"/>
            <p:cNvSpPr/>
            <p:nvPr/>
          </p:nvSpPr>
          <p:spPr>
            <a:xfrm>
              <a:off x="8641080" y="4754880"/>
              <a:ext cx="2864815" cy="105156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41080" y="4754880"/>
              <a:ext cx="64008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915400" y="4754880"/>
              <a:ext cx="2453335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El planificador sabe qué punto atender primero.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04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PROTOTIPO / DEMO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La más barata no fue la mejor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ensayo técnico local del motor, 17-oct · escenario sintético de Quito · 4 pedidos, 6 entregas críticas, 55,9 km · diésel USD 3,11/gal (Primicias, 12-oct). Una sola corrida, sin clientes reales.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536192"/>
            <a:ext cx="7909559" cy="310896"/>
            <a:chOff x="685800" y="1536192"/>
            <a:chExt cx="7909559" cy="310896"/>
          </a:xfrm>
        </p:grpSpPr>
        <p:sp>
          <p:nvSpPr>
            <p:cNvPr id="12" name="Rounded Rectangle 11"/>
            <p:cNvSpPr/>
            <p:nvPr/>
          </p:nvSpPr>
          <p:spPr>
            <a:xfrm>
              <a:off x="685800" y="1536192"/>
              <a:ext cx="1992954" cy="310896"/>
            </a:xfrm>
            <a:prstGeom prst="roundRect">
              <a:avLst>
                <a:gd name="adj" fmla="val 50000"/>
              </a:avLst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5800" y="1536192"/>
              <a:ext cx="1992954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 spc="100">
                  <a:solidFill>
                    <a:srgbClr val="162451"/>
                  </a:solidFill>
                  <a:latin typeface="Open Sans"/>
                </a:rPr>
                <a:t>DATOS SINTÉTICOS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61634" y="1536192"/>
              <a:ext cx="5733725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>
                  <a:solidFill>
                    <a:srgbClr val="5B6585"/>
                  </a:solidFill>
                  <a:latin typeface="Open Sans"/>
                </a:rPr>
                <a:t>Ensayo técnico del motor · escenario sintético de Quito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85800" y="2011680"/>
            <a:ext cx="7772400" cy="603504"/>
            <a:chOff x="685800" y="2011680"/>
            <a:chExt cx="7772400" cy="603504"/>
          </a:xfrm>
        </p:grpSpPr>
        <p:sp>
          <p:nvSpPr>
            <p:cNvPr id="16" name="Rectangle 15"/>
            <p:cNvSpPr/>
            <p:nvPr/>
          </p:nvSpPr>
          <p:spPr>
            <a:xfrm>
              <a:off x="685800" y="2011680"/>
              <a:ext cx="2240280" cy="60350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7240" y="2011680"/>
              <a:ext cx="20574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242D57"/>
                  </a:solidFill>
                  <a:latin typeface="Oswald"/>
                </a:rPr>
                <a:t/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2608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1752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A · Flota propia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0916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0060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B · Propia, críticos primero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2011680"/>
              <a:ext cx="1965960" cy="60350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83680" y="2011680"/>
              <a:ext cx="178308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162451"/>
                  </a:solidFill>
                  <a:latin typeface="Oswald"/>
                </a:rPr>
                <a:t>C · Operador contratado</a:t>
              </a:r>
            </a:p>
          </p:txBody>
        </p:sp>
      </p:grpSp>
      <p:pic>
        <p:nvPicPr>
          <p:cNvPr id="24" name="Picture 23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685800" y="2615184"/>
            <a:ext cx="7772400" cy="457200"/>
            <a:chOff x="685800" y="2615184"/>
            <a:chExt cx="7772400" cy="457200"/>
          </a:xfrm>
        </p:grpSpPr>
        <p:sp>
          <p:nvSpPr>
            <p:cNvPr id="26" name="Rectangle 25"/>
            <p:cNvSpPr/>
            <p:nvPr/>
          </p:nvSpPr>
          <p:spPr>
            <a:xfrm>
              <a:off x="685800" y="26151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68680" y="26151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Críticos a tiempo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92608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1752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83 % (5 de 6)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0916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0060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26151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83680" y="26151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85800" y="30614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85800" y="3072384"/>
            <a:ext cx="7772400" cy="457200"/>
            <a:chOff x="685800" y="3072384"/>
            <a:chExt cx="7772400" cy="457200"/>
          </a:xfrm>
        </p:grpSpPr>
        <p:sp>
          <p:nvSpPr>
            <p:cNvPr id="36" name="Rectangle 35"/>
            <p:cNvSpPr/>
            <p:nvPr/>
          </p:nvSpPr>
          <p:spPr>
            <a:xfrm>
              <a:off x="685800" y="3072384"/>
              <a:ext cx="22402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68680" y="30723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frente a A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2608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1752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base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70916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80060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+20,7 %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492240" y="3072384"/>
              <a:ext cx="1965960" cy="457200"/>
            </a:xfrm>
            <a:prstGeom prst="rect">
              <a:avLst/>
            </a:prstGeom>
            <a:solidFill>
              <a:srgbClr val="F1E8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83680" y="30723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+15,6 %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85800" y="35186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85800" y="3529584"/>
            <a:ext cx="7772400" cy="457200"/>
            <a:chOff x="685800" y="3529584"/>
            <a:chExt cx="7772400" cy="457200"/>
          </a:xfrm>
        </p:grpSpPr>
        <p:sp>
          <p:nvSpPr>
            <p:cNvPr id="46" name="Rectangle 45"/>
            <p:cNvSpPr/>
            <p:nvPr/>
          </p:nvSpPr>
          <p:spPr>
            <a:xfrm>
              <a:off x="685800" y="35295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8680" y="35295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Puntaje del motor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92608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1752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81,7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70916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80060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89,1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492240" y="35295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83680" y="35295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90,8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85800" y="39758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85800" y="3986784"/>
            <a:ext cx="7772400" cy="585216"/>
            <a:chOff x="685800" y="3986784"/>
            <a:chExt cx="7772400" cy="585216"/>
          </a:xfrm>
        </p:grpSpPr>
        <p:sp>
          <p:nvSpPr>
            <p:cNvPr id="56" name="Rectangle 55"/>
            <p:cNvSpPr/>
            <p:nvPr/>
          </p:nvSpPr>
          <p:spPr>
            <a:xfrm>
              <a:off x="685800" y="3986784"/>
              <a:ext cx="22402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8680" y="3986784"/>
              <a:ext cx="20116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total estimado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92608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1752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57,89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0916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80060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69,89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492240" y="3986784"/>
              <a:ext cx="196596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583680" y="3986784"/>
              <a:ext cx="17830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7D6520"/>
                  </a:solidFill>
                  <a:latin typeface="Oswald"/>
                </a:rPr>
                <a:t>USD 66,90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85800" y="4561027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85800" y="3986784"/>
              <a:ext cx="777240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492240" y="2011680"/>
            <a:ext cx="1965960" cy="2560320"/>
          </a:xfrm>
          <a:prstGeom prst="rect">
            <a:avLst/>
          </a:prstGeom>
          <a:noFill/>
          <a:ln w="38100">
            <a:solidFill>
              <a:srgbClr val="C4A857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7" name="Group 66"/>
          <p:cNvGrpSpPr/>
          <p:nvPr/>
        </p:nvGrpSpPr>
        <p:grpSpPr>
          <a:xfrm>
            <a:off x="685800" y="4773168"/>
            <a:ext cx="7909560" cy="658368"/>
            <a:chOff x="685800" y="4773168"/>
            <a:chExt cx="7909560" cy="658368"/>
          </a:xfrm>
        </p:grpSpPr>
        <p:sp>
          <p:nvSpPr>
            <p:cNvPr id="68" name="Rectangle 67"/>
            <p:cNvSpPr/>
            <p:nvPr/>
          </p:nvSpPr>
          <p:spPr>
            <a:xfrm>
              <a:off x="685800" y="4773168"/>
              <a:ext cx="7909560" cy="6583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85800" y="4773168"/>
              <a:ext cx="54864" cy="65836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86968" y="4773168"/>
              <a:ext cx="7589520" cy="6583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50" b="1" i="0">
                  <a:solidFill>
                    <a:srgbClr val="242D57"/>
                  </a:solidFill>
                  <a:latin typeface="Open Sans"/>
                </a:rPr>
                <a:t>Recomendación del motor: C. Por un 15,6 % más que A, cumple el 100 % de los críticos; frente a B, que también cumple, cuesta un 4,3 % menos. </a:t>
              </a:r>
              <a:r>
                <a:rPr sz="1250" b="0" i="0">
                  <a:solidFill>
                    <a:srgbClr val="242D57"/>
                  </a:solidFill>
                  <a:latin typeface="Open Sans"/>
                </a:rPr>
                <a:t>La más barata no siempre es la mejor. El planificador decide.</a:t>
              </a:r>
            </a:p>
          </p:txBody>
        </p:sp>
      </p:grpSp>
      <p:sp>
        <p:nvSpPr>
          <p:cNvPr id="71" name="Rounded Rectangular Callout 70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Una ruta no es solo kilómetros: también es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quien descarga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ENTREGAR Y PROBAR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Elegida la opción: ruta aprobada y entrega con prueba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pantallas Planificar rutas, Rutas y Novedades de campo (capturas del 17-oct); escenario sintético de Quito, Bodega Sur · VEH-02. Sin tráfico en vivo; el impacto de reentrada es una estimación del sistema.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12648" y="1618488"/>
            <a:ext cx="5266944" cy="3268772"/>
            <a:chOff x="612648" y="1618488"/>
            <a:chExt cx="5266944" cy="3268772"/>
          </a:xfrm>
        </p:grpSpPr>
        <p:sp>
          <p:nvSpPr>
            <p:cNvPr id="12" name="Rectangle 11"/>
            <p:cNvSpPr/>
            <p:nvPr/>
          </p:nvSpPr>
          <p:spPr>
            <a:xfrm>
              <a:off x="612648" y="1618488"/>
              <a:ext cx="5266944" cy="32230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ruta-paso2.gi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691640"/>
              <a:ext cx="5120640" cy="3076748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12648" y="4841540"/>
              <a:ext cx="5266944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344164" y="1618488"/>
            <a:ext cx="4989766" cy="1563624"/>
            <a:chOff x="6344164" y="1618488"/>
            <a:chExt cx="4989766" cy="1563624"/>
          </a:xfrm>
        </p:grpSpPr>
        <p:sp>
          <p:nvSpPr>
            <p:cNvPr id="16" name="Rectangle 15"/>
            <p:cNvSpPr/>
            <p:nvPr/>
          </p:nvSpPr>
          <p:spPr>
            <a:xfrm>
              <a:off x="6344164" y="1618488"/>
              <a:ext cx="4989766" cy="15179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7" name="Picture 16" descr="ruta-seguimient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7316" y="1691640"/>
              <a:ext cx="4843462" cy="137160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6344164" y="3136392"/>
              <a:ext cx="4989766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776406" y="3172968"/>
            <a:ext cx="4125283" cy="2020824"/>
            <a:chOff x="6776406" y="3172968"/>
            <a:chExt cx="4125283" cy="2020824"/>
          </a:xfrm>
        </p:grpSpPr>
        <p:sp>
          <p:nvSpPr>
            <p:cNvPr id="20" name="Rectangle 19"/>
            <p:cNvSpPr/>
            <p:nvPr/>
          </p:nvSpPr>
          <p:spPr>
            <a:xfrm>
              <a:off x="6776406" y="3172968"/>
              <a:ext cx="4125283" cy="19751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1" name="Picture 20" descr="novedades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49558" y="3246120"/>
              <a:ext cx="3978979" cy="1828800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6776406" y="5148072"/>
              <a:ext cx="4125283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85800" y="5486400"/>
            <a:ext cx="10820095" cy="566928"/>
            <a:chOff x="685800" y="5486400"/>
            <a:chExt cx="10820095" cy="566928"/>
          </a:xfrm>
        </p:grpSpPr>
        <p:sp>
          <p:nvSpPr>
            <p:cNvPr id="24" name="Rectangle 23"/>
            <p:cNvSpPr/>
            <p:nvPr/>
          </p:nvSpPr>
          <p:spPr>
            <a:xfrm>
              <a:off x="685800" y="5486400"/>
              <a:ext cx="10820095" cy="566928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5800" y="5486400"/>
              <a:ext cx="64008" cy="56692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0120" y="5486400"/>
              <a:ext cx="10408615" cy="56692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Cada caja viaja con QR y cada rechazo queda con su motivo.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06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INNOVACIÓN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A la entrega le ponemos costo completo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lo del sector es lo que escuchamos en la charla, no una medición. Una corrida registrada del agente incluyó su caída a la explicación de respaldo.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45920"/>
            <a:ext cx="5227167" cy="2514600"/>
            <a:chOff x="685800" y="1645920"/>
            <a:chExt cx="5227167" cy="2514600"/>
          </a:xfrm>
        </p:grpSpPr>
        <p:sp>
          <p:nvSpPr>
            <p:cNvPr id="12" name="Rectangle 11"/>
            <p:cNvSpPr/>
            <p:nvPr/>
          </p:nvSpPr>
          <p:spPr>
            <a:xfrm>
              <a:off x="685800" y="1645920"/>
              <a:ext cx="5227167" cy="25146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45920"/>
              <a:ext cx="522716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38528"/>
              <a:ext cx="4678527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El problema, según el sector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410913"/>
              <a:ext cx="4678527" cy="156672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Se repone por calendario o por urgencia.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La entrega se decide mirando kilómetros.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Nadie puede probar qué se entregó.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85800" y="1645920"/>
              <a:ext cx="5227167" cy="91440"/>
            </a:xfrm>
            <a:prstGeom prst="rect">
              <a:avLst/>
            </a:prstGeom>
            <a:solidFill>
              <a:srgbClr val="B82E2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78727" y="1645920"/>
            <a:ext cx="5227167" cy="2514600"/>
            <a:chOff x="6278727" y="1645920"/>
            <a:chExt cx="5227167" cy="2514600"/>
          </a:xfrm>
        </p:grpSpPr>
        <p:sp>
          <p:nvSpPr>
            <p:cNvPr id="18" name="Rectangle 17"/>
            <p:cNvSpPr/>
            <p:nvPr/>
          </p:nvSpPr>
          <p:spPr>
            <a:xfrm>
              <a:off x="6278727" y="1645920"/>
              <a:ext cx="5227167" cy="251460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278727" y="1645920"/>
              <a:ext cx="522716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53047" y="1938528"/>
              <a:ext cx="4678527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Con IstpetDev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553047" y="2410913"/>
              <a:ext cx="4678527" cy="156672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Avisa antes de que el cliente llame.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Decide con costo completo: personal, combustible, descarga y merma.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Deja la entrega comprobable, caja por caja.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85800" y="4434840"/>
            <a:ext cx="10820095" cy="1417320"/>
            <a:chOff x="685800" y="4434840"/>
            <a:chExt cx="10820095" cy="1417320"/>
          </a:xfrm>
        </p:grpSpPr>
        <p:sp>
          <p:nvSpPr>
            <p:cNvPr id="23" name="Rectangle 22"/>
            <p:cNvSpPr/>
            <p:nvPr/>
          </p:nvSpPr>
          <p:spPr>
            <a:xfrm>
              <a:off x="685800" y="4434840"/>
              <a:ext cx="10820095" cy="141732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85800" y="4434840"/>
              <a:ext cx="64008" cy="1417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51560" y="4617720"/>
              <a:ext cx="10088575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800" b="1" i="0">
                  <a:solidFill>
                    <a:srgbClr val="FFFFFF"/>
                  </a:solidFill>
                  <a:latin typeface="Oswald"/>
                </a:rPr>
                <a:t>El motor calcula, </a:t>
              </a:r>
              <a:r>
                <a:rPr sz="2800" b="1" i="0">
                  <a:solidFill>
                    <a:srgbClr val="E6D7A3"/>
                  </a:solidFill>
                  <a:latin typeface="Oswald"/>
                </a:rPr>
                <a:t>la IA explica, </a:t>
              </a:r>
              <a:r>
                <a:rPr sz="2800" b="1" i="0">
                  <a:solidFill>
                    <a:srgbClr val="FFFFFF"/>
                  </a:solidFill>
                  <a:latin typeface="Oswald"/>
                </a:rPr>
                <a:t>la persona decide.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51560" y="5212079"/>
              <a:ext cx="10088575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Mismos datos, mismo resultado. La IA no inventa cifras y, si falla, hay una explicación de respaldo.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07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VALIDACIÓN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Lo que hay, sin humo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escenario sintético de Quito: 40 puntos, no son clientes. El recorrido sin señal está construido y aún no se ensayó en un teléfono real.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91640"/>
            <a:ext cx="3423818" cy="3383280"/>
            <a:chOff x="685800" y="1691640"/>
            <a:chExt cx="3423818" cy="3383280"/>
          </a:xfrm>
        </p:grpSpPr>
        <p:sp>
          <p:nvSpPr>
            <p:cNvPr id="12" name="Rectangle 11"/>
            <p:cNvSpPr/>
            <p:nvPr/>
          </p:nvSpPr>
          <p:spPr>
            <a:xfrm>
              <a:off x="685800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CONSTRUIDO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Inventario con alertas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de rutas y costo de servir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Agente IA con n8n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Custodia con QR y captura sin señal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83938" y="1691640"/>
            <a:ext cx="3423818" cy="3383280"/>
            <a:chOff x="4383938" y="1691640"/>
            <a:chExt cx="3423818" cy="3383280"/>
          </a:xfrm>
        </p:grpSpPr>
        <p:sp>
          <p:nvSpPr>
            <p:cNvPr id="17" name="Rectangle 16"/>
            <p:cNvSpPr/>
            <p:nvPr/>
          </p:nvSpPr>
          <p:spPr>
            <a:xfrm>
              <a:off x="4383938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83938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58258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ENSAYADO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58258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y comparación A/B/C en un ensayo técnico con escenario sintético de Quito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Corrida registrada del agente, incluida su caída al respaldo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082076" y="1691640"/>
            <a:ext cx="3423818" cy="3383280"/>
            <a:chOff x="8082076" y="1691640"/>
            <a:chExt cx="3423818" cy="3383280"/>
          </a:xfrm>
        </p:grpSpPr>
        <p:sp>
          <p:nvSpPr>
            <p:cNvPr id="22" name="Rectangle 21"/>
            <p:cNvSpPr/>
            <p:nvPr/>
          </p:nvSpPr>
          <p:spPr>
            <a:xfrm>
              <a:off x="8082076" y="1691640"/>
              <a:ext cx="3423818" cy="3383280"/>
            </a:xfrm>
            <a:prstGeom prst="rect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082076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56396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E6D7A3"/>
                  </a:solidFill>
                  <a:latin typeface="Oswald"/>
                </a:rPr>
                <a:t>SIGUIENTE FASE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56396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1" i="0">
                  <a:solidFill>
                    <a:srgbClr val="E6D7A3"/>
                  </a:solidFill>
                  <a:latin typeface="Open Sans"/>
                </a:rPr>
                <a:t>•  Usarlo en una empresa real: cargar sus datos y medir contra su línea base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1" i="0">
                  <a:solidFill>
                    <a:srgbClr val="E6D7A3"/>
                  </a:solidFill>
                  <a:latin typeface="Open Sans"/>
                </a:rPr>
                <a:t>•  Probar el recorrido sin señal en un teléfono real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Llevar la comparación A/B/C a producción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85800" y="530352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1">
                <a:solidFill>
                  <a:srgbClr val="E6D7A3"/>
                </a:solidFill>
                <a:latin typeface="Open Sans"/>
              </a:rPr>
              <a:t>Preferimos mostrarles lo que funciona de verdad que prometer lo que no hemos medido.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08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IMPACTO Y MODELO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Lo medimos en un piloto, contra una línea base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sin ahorro prometido; costo y precio por validar en el piloto; modelo como hipótesis. La sección Reportes existe en el sistema, sin ensayo de la escena.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45920"/>
            <a:ext cx="6583680" cy="1170432"/>
            <a:chOff x="685800" y="1645920"/>
            <a:chExt cx="6583680" cy="1170432"/>
          </a:xfrm>
        </p:grpSpPr>
        <p:sp>
          <p:nvSpPr>
            <p:cNvPr id="12" name="Rectangle 11"/>
            <p:cNvSpPr/>
            <p:nvPr/>
          </p:nvSpPr>
          <p:spPr>
            <a:xfrm>
              <a:off x="685800" y="1645920"/>
              <a:ext cx="6583680" cy="117043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45920"/>
              <a:ext cx="658368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46520" y="188366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1938528"/>
              <a:ext cx="539496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242D57"/>
                  </a:solidFill>
                  <a:latin typeface="Oswald"/>
                </a:rPr>
                <a:t>Faltantes que se descubren tarde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376281"/>
              <a:ext cx="6035040" cy="25719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00" b="0" i="0">
                  <a:solidFill>
                    <a:srgbClr val="5B6585"/>
                  </a:solidFill>
                  <a:latin typeface="Open Sans"/>
                </a:rPr>
                <a:t>Menos quiebres que llegan por llamada del cliente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85800" y="2926080"/>
            <a:ext cx="6583680" cy="1170432"/>
            <a:chOff x="685800" y="2926080"/>
            <a:chExt cx="6583680" cy="1170432"/>
          </a:xfrm>
        </p:grpSpPr>
        <p:sp>
          <p:nvSpPr>
            <p:cNvPr id="18" name="Rectangle 17"/>
            <p:cNvSpPr/>
            <p:nvPr/>
          </p:nvSpPr>
          <p:spPr>
            <a:xfrm>
              <a:off x="685800" y="2926080"/>
              <a:ext cx="6583680" cy="117043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5800" y="2926080"/>
              <a:ext cx="658368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46520" y="31638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0120" y="3218688"/>
              <a:ext cx="539496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242D57"/>
                  </a:solidFill>
                  <a:latin typeface="Oswald"/>
                </a:rPr>
                <a:t>Entregas críticas a tiempo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60120" y="3656441"/>
              <a:ext cx="6035040" cy="25719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00" b="0" i="0">
                  <a:solidFill>
                    <a:srgbClr val="5B6585"/>
                  </a:solidFill>
                  <a:latin typeface="Open Sans"/>
                </a:rPr>
                <a:t>Cuántas llegan dentro de la ventana acordada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85800" y="4206240"/>
            <a:ext cx="6583680" cy="1170432"/>
            <a:chOff x="685800" y="4206240"/>
            <a:chExt cx="6583680" cy="1170432"/>
          </a:xfrm>
        </p:grpSpPr>
        <p:sp>
          <p:nvSpPr>
            <p:cNvPr id="24" name="Rectangle 23"/>
            <p:cNvSpPr/>
            <p:nvPr/>
          </p:nvSpPr>
          <p:spPr>
            <a:xfrm>
              <a:off x="685800" y="4206240"/>
              <a:ext cx="6583680" cy="117043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5800" y="4206240"/>
              <a:ext cx="658368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46520" y="444398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60120" y="4498848"/>
              <a:ext cx="539496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242D57"/>
                  </a:solidFill>
                  <a:latin typeface="Oswald"/>
                </a:rPr>
                <a:t>Costo real de cada entrega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4936601"/>
              <a:ext cx="6035040" cy="25719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00" b="0" i="0">
                  <a:solidFill>
                    <a:srgbClr val="5B6585"/>
                  </a:solidFill>
                  <a:latin typeface="Open Sans"/>
                </a:rPr>
                <a:t>Con su desglose, antes y después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635240" y="1645920"/>
            <a:ext cx="3870655" cy="3730752"/>
            <a:chOff x="7635240" y="1645920"/>
            <a:chExt cx="3870655" cy="3730752"/>
          </a:xfrm>
        </p:grpSpPr>
        <p:sp>
          <p:nvSpPr>
            <p:cNvPr id="30" name="Rectangle 29"/>
            <p:cNvSpPr/>
            <p:nvPr/>
          </p:nvSpPr>
          <p:spPr>
            <a:xfrm>
              <a:off x="7635240" y="1645920"/>
              <a:ext cx="3870655" cy="3730752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635240" y="1645920"/>
              <a:ext cx="387065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909560" y="1938528"/>
              <a:ext cx="3322015" cy="4684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Cómo llega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09560" y="2480175"/>
              <a:ext cx="3322015" cy="271361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Sin hardware nuevo: web y el teléfono del conductor.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Implementación inicial más suscripción; el precio se valida en el piloto.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Si falta un dato, dice «sin dato».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85800" y="5504688"/>
            <a:ext cx="10820095" cy="621792"/>
            <a:chOff x="685800" y="5504688"/>
            <a:chExt cx="10820095" cy="621792"/>
          </a:xfrm>
        </p:grpSpPr>
        <p:sp>
          <p:nvSpPr>
            <p:cNvPr id="35" name="Rectangle 34"/>
            <p:cNvSpPr/>
            <p:nvPr/>
          </p:nvSpPr>
          <p:spPr>
            <a:xfrm>
              <a:off x="685800" y="5504688"/>
              <a:ext cx="10820095" cy="621792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85800" y="5504688"/>
              <a:ext cx="64008" cy="62179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05840" y="5504688"/>
              <a:ext cx="10180015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pen Sans"/>
                </a:rPr>
                <a:t>Los indicadores alimentan </a:t>
              </a:r>
              <a:r>
                <a:rPr sz="2000" b="1" i="0">
                  <a:solidFill>
                    <a:srgbClr val="E6D7A3"/>
                  </a:solidFill>
                  <a:latin typeface="Open Sans"/>
                </a:rPr>
                <a:t>informes ejecutivos</a:t>
              </a:r>
              <a:r>
                <a:rPr sz="2000" b="1" i="0">
                  <a:solidFill>
                    <a:srgbClr val="FFFFFF"/>
                  </a:solidFill>
                  <a:latin typeface="Open Sans"/>
                </a:rPr>
                <a:t>: ya tenemos la sección Reportes.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09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PRÓXIMO PASO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Un piloto con una empresa de limpieza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propuesta sin contraparte confirmada ni cliente comprometido; sujeta a validación.</a:t>
            </a:r>
          </a:p>
        </p:txBody>
      </p:sp>
      <p:pic>
        <p:nvPicPr>
          <p:cNvPr id="11" name="Picture 10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212848"/>
            <a:ext cx="1958112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1691640"/>
            <a:ext cx="7909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B9C2DC"/>
                </a:solidFill>
                <a:latin typeface="Oswald"/>
              </a:rPr>
              <a:t>Una buena cotización suma el costo completo. </a:t>
            </a:r>
            <a:r>
              <a:rPr sz="3200" b="1" i="0">
                <a:solidFill>
                  <a:srgbClr val="C4A857"/>
                </a:solidFill>
                <a:latin typeface="Oswald"/>
              </a:rPr>
              <a:t>Nosotros se lo ponemos a la entrega.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85800" y="3383280"/>
            <a:ext cx="2484120" cy="1691640"/>
            <a:chOff x="685800" y="3383280"/>
            <a:chExt cx="2484120" cy="1691640"/>
          </a:xfrm>
        </p:grpSpPr>
        <p:sp>
          <p:nvSpPr>
            <p:cNvPr id="14" name="Rectangle 13"/>
            <p:cNvSpPr/>
            <p:nvPr/>
          </p:nvSpPr>
          <p:spPr>
            <a:xfrm>
              <a:off x="685800" y="3383280"/>
              <a:ext cx="2484120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" y="338328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46960" y="36210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0120" y="3675888"/>
              <a:ext cx="129540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swald"/>
                </a:rPr>
                <a:t>Línea base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0120" y="4113641"/>
              <a:ext cx="1935480" cy="77839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 i="0">
                  <a:solidFill>
                    <a:srgbClr val="B9C2DC"/>
                  </a:solidFill>
                  <a:latin typeface="Open Sans"/>
                </a:rPr>
                <a:t>Medir el punto de partida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398520" y="3383280"/>
            <a:ext cx="2484120" cy="1691640"/>
            <a:chOff x="3398520" y="3383280"/>
            <a:chExt cx="2484120" cy="1691640"/>
          </a:xfrm>
        </p:grpSpPr>
        <p:sp>
          <p:nvSpPr>
            <p:cNvPr id="20" name="Rectangle 19"/>
            <p:cNvSpPr/>
            <p:nvPr/>
          </p:nvSpPr>
          <p:spPr>
            <a:xfrm>
              <a:off x="3398520" y="3383280"/>
              <a:ext cx="2484120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398520" y="338328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59680" y="36210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72840" y="3675888"/>
              <a:ext cx="129540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swald"/>
                </a:rPr>
                <a:t>Indicadores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72840" y="4113641"/>
              <a:ext cx="1935480" cy="77839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 i="0">
                  <a:solidFill>
                    <a:srgbClr val="B9C2DC"/>
                  </a:solidFill>
                  <a:latin typeface="Open Sans"/>
                </a:rPr>
                <a:t>Acordados con la empresa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111240" y="3383280"/>
            <a:ext cx="2484120" cy="1691640"/>
            <a:chOff x="6111240" y="3383280"/>
            <a:chExt cx="2484120" cy="1691640"/>
          </a:xfrm>
        </p:grpSpPr>
        <p:sp>
          <p:nvSpPr>
            <p:cNvPr id="26" name="Rectangle 25"/>
            <p:cNvSpPr/>
            <p:nvPr/>
          </p:nvSpPr>
          <p:spPr>
            <a:xfrm>
              <a:off x="6111240" y="3383280"/>
              <a:ext cx="2484120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11240" y="338328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72400" y="36210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85560" y="3675888"/>
              <a:ext cx="129540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swald"/>
                </a:rPr>
                <a:t>Su empresa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85560" y="4113641"/>
              <a:ext cx="1935480" cy="77839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 i="0">
                  <a:solidFill>
                    <a:srgbClr val="B9C2DC"/>
                  </a:solidFill>
                  <a:latin typeface="Open Sans"/>
                </a:rPr>
                <a:t>Cargar sus datos y operar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85800" y="5120640"/>
            <a:ext cx="7909560" cy="868680"/>
            <a:chOff x="685800" y="5120640"/>
            <a:chExt cx="7909560" cy="868680"/>
          </a:xfrm>
        </p:grpSpPr>
        <p:sp>
          <p:nvSpPr>
            <p:cNvPr id="32" name="Rectangle 31"/>
            <p:cNvSpPr/>
            <p:nvPr/>
          </p:nvSpPr>
          <p:spPr>
            <a:xfrm>
              <a:off x="685800" y="5120640"/>
              <a:ext cx="7909560" cy="86868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05840" y="5120640"/>
              <a:ext cx="7269480" cy="86868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000" b="1" i="0">
                  <a:solidFill>
                    <a:srgbClr val="162451"/>
                  </a:solidFill>
                  <a:latin typeface="Open Sans"/>
                </a:rPr>
                <a:t>Buscamos una empresa de limpieza para ese piloto.</a:t>
              </a:r>
            </a:p>
          </p:txBody>
        </p:sp>
      </p:grpSp>
      <p:sp>
        <p:nvSpPr>
          <p:cNvPr id="34" name="Rounded Rectangular Callout 33"/>
          <p:cNvSpPr/>
          <p:nvPr/>
        </p:nvSpPr>
        <p:spPr>
          <a:xfrm>
            <a:off x="8759952" y="1188720"/>
            <a:ext cx="3200400" cy="914400"/>
          </a:xfrm>
          <a:prstGeom prst="wedgeRoundRectCallout">
            <a:avLst>
              <a:gd name="adj1" fmla="val 6285"/>
              <a:gd name="adj2" fmla="val 68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¿Lo validamos juntos?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¡Kikirikí!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10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ACCESO PARA EL JURADO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Pruébenlo ustedes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Cuenta del jurado · Auditor · Solo lectura · Datos sintéticos</a:t>
            </a:r>
          </a:p>
        </p:txBody>
      </p:sp>
      <p:pic>
        <p:nvPicPr>
          <p:cNvPr id="11" name="Picture 10" descr="qr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3794760" cy="3794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60527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E6D7A3"/>
                </a:solidFill>
                <a:latin typeface="Open Sans"/>
              </a:rPr>
              <a:t>istpetdev.doicela.dev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737360"/>
            <a:ext cx="6537960" cy="1508760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837943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A857"/>
                </a:solidFill>
                <a:latin typeface="Open Sans"/>
              </a:rPr>
              <a:t>Usuario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92224"/>
            <a:ext cx="4919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Open Sans"/>
              </a:rPr>
              <a:t>jurado@expo.ec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33172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A857"/>
                </a:solidFill>
                <a:latin typeface="Open Sans"/>
              </a:rPr>
              <a:t>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4919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Open Sans"/>
              </a:rPr>
              <a:t>Jurado.2026.ec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880360"/>
            <a:ext cx="6135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C2DC"/>
                </a:solidFill>
                <a:latin typeface="Open Sans"/>
              </a:rPr>
              <a:t>Botón: Torre de Control · Rol Auditor (solo lectura)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410712"/>
            <a:ext cx="6537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6D7A3"/>
                </a:solidFill>
                <a:latin typeface="Open Sans"/>
              </a:rPr>
              <a:t>SEGURIDAD · AWS COGNITO (NUBE)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785615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01  AWS Cognito valida el ingreso en la nube de Amazon.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000500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02  Verifica usuario y clave antes de abrir el sistema.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215383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03  La clave la protege Cognito, no nuestra base.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430268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04  Al entrar entrega una sesión temporal.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645152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05  La conexión viaja cifrada por HTTPS.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860036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06  Cada cuenta tiene permisos según su rol.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074920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07  El jurado entra con rol Auditor.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5289804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08  Modo solo lectura: ver todo sin alterar datos.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504688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09  El servidor bloquea cualquier intento de edición.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719571"/>
            <a:ext cx="6537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FFFFF"/>
                </a:solidFill>
                <a:latin typeface="Open Sans"/>
              </a:rPr>
              <a:t>10  La cuenta se desactiva al cerrar la evaluación.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IstpetDev · Pitch Expo Clean · v8</dc:title>
  <dc:subject>Caso logístico y acceso Auditor del jurado; guion v8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